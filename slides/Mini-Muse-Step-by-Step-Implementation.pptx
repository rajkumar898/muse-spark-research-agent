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6"/>
    <p:sldId id="273" r:id="rId5"/>
    <p:sldId id="274" r:id="rId4"/>
    <p:sldId id="275" r:id="rId3"/>
    <p:sldId id="276" r:id="rId2"/>
    <p:sldId id="277" r:id="rId28"/>
    <p:sldId id="278" r:id="rId29"/>
    <p:sldId id="279" r:id="rId30"/>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1.xml"/><Relationship Id="rId3" Type="http://schemas.openxmlformats.org/officeDocument/2006/relationships/slide" Target="slides/slide20.xml"/><Relationship Id="rId4" Type="http://schemas.openxmlformats.org/officeDocument/2006/relationships/slide" Target="slides/slide19.xml"/><Relationship Id="rId5" Type="http://schemas.openxmlformats.org/officeDocument/2006/relationships/slide" Target="slides/slide18.xml"/><Relationship Id="rId6" Type="http://schemas.openxmlformats.org/officeDocument/2006/relationships/slide" Target="slides/slide17.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we turn an ordinary LLM call into a small AI agent built on Meta's Muse Spark model. By the end you will know the four ingredients of an agent: a model that decides, tools that act, a loop that observes, and a human who approves. Everything runs even without an API key, in mock 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ai.meta.com/muse is the consumer app: you talk to it and it acts for you, but there is no developer API. What we can program is the model behind it, Muse Spark, through Meta Model API at api.meta.ai/v1. Facts on this slide were checked against dev.meta.ai/docs on 24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 of the day. The model is the same in all three columns. What changes is the program around it. A basic LLM only talks. A tool-using LLM can ask our code to run one function. An agent repeats decide, act, observe until the goal is done, and a responsible agent stops for a human before important actions.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boxes left to right. The loop in the middle, decide, act, observe, can run several times. The last box is the important design decision: writing the report is the only action that needs a human, and the program, not the model, enforces that.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file has one job and is short enough to read in a few minutes. We go through them in step order. Students can follow along in the mini-muse folder.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a virtual environment, install five packages, copy the example settings file and start the app. Without a key the app runs in mock mode automatically, so every student can follow the lab.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settings in one frozen dataclass, read from environment variables. repr=False means the key never appears if the settings object is printed or shows up in an error. MAX_STEPS is the agent's safety limit.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slide for beginners: no new library. Meta Model API speaks the OpenAI protocol, so we use the official openai package and only change base_url. We pass the key explicitly because the SDK does not read MODEL_API_KEY. We call Meta, never OpenAI's servers or models.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shape of a Responses API reply when the model wants a tool, shortened. The model does not run anything: it returns a function_call with a name and JSON arguments. Our wrapper turns every reply into one small dictionary: text, tool_calls, citations and usage. The mock client builds exactly the same shape.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tool is a Python function plus a description the model can read. The description tells the model when to use it; the JSON Schema tells it which arguments are allowed. These dictionaries are sent in the tools parameter.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trust the model's arguments. Before anything runs, Python checks the tool name, the mode, the JSON and the schema. A bad call does not crash the app: it becomes an error message that goes back to the model, which can then fix its call. Code shortened for the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tools do the real work. Paper search uses free academic APIs and only returns what they return. The PDF tool uses simple keyword overlap instead of embeddings, which keeps it readable. The calculator never uses eval. Notice what is missing: no shell, no Python execution, no file access.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ast.parse turns the text into a tree without running it. We walk the tree and only allow numbers, the basic operators and six whitelisted functions. Anything else, such as a name, an attribute or an import, raises an error. That is why __import__('os') is harmless here. Code shortened for the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agent, about fifteen lines. Each pass: ask Muse Spark. If it answers in plain text, we are done. If it asks for tools, we run them and loop again. Two exits are enforced by our code, not by the model: the eight-round limit, and the pause when it wants to write the report. Log lines removed for the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Observation is just a message. The tool result is sent back as a function_call_output item with the same call_id, and the whole history goes to Muse Spark again for the next decision. Errors are observations too: a 429 or a bad argument is reported to the model, which can change its plan.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 approval is enforced by the program. When the model calls generate_report, agent.py validates the arguments but does not run it; it stores the call and switches to WAITING_APPROVAL. The report is written only inside approve(), which only the Approve button calls. Reject sends 'rejected' back as the tool result and stops cleanly.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has ten fixed sections. Our code writes the Sources list from the search results, so the model cannot add a paper. Each claim carries paper numbers; numbers that do not exist are dropped, and a claim with no valid source is labelled AI synthesis so the reader knows to check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app in mock mode, with real papers from OpenAlex. Point out the three parts: the collapsed steps panel, the sources, and the approval card. The message box is locked until the human decides.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run. Semantic Scholar was rate-limited, so the search tool retried and fell back to OpenAlex on its own, then the agent asked for approval. Streamlit reruns the whole script on every click, so the agent state lives in st.session_state and Muse Spark is only called when a message is sent.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teaching point of the demo. Ask the same questions in each mode and compare. The Basic LLM has no way to check papers, so it can only answer from memory. The Tool-using LLM gets one tool call. The Agent can keep working and stops for your approval before writing the report.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calls cost money and change over time, so the tests run offline. MockMetaClient returns the same Responses-API shape as Muse Spark, and paper search is faked, so the tests check the real loop, the validator and the approval rule in under a second. Test shortened for the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Prices are from Meta's pricing page, checked 24 September 2026; the per-run cost is an estimate. The contributor tier is much cheaper, but Meta may use prompts for training, so do not send unpublished work with it. The free search APIs are the most common source of delays in class.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one exercise per student or pair. Exercise 6 is a small research question in itself: does the real model choose tools differently from the scripted mock?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steps. The design lesson carries over to any model: let the model propose, let plain code validate and limit, ground answers in real sources, and keep a human in the loop for actions that matter.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5.png"/><Relationship Id="rId5"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22.png"/><Relationship Id="rId5"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7.png"/><Relationship Id="rId4" Type="http://schemas.openxmlformats.org/officeDocument/2006/relationships/image" Target="../media/image20.png"/><Relationship Id="rId5" Type="http://schemas.openxmlformats.org/officeDocument/2006/relationships/image" Target="../media/image28.png"/><Relationship Id="rId6"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4A15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1682496"/>
            <a:ext cx="10881360" cy="274320"/>
          </a:xfrm>
          <a:prstGeom prst="rect">
            <a:avLst/>
          </a:prstGeom>
          <a:noFill/>
        </p:spPr>
        <p:txBody>
          <a:bodyPr wrap="square" lIns="0" rIns="0" tIns="0" bIns="0" anchor="t">
            <a:spAutoFit/>
          </a:bodyPr>
          <a:lstStyle/>
          <a:p>
            <a:pPr algn="l">
              <a:lnSpc>
                <a:spcPts val="1959"/>
              </a:lnSpc>
            </a:pPr>
            <a:r>
              <a:rPr sz="1400" b="1">
                <a:solidFill>
                  <a:srgbClr val="C0164D"/>
                </a:solidFill>
                <a:latin typeface="Carlito"/>
              </a:rPr>
              <a:t>HANDS-ON LAB · UNDERGRADUATE AI</a:t>
            </a:r>
          </a:p>
        </p:txBody>
      </p:sp>
      <p:sp>
        <p:nvSpPr>
          <p:cNvPr id="4" name="TextBox 3"/>
          <p:cNvSpPr txBox="1"/>
          <p:nvPr/>
        </p:nvSpPr>
        <p:spPr>
          <a:xfrm>
            <a:off x="813816" y="2130552"/>
            <a:ext cx="10881360" cy="1517904"/>
          </a:xfrm>
          <a:prstGeom prst="rect">
            <a:avLst/>
          </a:prstGeom>
          <a:noFill/>
        </p:spPr>
        <p:txBody>
          <a:bodyPr wrap="square" lIns="0" rIns="0" tIns="0" bIns="0" anchor="t">
            <a:spAutoFit/>
          </a:bodyPr>
          <a:lstStyle/>
          <a:p>
            <a:pPr algn="l">
              <a:lnSpc>
                <a:spcPts val="5880"/>
              </a:lnSpc>
            </a:pPr>
            <a:r>
              <a:rPr sz="5600" b="1">
                <a:solidFill>
                  <a:srgbClr val="4A154B"/>
                </a:solidFill>
                <a:latin typeface="Caladea"/>
              </a:rPr>
              <a:t>From LLM App to AI Agent</a:t>
            </a:r>
          </a:p>
          <a:p>
            <a:pPr algn="l">
              <a:lnSpc>
                <a:spcPts val="5880"/>
              </a:lnSpc>
            </a:pPr>
            <a:r>
              <a:rPr sz="5600" b="1">
                <a:solidFill>
                  <a:srgbClr val="4A154B"/>
                </a:solidFill>
                <a:latin typeface="Caladea"/>
              </a:rPr>
              <a:t>with Meta Muse Spark</a:t>
            </a:r>
          </a:p>
        </p:txBody>
      </p:sp>
      <p:sp>
        <p:nvSpPr>
          <p:cNvPr id="5" name="TextBox 4"/>
          <p:cNvSpPr txBox="1"/>
          <p:nvPr/>
        </p:nvSpPr>
        <p:spPr>
          <a:xfrm>
            <a:off x="813816" y="3831336"/>
            <a:ext cx="10241280" cy="731520"/>
          </a:xfrm>
          <a:prstGeom prst="rect">
            <a:avLst/>
          </a:prstGeom>
          <a:noFill/>
        </p:spPr>
        <p:txBody>
          <a:bodyPr wrap="square" lIns="0" rIns="0" tIns="0" bIns="0" anchor="t">
            <a:spAutoFit/>
          </a:bodyPr>
          <a:lstStyle/>
          <a:p>
            <a:pPr algn="l">
              <a:lnSpc>
                <a:spcPts val="2600"/>
              </a:lnSpc>
            </a:pPr>
            <a:r>
              <a:rPr sz="2000" b="0">
                <a:solidFill>
                  <a:srgbClr val="454245"/>
                </a:solidFill>
                <a:latin typeface="Carlito"/>
              </a:rPr>
              <a:t>Build Mini-Muse step by step: a research agent that searches papers, reads PDFs and calculates — and asks a human before it acts</a:t>
            </a:r>
          </a:p>
        </p:txBody>
      </p:sp>
      <p:sp>
        <p:nvSpPr>
          <p:cNvPr id="6" name="Rounded Rectangle 5"/>
          <p:cNvSpPr/>
          <p:nvPr/>
        </p:nvSpPr>
        <p:spPr>
          <a:xfrm>
            <a:off x="813816" y="4873752"/>
            <a:ext cx="1336852" cy="356616"/>
          </a:xfrm>
          <a:prstGeom prst="roundRect">
            <a:avLst>
              <a:gd name="adj" fmla="val 50000"/>
            </a:avLst>
          </a:prstGeom>
          <a:solidFill>
            <a:srgbClr val="FC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4933188"/>
            <a:ext cx="1153972" cy="256032"/>
          </a:xfrm>
          <a:prstGeom prst="rect">
            <a:avLst/>
          </a:prstGeom>
          <a:noFill/>
        </p:spPr>
        <p:txBody>
          <a:bodyPr wrap="square" lIns="0" rIns="0" tIns="0" bIns="0" anchor="t">
            <a:spAutoFit/>
          </a:bodyPr>
          <a:lstStyle/>
          <a:p>
            <a:pPr algn="l">
              <a:lnSpc>
                <a:spcPts val="1820"/>
              </a:lnSpc>
            </a:pPr>
            <a:r>
              <a:rPr sz="1300" b="0">
                <a:solidFill>
                  <a:srgbClr val="1D1C1D"/>
                </a:solidFill>
                <a:latin typeface="Carlito"/>
              </a:rPr>
              <a:t>Muse Spark 1.3</a:t>
            </a:r>
          </a:p>
        </p:txBody>
      </p:sp>
      <p:sp>
        <p:nvSpPr>
          <p:cNvPr id="8" name="Rounded Rectangle 7"/>
          <p:cNvSpPr/>
          <p:nvPr/>
        </p:nvSpPr>
        <p:spPr>
          <a:xfrm>
            <a:off x="2251252" y="4873752"/>
            <a:ext cx="1640433" cy="356616"/>
          </a:xfrm>
          <a:prstGeom prst="roundRect">
            <a:avLst>
              <a:gd name="adj" fmla="val 50000"/>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8412" y="4933188"/>
            <a:ext cx="1457553" cy="256032"/>
          </a:xfrm>
          <a:prstGeom prst="rect">
            <a:avLst/>
          </a:prstGeom>
          <a:noFill/>
        </p:spPr>
        <p:txBody>
          <a:bodyPr wrap="square" lIns="0" rIns="0" tIns="0" bIns="0" anchor="t">
            <a:spAutoFit/>
          </a:bodyPr>
          <a:lstStyle/>
          <a:p>
            <a:pPr algn="l">
              <a:lnSpc>
                <a:spcPts val="1820"/>
              </a:lnSpc>
            </a:pPr>
            <a:r>
              <a:rPr sz="1300" b="0">
                <a:solidFill>
                  <a:srgbClr val="1D1C1D"/>
                </a:solidFill>
                <a:latin typeface="Carlito"/>
              </a:rPr>
              <a:t>Python · Streamlit</a:t>
            </a:r>
          </a:p>
        </p:txBody>
      </p:sp>
      <p:sp>
        <p:nvSpPr>
          <p:cNvPr id="10" name="Rounded Rectangle 9"/>
          <p:cNvSpPr/>
          <p:nvPr/>
        </p:nvSpPr>
        <p:spPr>
          <a:xfrm>
            <a:off x="3992270" y="4873752"/>
            <a:ext cx="1944014" cy="356616"/>
          </a:xfrm>
          <a:prstGeom prst="roundRect">
            <a:avLst>
              <a:gd name="adj" fmla="val 50000"/>
            </a:avLst>
          </a:prstGeom>
          <a:solidFill>
            <a:srgbClr val="E4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29430" y="4933188"/>
            <a:ext cx="1761134" cy="256032"/>
          </a:xfrm>
          <a:prstGeom prst="rect">
            <a:avLst/>
          </a:prstGeom>
          <a:noFill/>
        </p:spPr>
        <p:txBody>
          <a:bodyPr wrap="square" lIns="0" rIns="0" tIns="0" bIns="0" anchor="t">
            <a:spAutoFit/>
          </a:bodyPr>
          <a:lstStyle/>
          <a:p>
            <a:pPr algn="l">
              <a:lnSpc>
                <a:spcPts val="1820"/>
              </a:lnSpc>
            </a:pPr>
            <a:r>
              <a:rPr sz="1300" b="0">
                <a:solidFill>
                  <a:srgbClr val="1D1C1D"/>
                </a:solidFill>
                <a:latin typeface="Carlito"/>
              </a:rPr>
              <a:t>Tools + human approval</a:t>
            </a:r>
          </a:p>
        </p:txBody>
      </p:sp>
      <p:sp>
        <p:nvSpPr>
          <p:cNvPr id="12" name="TextBox 11"/>
          <p:cNvSpPr txBox="1"/>
          <p:nvPr/>
        </p:nvSpPr>
        <p:spPr>
          <a:xfrm>
            <a:off x="813816" y="5577840"/>
            <a:ext cx="10881360" cy="274320"/>
          </a:xfrm>
          <a:prstGeom prst="rect">
            <a:avLst/>
          </a:prstGeom>
          <a:noFill/>
        </p:spPr>
        <p:txBody>
          <a:bodyPr wrap="square" lIns="0" rIns="0" tIns="0" bIns="0" anchor="t">
            <a:spAutoFit/>
          </a:bodyPr>
          <a:lstStyle/>
          <a:p>
            <a:pPr algn="l">
              <a:lnSpc>
                <a:spcPts val="1959"/>
              </a:lnSpc>
            </a:pPr>
            <a:r>
              <a:rPr sz="1400" b="1">
                <a:solidFill>
                  <a:srgbClr val="454245"/>
                </a:solidFill>
                <a:latin typeface="Carlito"/>
              </a:rPr>
              <a:t>Raj Kumar</a:t>
            </a:r>
            <a:r>
              <a:rPr sz="1400" b="0">
                <a:solidFill>
                  <a:srgbClr val="454245"/>
                </a:solidFill>
                <a:latin typeface="Carlito"/>
              </a:rPr>
              <a:t> · Byun Lab, Dept. of Electronic Engineering, Jeju National University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C0164D"/>
                </a:solidFill>
                <a:latin typeface="Carlito"/>
              </a:rPr>
              <a:t>BACKGROUND</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“Muse”: the app, the model and the door</a:t>
            </a:r>
          </a:p>
        </p:txBody>
      </p:sp>
      <p:sp>
        <p:nvSpPr>
          <p:cNvPr id="4" name="Rounded Rectangle 3"/>
          <p:cNvSpPr/>
          <p:nvPr/>
        </p:nvSpPr>
        <p:spPr>
          <a:xfrm>
            <a:off x="813816" y="1755648"/>
            <a:ext cx="3401568" cy="1673352"/>
          </a:xfrm>
          <a:prstGeom prst="roundRect">
            <a:avLst>
              <a:gd name="adj" fmla="val 6010"/>
            </a:avLst>
          </a:prstGeom>
          <a:solidFill>
            <a:srgbClr val="FC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sers-pink.png"/>
          <p:cNvPicPr>
            <a:picLocks noChangeAspect="1"/>
          </p:cNvPicPr>
          <p:nvPr/>
        </p:nvPicPr>
        <p:blipFill>
          <a:blip r:embed="rId3"/>
          <a:stretch>
            <a:fillRect/>
          </a:stretch>
        </p:blipFill>
        <p:spPr>
          <a:xfrm>
            <a:off x="1014984" y="1929384"/>
            <a:ext cx="283464" cy="283464"/>
          </a:xfrm>
          <a:prstGeom prst="rect">
            <a:avLst/>
          </a:prstGeom>
        </p:spPr>
      </p:pic>
      <p:sp>
        <p:nvSpPr>
          <p:cNvPr id="6" name="TextBox 5"/>
          <p:cNvSpPr txBox="1"/>
          <p:nvPr/>
        </p:nvSpPr>
        <p:spPr>
          <a:xfrm>
            <a:off x="1014984" y="2276856"/>
            <a:ext cx="3090672" cy="274320"/>
          </a:xfrm>
          <a:prstGeom prst="rect">
            <a:avLst/>
          </a:prstGeom>
          <a:noFill/>
        </p:spPr>
        <p:txBody>
          <a:bodyPr wrap="square" lIns="0" rIns="0" tIns="0" bIns="0" anchor="t">
            <a:spAutoFit/>
          </a:bodyPr>
          <a:lstStyle/>
          <a:p>
            <a:pPr algn="l">
              <a:lnSpc>
                <a:spcPts val="2240"/>
              </a:lnSpc>
            </a:pPr>
            <a:r>
              <a:rPr sz="1600" b="1">
                <a:solidFill>
                  <a:srgbClr val="1D1C1D"/>
                </a:solidFill>
                <a:latin typeface="Carlito"/>
              </a:rPr>
              <a:t>Muse — the app</a:t>
            </a:r>
          </a:p>
        </p:txBody>
      </p:sp>
      <p:sp>
        <p:nvSpPr>
          <p:cNvPr id="7" name="TextBox 6"/>
          <p:cNvSpPr txBox="1"/>
          <p:nvPr/>
        </p:nvSpPr>
        <p:spPr>
          <a:xfrm>
            <a:off x="1014984" y="2585719"/>
            <a:ext cx="3090672" cy="804672"/>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Meta's personal AI agent for consumers (ai.meta.com/muse). It plans and acts for you, but has </a:t>
            </a:r>
            <a:r>
              <a:rPr sz="1300" b="1">
                <a:solidFill>
                  <a:srgbClr val="454245"/>
                </a:solidFill>
                <a:latin typeface="Carlito"/>
              </a:rPr>
              <a:t>no developer API</a:t>
            </a:r>
            <a:r>
              <a:rPr sz="1300" b="0">
                <a:solidFill>
                  <a:srgbClr val="454245"/>
                </a:solidFill>
                <a:latin typeface="Carlito"/>
              </a:rPr>
              <a:t>.</a:t>
            </a:r>
          </a:p>
        </p:txBody>
      </p:sp>
      <p:sp>
        <p:nvSpPr>
          <p:cNvPr id="8" name="Rounded Rectangle 7"/>
          <p:cNvSpPr/>
          <p:nvPr/>
        </p:nvSpPr>
        <p:spPr>
          <a:xfrm>
            <a:off x="4398264" y="1755648"/>
            <a:ext cx="3401568" cy="1673352"/>
          </a:xfrm>
          <a:prstGeom prst="roundRect">
            <a:avLst>
              <a:gd name="adj" fmla="val 6010"/>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Zap-green.png"/>
          <p:cNvPicPr>
            <a:picLocks noChangeAspect="1"/>
          </p:cNvPicPr>
          <p:nvPr/>
        </p:nvPicPr>
        <p:blipFill>
          <a:blip r:embed="rId4"/>
          <a:stretch>
            <a:fillRect/>
          </a:stretch>
        </p:blipFill>
        <p:spPr>
          <a:xfrm>
            <a:off x="4599431" y="1929384"/>
            <a:ext cx="283464" cy="283464"/>
          </a:xfrm>
          <a:prstGeom prst="rect">
            <a:avLst/>
          </a:prstGeom>
        </p:spPr>
      </p:pic>
      <p:sp>
        <p:nvSpPr>
          <p:cNvPr id="10" name="TextBox 9"/>
          <p:cNvSpPr txBox="1"/>
          <p:nvPr/>
        </p:nvSpPr>
        <p:spPr>
          <a:xfrm>
            <a:off x="4599431" y="2276856"/>
            <a:ext cx="3090672" cy="274320"/>
          </a:xfrm>
          <a:prstGeom prst="rect">
            <a:avLst/>
          </a:prstGeom>
          <a:noFill/>
        </p:spPr>
        <p:txBody>
          <a:bodyPr wrap="square" lIns="0" rIns="0" tIns="0" bIns="0" anchor="t">
            <a:spAutoFit/>
          </a:bodyPr>
          <a:lstStyle/>
          <a:p>
            <a:pPr algn="l">
              <a:lnSpc>
                <a:spcPts val="2240"/>
              </a:lnSpc>
            </a:pPr>
            <a:r>
              <a:rPr sz="1600" b="1">
                <a:solidFill>
                  <a:srgbClr val="1D1C1D"/>
                </a:solidFill>
                <a:latin typeface="Carlito"/>
              </a:rPr>
              <a:t>Muse Spark — the model</a:t>
            </a:r>
          </a:p>
        </p:txBody>
      </p:sp>
      <p:sp>
        <p:nvSpPr>
          <p:cNvPr id="11" name="TextBox 10"/>
          <p:cNvSpPr txBox="1"/>
          <p:nvPr/>
        </p:nvSpPr>
        <p:spPr>
          <a:xfrm>
            <a:off x="4599431" y="2585719"/>
            <a:ext cx="3090672" cy="804672"/>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The reasoning model behind Muse. Current ID: </a:t>
            </a:r>
            <a:r>
              <a:rPr sz="1300" b="1">
                <a:solidFill>
                  <a:srgbClr val="454245"/>
                </a:solidFill>
                <a:latin typeface="Carlito"/>
              </a:rPr>
              <a:t>muse-spark-1.3</a:t>
            </a:r>
            <a:r>
              <a:rPr sz="1300" b="0">
                <a:solidFill>
                  <a:srgbClr val="454245"/>
                </a:solidFill>
                <a:latin typeface="Carlito"/>
              </a:rPr>
              <a:t>, with a 1,048,576-token context window.</a:t>
            </a:r>
          </a:p>
        </p:txBody>
      </p:sp>
      <p:sp>
        <p:nvSpPr>
          <p:cNvPr id="12" name="Rounded Rectangle 11"/>
          <p:cNvSpPr/>
          <p:nvPr/>
        </p:nvSpPr>
        <p:spPr>
          <a:xfrm>
            <a:off x="7982712" y="1755648"/>
            <a:ext cx="3401568" cy="1673352"/>
          </a:xfrm>
          <a:prstGeom prst="roundRect">
            <a:avLst>
              <a:gd name="adj" fmla="val 6010"/>
            </a:avLst>
          </a:prstGeom>
          <a:solidFill>
            <a:srgbClr val="E4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lug-blue.png"/>
          <p:cNvPicPr>
            <a:picLocks noChangeAspect="1"/>
          </p:cNvPicPr>
          <p:nvPr/>
        </p:nvPicPr>
        <p:blipFill>
          <a:blip r:embed="rId5"/>
          <a:stretch>
            <a:fillRect/>
          </a:stretch>
        </p:blipFill>
        <p:spPr>
          <a:xfrm>
            <a:off x="8183880" y="1929384"/>
            <a:ext cx="283464" cy="283464"/>
          </a:xfrm>
          <a:prstGeom prst="rect">
            <a:avLst/>
          </a:prstGeom>
        </p:spPr>
      </p:pic>
      <p:sp>
        <p:nvSpPr>
          <p:cNvPr id="14" name="TextBox 13"/>
          <p:cNvSpPr txBox="1"/>
          <p:nvPr/>
        </p:nvSpPr>
        <p:spPr>
          <a:xfrm>
            <a:off x="8183880" y="2276856"/>
            <a:ext cx="3090672" cy="274320"/>
          </a:xfrm>
          <a:prstGeom prst="rect">
            <a:avLst/>
          </a:prstGeom>
          <a:noFill/>
        </p:spPr>
        <p:txBody>
          <a:bodyPr wrap="square" lIns="0" rIns="0" tIns="0" bIns="0" anchor="t">
            <a:spAutoFit/>
          </a:bodyPr>
          <a:lstStyle/>
          <a:p>
            <a:pPr algn="l">
              <a:lnSpc>
                <a:spcPts val="2240"/>
              </a:lnSpc>
            </a:pPr>
            <a:r>
              <a:rPr sz="1600" b="1">
                <a:solidFill>
                  <a:srgbClr val="1D1C1D"/>
                </a:solidFill>
                <a:latin typeface="Carlito"/>
              </a:rPr>
              <a:t>Meta Model API — the door</a:t>
            </a:r>
          </a:p>
        </p:txBody>
      </p:sp>
      <p:sp>
        <p:nvSpPr>
          <p:cNvPr id="15" name="TextBox 14"/>
          <p:cNvSpPr txBox="1"/>
          <p:nvPr/>
        </p:nvSpPr>
        <p:spPr>
          <a:xfrm>
            <a:off x="8183880" y="2585719"/>
            <a:ext cx="3090672" cy="804672"/>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api.meta.ai/v1. </a:t>
            </a:r>
            <a:r>
              <a:rPr sz="1300" b="1">
                <a:solidFill>
                  <a:srgbClr val="454245"/>
                </a:solidFill>
                <a:latin typeface="Carlito"/>
              </a:rPr>
              <a:t>OpenAI-SDK compatible</a:t>
            </a:r>
            <a:r>
              <a:rPr sz="1300" b="0">
                <a:solidFill>
                  <a:srgbClr val="454245"/>
                </a:solidFill>
                <a:latin typeface="Carlito"/>
              </a:rPr>
              <a:t>, pay per token. This is what our Python code calls.</a:t>
            </a:r>
          </a:p>
        </p:txBody>
      </p:sp>
      <p:sp>
        <p:nvSpPr>
          <p:cNvPr id="16" name="TextBox 15"/>
          <p:cNvSpPr txBox="1"/>
          <p:nvPr/>
        </p:nvSpPr>
        <p:spPr>
          <a:xfrm>
            <a:off x="813816" y="3630168"/>
            <a:ext cx="10881360" cy="356616"/>
          </a:xfrm>
          <a:prstGeom prst="rect">
            <a:avLst/>
          </a:prstGeom>
          <a:noFill/>
        </p:spPr>
        <p:txBody>
          <a:bodyPr wrap="square" lIns="0" rIns="0" tIns="0" bIns="0" anchor="t">
            <a:spAutoFit/>
          </a:bodyPr>
          <a:lstStyle/>
          <a:p>
            <a:pPr algn="l">
              <a:lnSpc>
                <a:spcPts val="2800"/>
              </a:lnSpc>
            </a:pPr>
            <a:r>
              <a:rPr sz="2000" b="0">
                <a:solidFill>
                  <a:srgbClr val="4A154B"/>
                </a:solidFill>
                <a:latin typeface="Caladea"/>
              </a:rPr>
              <a:t>The app is what is trending. The model is what we can program — so we build </a:t>
            </a:r>
            <a:r>
              <a:rPr sz="2000" b="1">
                <a:solidFill>
                  <a:srgbClr val="4A154B"/>
                </a:solidFill>
                <a:latin typeface="Caladea"/>
              </a:rPr>
              <a:t>our own small agent</a:t>
            </a:r>
            <a:r>
              <a:rPr sz="2000" b="0">
                <a:solidFill>
                  <a:srgbClr val="4A154B"/>
                </a:solidFill>
                <a:latin typeface="Caladea"/>
              </a:rPr>
              <a:t> on Muse Spark.</a:t>
            </a:r>
          </a:p>
        </p:txBody>
      </p:sp>
      <p:sp>
        <p:nvSpPr>
          <p:cNvPr id="17" name="TextBox 16"/>
          <p:cNvSpPr txBox="1"/>
          <p:nvPr/>
        </p:nvSpPr>
        <p:spPr>
          <a:xfrm>
            <a:off x="813816" y="4572000"/>
            <a:ext cx="3383280" cy="731520"/>
          </a:xfrm>
          <a:prstGeom prst="rect">
            <a:avLst/>
          </a:prstGeom>
          <a:noFill/>
        </p:spPr>
        <p:txBody>
          <a:bodyPr wrap="square" lIns="0" rIns="0" tIns="0" bIns="0" anchor="t">
            <a:spAutoFit/>
          </a:bodyPr>
          <a:lstStyle/>
          <a:p>
            <a:pPr algn="l">
              <a:lnSpc>
                <a:spcPts val="4400"/>
              </a:lnSpc>
            </a:pPr>
            <a:r>
              <a:rPr sz="4400" b="1">
                <a:solidFill>
                  <a:srgbClr val="4A154B"/>
                </a:solidFill>
                <a:latin typeface="Caladea"/>
              </a:rPr>
              <a:t>1M</a:t>
            </a:r>
          </a:p>
        </p:txBody>
      </p:sp>
      <p:sp>
        <p:nvSpPr>
          <p:cNvPr id="18" name="TextBox 17"/>
          <p:cNvSpPr txBox="1"/>
          <p:nvPr/>
        </p:nvSpPr>
        <p:spPr>
          <a:xfrm>
            <a:off x="813816" y="5285232"/>
            <a:ext cx="3383280" cy="274320"/>
          </a:xfrm>
          <a:prstGeom prst="rect">
            <a:avLst/>
          </a:prstGeom>
          <a:noFill/>
        </p:spPr>
        <p:txBody>
          <a:bodyPr wrap="square" lIns="0" rIns="0" tIns="0" bIns="0" anchor="t">
            <a:spAutoFit/>
          </a:bodyPr>
          <a:lstStyle/>
          <a:p>
            <a:pPr algn="l">
              <a:lnSpc>
                <a:spcPts val="1820"/>
              </a:lnSpc>
            </a:pPr>
            <a:r>
              <a:rPr sz="1300" b="0">
                <a:solidFill>
                  <a:srgbClr val="6B6A6E"/>
                </a:solidFill>
                <a:latin typeface="Carlito"/>
              </a:rPr>
              <a:t>tokens of context: several papers fit</a:t>
            </a:r>
          </a:p>
        </p:txBody>
      </p:sp>
      <p:sp>
        <p:nvSpPr>
          <p:cNvPr id="19" name="TextBox 18"/>
          <p:cNvSpPr txBox="1"/>
          <p:nvPr/>
        </p:nvSpPr>
        <p:spPr>
          <a:xfrm>
            <a:off x="4398264" y="4572000"/>
            <a:ext cx="3383280" cy="731520"/>
          </a:xfrm>
          <a:prstGeom prst="rect">
            <a:avLst/>
          </a:prstGeom>
          <a:noFill/>
        </p:spPr>
        <p:txBody>
          <a:bodyPr wrap="square" lIns="0" rIns="0" tIns="0" bIns="0" anchor="t">
            <a:spAutoFit/>
          </a:bodyPr>
          <a:lstStyle/>
          <a:p>
            <a:pPr algn="l">
              <a:lnSpc>
                <a:spcPts val="4400"/>
              </a:lnSpc>
            </a:pPr>
            <a:r>
              <a:rPr sz="4400" b="1">
                <a:solidFill>
                  <a:srgbClr val="4A154B"/>
                </a:solidFill>
                <a:latin typeface="Caladea"/>
              </a:rPr>
              <a:t>$1.25</a:t>
            </a:r>
          </a:p>
        </p:txBody>
      </p:sp>
      <p:sp>
        <p:nvSpPr>
          <p:cNvPr id="20" name="TextBox 19"/>
          <p:cNvSpPr txBox="1"/>
          <p:nvPr/>
        </p:nvSpPr>
        <p:spPr>
          <a:xfrm>
            <a:off x="4398264" y="5285232"/>
            <a:ext cx="3383280" cy="274320"/>
          </a:xfrm>
          <a:prstGeom prst="rect">
            <a:avLst/>
          </a:prstGeom>
          <a:noFill/>
        </p:spPr>
        <p:txBody>
          <a:bodyPr wrap="square" lIns="0" rIns="0" tIns="0" bIns="0" anchor="t">
            <a:spAutoFit/>
          </a:bodyPr>
          <a:lstStyle/>
          <a:p>
            <a:pPr algn="l">
              <a:lnSpc>
                <a:spcPts val="1820"/>
              </a:lnSpc>
            </a:pPr>
            <a:r>
              <a:rPr sz="1300" b="0">
                <a:solidFill>
                  <a:srgbClr val="6B6A6E"/>
                </a:solidFill>
                <a:latin typeface="Carlito"/>
              </a:rPr>
              <a:t>per million input tokens (standard tier)</a:t>
            </a:r>
          </a:p>
        </p:txBody>
      </p:sp>
      <p:sp>
        <p:nvSpPr>
          <p:cNvPr id="21" name="TextBox 20"/>
          <p:cNvSpPr txBox="1"/>
          <p:nvPr/>
        </p:nvSpPr>
        <p:spPr>
          <a:xfrm>
            <a:off x="7982712" y="4572000"/>
            <a:ext cx="3383280" cy="731520"/>
          </a:xfrm>
          <a:prstGeom prst="rect">
            <a:avLst/>
          </a:prstGeom>
          <a:noFill/>
        </p:spPr>
        <p:txBody>
          <a:bodyPr wrap="square" lIns="0" rIns="0" tIns="0" bIns="0" anchor="t">
            <a:spAutoFit/>
          </a:bodyPr>
          <a:lstStyle/>
          <a:p>
            <a:pPr algn="l">
              <a:lnSpc>
                <a:spcPts val="4400"/>
              </a:lnSpc>
            </a:pPr>
            <a:r>
              <a:rPr sz="4400" b="1">
                <a:solidFill>
                  <a:srgbClr val="4A154B"/>
                </a:solidFill>
                <a:latin typeface="Caladea"/>
              </a:rPr>
              <a:t>4</a:t>
            </a:r>
          </a:p>
        </p:txBody>
      </p:sp>
      <p:sp>
        <p:nvSpPr>
          <p:cNvPr id="22" name="TextBox 21"/>
          <p:cNvSpPr txBox="1"/>
          <p:nvPr/>
        </p:nvSpPr>
        <p:spPr>
          <a:xfrm>
            <a:off x="7982712" y="5285232"/>
            <a:ext cx="3383280" cy="274320"/>
          </a:xfrm>
          <a:prstGeom prst="rect">
            <a:avLst/>
          </a:prstGeom>
          <a:noFill/>
        </p:spPr>
        <p:txBody>
          <a:bodyPr wrap="square" lIns="0" rIns="0" tIns="0" bIns="0" anchor="t">
            <a:spAutoFit/>
          </a:bodyPr>
          <a:lstStyle/>
          <a:p>
            <a:pPr algn="l">
              <a:lnSpc>
                <a:spcPts val="1820"/>
              </a:lnSpc>
            </a:pPr>
            <a:r>
              <a:rPr sz="1300" b="0">
                <a:solidFill>
                  <a:srgbClr val="6B6A6E"/>
                </a:solidFill>
                <a:latin typeface="Carlito"/>
              </a:rPr>
              <a:t>tools our agent may use — nothing else</a:t>
            </a:r>
          </a:p>
        </p:txBody>
      </p:sp>
      <p:sp>
        <p:nvSpPr>
          <p:cNvPr id="23" name="TextBox 22"/>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24" name="TextBox 23"/>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C0164D"/>
                </a:solidFill>
                <a:latin typeface="Carlito"/>
              </a:rPr>
              <a:t>BACKGROUND</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LLM app → tool-using LLM → agent</a:t>
            </a:r>
          </a:p>
        </p:txBody>
      </p:sp>
      <p:sp>
        <p:nvSpPr>
          <p:cNvPr id="4" name="Rounded Rectangle 3"/>
          <p:cNvSpPr/>
          <p:nvPr/>
        </p:nvSpPr>
        <p:spPr>
          <a:xfrm>
            <a:off x="813816" y="1755648"/>
            <a:ext cx="3401568" cy="2743200"/>
          </a:xfrm>
          <a:prstGeom prst="roundRect">
            <a:avLst>
              <a:gd name="adj" fmla="val 3666"/>
            </a:avLst>
          </a:prstGeom>
          <a:solidFill>
            <a:srgbClr val="E4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ssageSquare-blue.png"/>
          <p:cNvPicPr>
            <a:picLocks noChangeAspect="1"/>
          </p:cNvPicPr>
          <p:nvPr/>
        </p:nvPicPr>
        <p:blipFill>
          <a:blip r:embed="rId3"/>
          <a:stretch>
            <a:fillRect/>
          </a:stretch>
        </p:blipFill>
        <p:spPr>
          <a:xfrm>
            <a:off x="1014984" y="1929384"/>
            <a:ext cx="283464" cy="283464"/>
          </a:xfrm>
          <a:prstGeom prst="rect">
            <a:avLst/>
          </a:prstGeom>
        </p:spPr>
      </p:pic>
      <p:sp>
        <p:nvSpPr>
          <p:cNvPr id="6" name="TextBox 5"/>
          <p:cNvSpPr txBox="1"/>
          <p:nvPr/>
        </p:nvSpPr>
        <p:spPr>
          <a:xfrm>
            <a:off x="1014984" y="2276856"/>
            <a:ext cx="3090672" cy="274320"/>
          </a:xfrm>
          <a:prstGeom prst="rect">
            <a:avLst/>
          </a:prstGeom>
          <a:noFill/>
        </p:spPr>
        <p:txBody>
          <a:bodyPr wrap="square" lIns="0" rIns="0" tIns="0" bIns="0" anchor="t">
            <a:spAutoFit/>
          </a:bodyPr>
          <a:lstStyle/>
          <a:p>
            <a:pPr algn="l">
              <a:lnSpc>
                <a:spcPts val="2240"/>
              </a:lnSpc>
            </a:pPr>
            <a:r>
              <a:rPr sz="1600" b="1">
                <a:solidFill>
                  <a:srgbClr val="1D1C1D"/>
                </a:solidFill>
                <a:latin typeface="Carlito"/>
              </a:rPr>
              <a:t>Basic LLM</a:t>
            </a:r>
          </a:p>
        </p:txBody>
      </p:sp>
      <p:sp>
        <p:nvSpPr>
          <p:cNvPr id="7" name="Rounded Rectangle 6"/>
          <p:cNvSpPr/>
          <p:nvPr/>
        </p:nvSpPr>
        <p:spPr>
          <a:xfrm>
            <a:off x="1014984" y="2651760"/>
            <a:ext cx="2999232" cy="384048"/>
          </a:xfrm>
          <a:prstGeom prst="roundRect">
            <a:avLst>
              <a:gd name="adj" fmla="val 1904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 y="2734056"/>
            <a:ext cx="2834640" cy="274320"/>
          </a:xfrm>
          <a:prstGeom prst="rect">
            <a:avLst/>
          </a:prstGeom>
          <a:noFill/>
        </p:spPr>
        <p:txBody>
          <a:bodyPr wrap="square" lIns="0" rIns="0" tIns="0" bIns="0" anchor="t">
            <a:spAutoFit/>
          </a:bodyPr>
          <a:lstStyle/>
          <a:p>
            <a:pPr algn="l">
              <a:lnSpc>
                <a:spcPts val="1539"/>
              </a:lnSpc>
            </a:pPr>
            <a:r>
              <a:rPr sz="1100" b="1">
                <a:solidFill>
                  <a:srgbClr val="0B6E99"/>
                </a:solidFill>
                <a:latin typeface="Consolas"/>
              </a:rPr>
              <a:t>User → Muse Spark → answer</a:t>
            </a:r>
          </a:p>
        </p:txBody>
      </p:sp>
      <p:sp>
        <p:nvSpPr>
          <p:cNvPr id="9" name="TextBox 8"/>
          <p:cNvSpPr txBox="1"/>
          <p:nvPr/>
        </p:nvSpPr>
        <p:spPr>
          <a:xfrm>
            <a:off x="1014984" y="3200400"/>
            <a:ext cx="3017520" cy="118872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Answers from what it learned in training. It cannot check facts, read your files or compute exactly.</a:t>
            </a:r>
          </a:p>
        </p:txBody>
      </p:sp>
      <p:sp>
        <p:nvSpPr>
          <p:cNvPr id="10" name="Rounded Rectangle 9"/>
          <p:cNvSpPr/>
          <p:nvPr/>
        </p:nvSpPr>
        <p:spPr>
          <a:xfrm>
            <a:off x="4398264" y="1755648"/>
            <a:ext cx="3401568" cy="2743200"/>
          </a:xfrm>
          <a:prstGeom prst="roundRect">
            <a:avLst>
              <a:gd name="adj" fmla="val 3666"/>
            </a:avLst>
          </a:prstGeom>
          <a:solidFill>
            <a:srgbClr val="FD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rench-amber.png"/>
          <p:cNvPicPr>
            <a:picLocks noChangeAspect="1"/>
          </p:cNvPicPr>
          <p:nvPr/>
        </p:nvPicPr>
        <p:blipFill>
          <a:blip r:embed="rId4"/>
          <a:stretch>
            <a:fillRect/>
          </a:stretch>
        </p:blipFill>
        <p:spPr>
          <a:xfrm>
            <a:off x="4599431" y="1929384"/>
            <a:ext cx="283464" cy="283464"/>
          </a:xfrm>
          <a:prstGeom prst="rect">
            <a:avLst/>
          </a:prstGeom>
        </p:spPr>
      </p:pic>
      <p:sp>
        <p:nvSpPr>
          <p:cNvPr id="12" name="TextBox 11"/>
          <p:cNvSpPr txBox="1"/>
          <p:nvPr/>
        </p:nvSpPr>
        <p:spPr>
          <a:xfrm>
            <a:off x="4599431" y="2276856"/>
            <a:ext cx="3090672" cy="274320"/>
          </a:xfrm>
          <a:prstGeom prst="rect">
            <a:avLst/>
          </a:prstGeom>
          <a:noFill/>
        </p:spPr>
        <p:txBody>
          <a:bodyPr wrap="square" lIns="0" rIns="0" tIns="0" bIns="0" anchor="t">
            <a:spAutoFit/>
          </a:bodyPr>
          <a:lstStyle/>
          <a:p>
            <a:pPr algn="l">
              <a:lnSpc>
                <a:spcPts val="2240"/>
              </a:lnSpc>
            </a:pPr>
            <a:r>
              <a:rPr sz="1600" b="1">
                <a:solidFill>
                  <a:srgbClr val="1D1C1D"/>
                </a:solidFill>
                <a:latin typeface="Carlito"/>
              </a:rPr>
              <a:t>Tool-using LLM</a:t>
            </a:r>
          </a:p>
        </p:txBody>
      </p:sp>
      <p:sp>
        <p:nvSpPr>
          <p:cNvPr id="13" name="Rounded Rectangle 12"/>
          <p:cNvSpPr/>
          <p:nvPr/>
        </p:nvSpPr>
        <p:spPr>
          <a:xfrm>
            <a:off x="4599431" y="2651760"/>
            <a:ext cx="2999232" cy="384048"/>
          </a:xfrm>
          <a:prstGeom prst="roundRect">
            <a:avLst>
              <a:gd name="adj" fmla="val 1904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59" y="2734056"/>
            <a:ext cx="2834640" cy="274320"/>
          </a:xfrm>
          <a:prstGeom prst="rect">
            <a:avLst/>
          </a:prstGeom>
          <a:noFill/>
        </p:spPr>
        <p:txBody>
          <a:bodyPr wrap="square" lIns="0" rIns="0" tIns="0" bIns="0" anchor="t">
            <a:spAutoFit/>
          </a:bodyPr>
          <a:lstStyle/>
          <a:p>
            <a:pPr algn="l">
              <a:lnSpc>
                <a:spcPts val="1539"/>
              </a:lnSpc>
            </a:pPr>
            <a:r>
              <a:rPr sz="1100" b="1">
                <a:solidFill>
                  <a:srgbClr val="8A6300"/>
                </a:solidFill>
                <a:latin typeface="Consolas"/>
              </a:rPr>
              <a:t>User → Muse Spark → 1 tool → answer</a:t>
            </a:r>
          </a:p>
        </p:txBody>
      </p:sp>
      <p:sp>
        <p:nvSpPr>
          <p:cNvPr id="15" name="TextBox 14"/>
          <p:cNvSpPr txBox="1"/>
          <p:nvPr/>
        </p:nvSpPr>
        <p:spPr>
          <a:xfrm>
            <a:off x="4599431" y="3200400"/>
            <a:ext cx="3017520" cy="118872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The model asks our code to run one function, reads the result, then answers.</a:t>
            </a:r>
          </a:p>
        </p:txBody>
      </p:sp>
      <p:sp>
        <p:nvSpPr>
          <p:cNvPr id="16" name="Rounded Rectangle 15"/>
          <p:cNvSpPr/>
          <p:nvPr/>
        </p:nvSpPr>
        <p:spPr>
          <a:xfrm>
            <a:off x="7982712" y="1755648"/>
            <a:ext cx="3401568" cy="2743200"/>
          </a:xfrm>
          <a:prstGeom prst="roundRect">
            <a:avLst>
              <a:gd name="adj" fmla="val 3666"/>
            </a:avLst>
          </a:prstGeom>
          <a:solidFill>
            <a:srgbClr val="FC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Bot-pink.png"/>
          <p:cNvPicPr>
            <a:picLocks noChangeAspect="1"/>
          </p:cNvPicPr>
          <p:nvPr/>
        </p:nvPicPr>
        <p:blipFill>
          <a:blip r:embed="rId5"/>
          <a:stretch>
            <a:fillRect/>
          </a:stretch>
        </p:blipFill>
        <p:spPr>
          <a:xfrm>
            <a:off x="8183880" y="1929384"/>
            <a:ext cx="283464" cy="283464"/>
          </a:xfrm>
          <a:prstGeom prst="rect">
            <a:avLst/>
          </a:prstGeom>
        </p:spPr>
      </p:pic>
      <p:sp>
        <p:nvSpPr>
          <p:cNvPr id="18" name="TextBox 17"/>
          <p:cNvSpPr txBox="1"/>
          <p:nvPr/>
        </p:nvSpPr>
        <p:spPr>
          <a:xfrm>
            <a:off x="8183880" y="2276856"/>
            <a:ext cx="3090672" cy="274320"/>
          </a:xfrm>
          <a:prstGeom prst="rect">
            <a:avLst/>
          </a:prstGeom>
          <a:noFill/>
        </p:spPr>
        <p:txBody>
          <a:bodyPr wrap="square" lIns="0" rIns="0" tIns="0" bIns="0" anchor="t">
            <a:spAutoFit/>
          </a:bodyPr>
          <a:lstStyle/>
          <a:p>
            <a:pPr algn="l">
              <a:lnSpc>
                <a:spcPts val="2240"/>
              </a:lnSpc>
            </a:pPr>
            <a:r>
              <a:rPr sz="1600" b="1">
                <a:solidFill>
                  <a:srgbClr val="1D1C1D"/>
                </a:solidFill>
                <a:latin typeface="Carlito"/>
              </a:rPr>
              <a:t>Agent</a:t>
            </a:r>
          </a:p>
        </p:txBody>
      </p:sp>
      <p:sp>
        <p:nvSpPr>
          <p:cNvPr id="19" name="Rounded Rectangle 18"/>
          <p:cNvSpPr/>
          <p:nvPr/>
        </p:nvSpPr>
        <p:spPr>
          <a:xfrm>
            <a:off x="8183880" y="2651760"/>
            <a:ext cx="2999232" cy="384048"/>
          </a:xfrm>
          <a:prstGeom prst="roundRect">
            <a:avLst>
              <a:gd name="adj" fmla="val 1904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2734056"/>
            <a:ext cx="2834640" cy="274320"/>
          </a:xfrm>
          <a:prstGeom prst="rect">
            <a:avLst/>
          </a:prstGeom>
          <a:noFill/>
        </p:spPr>
        <p:txBody>
          <a:bodyPr wrap="square" lIns="0" rIns="0" tIns="0" bIns="0" anchor="t">
            <a:spAutoFit/>
          </a:bodyPr>
          <a:lstStyle/>
          <a:p>
            <a:pPr algn="l">
              <a:lnSpc>
                <a:spcPts val="1539"/>
              </a:lnSpc>
            </a:pPr>
            <a:r>
              <a:rPr sz="1100" b="1">
                <a:solidFill>
                  <a:srgbClr val="C0164D"/>
                </a:solidFill>
                <a:latin typeface="Consolas"/>
              </a:rPr>
              <a:t>Goal → decide → act → observe → … → approve</a:t>
            </a:r>
          </a:p>
        </p:txBody>
      </p:sp>
      <p:sp>
        <p:nvSpPr>
          <p:cNvPr id="21" name="TextBox 20"/>
          <p:cNvSpPr txBox="1"/>
          <p:nvPr/>
        </p:nvSpPr>
        <p:spPr>
          <a:xfrm>
            <a:off x="8183880" y="3200400"/>
            <a:ext cx="3017520" cy="118872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Repeats the loop until the goal is done. We add a step limit and a human checkpoint.</a:t>
            </a:r>
          </a:p>
        </p:txBody>
      </p:sp>
      <p:sp>
        <p:nvSpPr>
          <p:cNvPr id="22" name="TextBox 21"/>
          <p:cNvSpPr txBox="1"/>
          <p:nvPr/>
        </p:nvSpPr>
        <p:spPr>
          <a:xfrm>
            <a:off x="813816" y="4709160"/>
            <a:ext cx="10881360" cy="356616"/>
          </a:xfrm>
          <a:prstGeom prst="rect">
            <a:avLst/>
          </a:prstGeom>
          <a:noFill/>
        </p:spPr>
        <p:txBody>
          <a:bodyPr wrap="square" lIns="0" rIns="0" tIns="0" bIns="0" anchor="t">
            <a:spAutoFit/>
          </a:bodyPr>
          <a:lstStyle/>
          <a:p>
            <a:pPr algn="l">
              <a:lnSpc>
                <a:spcPts val="2800"/>
              </a:lnSpc>
            </a:pPr>
            <a:r>
              <a:rPr sz="2000" b="0">
                <a:solidFill>
                  <a:srgbClr val="4A154B"/>
                </a:solidFill>
                <a:latin typeface="Caladea"/>
              </a:rPr>
              <a:t>Same model, same question — only the loop around it changes. </a:t>
            </a:r>
            <a:r>
              <a:rPr sz="2000" b="1">
                <a:solidFill>
                  <a:srgbClr val="4A154B"/>
                </a:solidFill>
                <a:latin typeface="Caladea"/>
              </a:rPr>
              <a:t>Mini-Muse has all three as modes.</a:t>
            </a:r>
          </a:p>
        </p:txBody>
      </p:sp>
      <p:sp>
        <p:nvSpPr>
          <p:cNvPr id="23" name="TextBox 22"/>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24" name="TextBox 23"/>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C0164D"/>
                </a:solidFill>
                <a:latin typeface="Carlito"/>
              </a:rPr>
              <a:t>TODAY'S BUILD</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Mini-Muse: goal in, approved report out</a:t>
            </a:r>
          </a:p>
        </p:txBody>
      </p:sp>
      <p:sp>
        <p:nvSpPr>
          <p:cNvPr id="4" name="Rounded Rectangle 3"/>
          <p:cNvSpPr/>
          <p:nvPr/>
        </p:nvSpPr>
        <p:spPr>
          <a:xfrm>
            <a:off x="813816" y="1755648"/>
            <a:ext cx="1746504" cy="1527048"/>
          </a:xfrm>
          <a:prstGeom prst="roundRect">
            <a:avLst>
              <a:gd name="adj" fmla="val 6586"/>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868680" y="1773936"/>
            <a:ext cx="1636776" cy="0"/>
          </a:xfrm>
          <a:prstGeom prst="line">
            <a:avLst/>
          </a:prstGeom>
          <a:ln w="38100">
            <a:solidFill>
              <a:srgbClr val="4A154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69264" y="1938528"/>
            <a:ext cx="1490472" cy="256032"/>
          </a:xfrm>
          <a:prstGeom prst="rect">
            <a:avLst/>
          </a:prstGeom>
          <a:noFill/>
        </p:spPr>
        <p:txBody>
          <a:bodyPr wrap="square" lIns="0" rIns="0" tIns="0" bIns="0" anchor="t">
            <a:spAutoFit/>
          </a:bodyPr>
          <a:lstStyle/>
          <a:p>
            <a:pPr algn="l">
              <a:lnSpc>
                <a:spcPts val="1820"/>
              </a:lnSpc>
            </a:pPr>
            <a:r>
              <a:rPr sz="1300" b="1">
                <a:solidFill>
                  <a:srgbClr val="4A154B"/>
                </a:solidFill>
                <a:latin typeface="Carlito"/>
              </a:rPr>
              <a:t>You</a:t>
            </a:r>
          </a:p>
        </p:txBody>
      </p:sp>
      <p:sp>
        <p:nvSpPr>
          <p:cNvPr id="7" name="TextBox 6"/>
          <p:cNvSpPr txBox="1"/>
          <p:nvPr/>
        </p:nvSpPr>
        <p:spPr>
          <a:xfrm>
            <a:off x="969264" y="2240280"/>
            <a:ext cx="1490472" cy="274320"/>
          </a:xfrm>
          <a:prstGeom prst="rect">
            <a:avLst/>
          </a:prstGeom>
          <a:noFill/>
        </p:spPr>
        <p:txBody>
          <a:bodyPr wrap="square" lIns="0" rIns="0" tIns="0" bIns="0" anchor="t">
            <a:spAutoFit/>
          </a:bodyPr>
          <a:lstStyle/>
          <a:p>
            <a:pPr algn="l">
              <a:lnSpc>
                <a:spcPts val="1800"/>
              </a:lnSpc>
            </a:pPr>
            <a:r>
              <a:rPr sz="1500" b="1">
                <a:solidFill>
                  <a:srgbClr val="1D1C1D"/>
                </a:solidFill>
                <a:latin typeface="Carlito"/>
              </a:rPr>
              <a:t>Goal</a:t>
            </a:r>
          </a:p>
        </p:txBody>
      </p:sp>
      <p:sp>
        <p:nvSpPr>
          <p:cNvPr id="8" name="TextBox 7"/>
          <p:cNvSpPr txBox="1"/>
          <p:nvPr/>
        </p:nvSpPr>
        <p:spPr>
          <a:xfrm>
            <a:off x="969264" y="2560320"/>
            <a:ext cx="1490472" cy="658368"/>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Types a research question in the chat</a:t>
            </a:r>
          </a:p>
        </p:txBody>
      </p:sp>
      <p:pic>
        <p:nvPicPr>
          <p:cNvPr id="9" name="Picture 8" descr="image-4-1.png"/>
          <p:cNvPicPr>
            <a:picLocks noChangeAspect="1"/>
          </p:cNvPicPr>
          <p:nvPr/>
        </p:nvPicPr>
        <p:blipFill>
          <a:blip r:embed="rId3"/>
          <a:stretch>
            <a:fillRect/>
          </a:stretch>
        </p:blipFill>
        <p:spPr>
          <a:xfrm>
            <a:off x="2651760" y="2441448"/>
            <a:ext cx="283464" cy="155448"/>
          </a:xfrm>
          <a:prstGeom prst="rect">
            <a:avLst/>
          </a:prstGeom>
        </p:spPr>
      </p:pic>
      <p:sp>
        <p:nvSpPr>
          <p:cNvPr id="10" name="Rounded Rectangle 9"/>
          <p:cNvSpPr/>
          <p:nvPr/>
        </p:nvSpPr>
        <p:spPr>
          <a:xfrm>
            <a:off x="3017520" y="1755648"/>
            <a:ext cx="1746504" cy="1527048"/>
          </a:xfrm>
          <a:prstGeom prst="roundRect">
            <a:avLst>
              <a:gd name="adj" fmla="val 6586"/>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3072384" y="1773936"/>
            <a:ext cx="1636776" cy="0"/>
          </a:xfrm>
          <a:prstGeom prst="line">
            <a:avLst/>
          </a:prstGeom>
          <a:ln w="38100">
            <a:solidFill>
              <a:srgbClr val="C0164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172968" y="1938528"/>
            <a:ext cx="1490472" cy="256032"/>
          </a:xfrm>
          <a:prstGeom prst="rect">
            <a:avLst/>
          </a:prstGeom>
          <a:noFill/>
        </p:spPr>
        <p:txBody>
          <a:bodyPr wrap="square" lIns="0" rIns="0" tIns="0" bIns="0" anchor="t">
            <a:spAutoFit/>
          </a:bodyPr>
          <a:lstStyle/>
          <a:p>
            <a:pPr algn="l">
              <a:lnSpc>
                <a:spcPts val="1820"/>
              </a:lnSpc>
            </a:pPr>
            <a:r>
              <a:rPr sz="1300" b="1">
                <a:solidFill>
                  <a:srgbClr val="C0164D"/>
                </a:solidFill>
                <a:latin typeface="Carlito"/>
              </a:rPr>
              <a:t>Muse Spark</a:t>
            </a:r>
          </a:p>
        </p:txBody>
      </p:sp>
      <p:sp>
        <p:nvSpPr>
          <p:cNvPr id="13" name="TextBox 12"/>
          <p:cNvSpPr txBox="1"/>
          <p:nvPr/>
        </p:nvSpPr>
        <p:spPr>
          <a:xfrm>
            <a:off x="3172968" y="2240280"/>
            <a:ext cx="1490472" cy="274320"/>
          </a:xfrm>
          <a:prstGeom prst="rect">
            <a:avLst/>
          </a:prstGeom>
          <a:noFill/>
        </p:spPr>
        <p:txBody>
          <a:bodyPr wrap="square" lIns="0" rIns="0" tIns="0" bIns="0" anchor="t">
            <a:spAutoFit/>
          </a:bodyPr>
          <a:lstStyle/>
          <a:p>
            <a:pPr algn="l">
              <a:lnSpc>
                <a:spcPts val="1800"/>
              </a:lnSpc>
            </a:pPr>
            <a:r>
              <a:rPr sz="1500" b="1">
                <a:solidFill>
                  <a:srgbClr val="1D1C1D"/>
                </a:solidFill>
                <a:latin typeface="Carlito"/>
              </a:rPr>
              <a:t>Decide</a:t>
            </a:r>
          </a:p>
        </p:txBody>
      </p:sp>
      <p:sp>
        <p:nvSpPr>
          <p:cNvPr id="14" name="TextBox 13"/>
          <p:cNvSpPr txBox="1"/>
          <p:nvPr/>
        </p:nvSpPr>
        <p:spPr>
          <a:xfrm>
            <a:off x="3172968" y="2560320"/>
            <a:ext cx="1490472" cy="658368"/>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Picks the next tool, or answers</a:t>
            </a:r>
          </a:p>
        </p:txBody>
      </p:sp>
      <p:pic>
        <p:nvPicPr>
          <p:cNvPr id="15" name="Picture 14" descr="image-4-1.png"/>
          <p:cNvPicPr>
            <a:picLocks noChangeAspect="1"/>
          </p:cNvPicPr>
          <p:nvPr/>
        </p:nvPicPr>
        <p:blipFill>
          <a:blip r:embed="rId3"/>
          <a:stretch>
            <a:fillRect/>
          </a:stretch>
        </p:blipFill>
        <p:spPr>
          <a:xfrm>
            <a:off x="4855464" y="2441448"/>
            <a:ext cx="283464" cy="155448"/>
          </a:xfrm>
          <a:prstGeom prst="rect">
            <a:avLst/>
          </a:prstGeom>
        </p:spPr>
      </p:pic>
      <p:sp>
        <p:nvSpPr>
          <p:cNvPr id="16" name="Rounded Rectangle 15"/>
          <p:cNvSpPr/>
          <p:nvPr/>
        </p:nvSpPr>
        <p:spPr>
          <a:xfrm>
            <a:off x="5221224" y="1755648"/>
            <a:ext cx="1746504" cy="1527048"/>
          </a:xfrm>
          <a:prstGeom prst="roundRect">
            <a:avLst>
              <a:gd name="adj" fmla="val 6586"/>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5276088" y="1773936"/>
            <a:ext cx="1636776" cy="0"/>
          </a:xfrm>
          <a:prstGeom prst="line">
            <a:avLst/>
          </a:prstGeom>
          <a:ln w="38100">
            <a:solidFill>
              <a:srgbClr val="8A63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376672" y="1938528"/>
            <a:ext cx="1490472" cy="256032"/>
          </a:xfrm>
          <a:prstGeom prst="rect">
            <a:avLst/>
          </a:prstGeom>
          <a:noFill/>
        </p:spPr>
        <p:txBody>
          <a:bodyPr wrap="square" lIns="0" rIns="0" tIns="0" bIns="0" anchor="t">
            <a:spAutoFit/>
          </a:bodyPr>
          <a:lstStyle/>
          <a:p>
            <a:pPr algn="l">
              <a:lnSpc>
                <a:spcPts val="1820"/>
              </a:lnSpc>
            </a:pPr>
            <a:r>
              <a:rPr sz="1300" b="1">
                <a:solidFill>
                  <a:srgbClr val="8A6300"/>
                </a:solidFill>
                <a:latin typeface="Carlito"/>
              </a:rPr>
              <a:t>tools.py</a:t>
            </a:r>
          </a:p>
        </p:txBody>
      </p:sp>
      <p:sp>
        <p:nvSpPr>
          <p:cNvPr id="19" name="TextBox 18"/>
          <p:cNvSpPr txBox="1"/>
          <p:nvPr/>
        </p:nvSpPr>
        <p:spPr>
          <a:xfrm>
            <a:off x="5376672" y="2240280"/>
            <a:ext cx="1490472" cy="274320"/>
          </a:xfrm>
          <a:prstGeom prst="rect">
            <a:avLst/>
          </a:prstGeom>
          <a:noFill/>
        </p:spPr>
        <p:txBody>
          <a:bodyPr wrap="square" lIns="0" rIns="0" tIns="0" bIns="0" anchor="t">
            <a:spAutoFit/>
          </a:bodyPr>
          <a:lstStyle/>
          <a:p>
            <a:pPr algn="l">
              <a:lnSpc>
                <a:spcPts val="1800"/>
              </a:lnSpc>
            </a:pPr>
            <a:r>
              <a:rPr sz="1500" b="1">
                <a:solidFill>
                  <a:srgbClr val="1D1C1D"/>
                </a:solidFill>
                <a:latin typeface="Carlito"/>
              </a:rPr>
              <a:t>Act</a:t>
            </a:r>
          </a:p>
        </p:txBody>
      </p:sp>
      <p:sp>
        <p:nvSpPr>
          <p:cNvPr id="20" name="TextBox 19"/>
          <p:cNvSpPr txBox="1"/>
          <p:nvPr/>
        </p:nvSpPr>
        <p:spPr>
          <a:xfrm>
            <a:off x="5376672" y="2560320"/>
            <a:ext cx="1490472" cy="658368"/>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A validated tool runs: papers, PDF, maths</a:t>
            </a:r>
          </a:p>
        </p:txBody>
      </p:sp>
      <p:pic>
        <p:nvPicPr>
          <p:cNvPr id="21" name="Picture 20" descr="image-4-1.png"/>
          <p:cNvPicPr>
            <a:picLocks noChangeAspect="1"/>
          </p:cNvPicPr>
          <p:nvPr/>
        </p:nvPicPr>
        <p:blipFill>
          <a:blip r:embed="rId3"/>
          <a:stretch>
            <a:fillRect/>
          </a:stretch>
        </p:blipFill>
        <p:spPr>
          <a:xfrm>
            <a:off x="7059168" y="2441448"/>
            <a:ext cx="283464" cy="155448"/>
          </a:xfrm>
          <a:prstGeom prst="rect">
            <a:avLst/>
          </a:prstGeom>
        </p:spPr>
      </p:pic>
      <p:sp>
        <p:nvSpPr>
          <p:cNvPr id="22" name="Rounded Rectangle 21"/>
          <p:cNvSpPr/>
          <p:nvPr/>
        </p:nvSpPr>
        <p:spPr>
          <a:xfrm>
            <a:off x="7424928" y="1755648"/>
            <a:ext cx="1746504" cy="1527048"/>
          </a:xfrm>
          <a:prstGeom prst="roundRect">
            <a:avLst>
              <a:gd name="adj" fmla="val 6586"/>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7479792" y="1773936"/>
            <a:ext cx="1636776" cy="0"/>
          </a:xfrm>
          <a:prstGeom prst="line">
            <a:avLst/>
          </a:prstGeom>
          <a:ln w="38100">
            <a:solidFill>
              <a:srgbClr val="1E7D55"/>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580376" y="1938528"/>
            <a:ext cx="1490472" cy="256032"/>
          </a:xfrm>
          <a:prstGeom prst="rect">
            <a:avLst/>
          </a:prstGeom>
          <a:noFill/>
        </p:spPr>
        <p:txBody>
          <a:bodyPr wrap="square" lIns="0" rIns="0" tIns="0" bIns="0" anchor="t">
            <a:spAutoFit/>
          </a:bodyPr>
          <a:lstStyle/>
          <a:p>
            <a:pPr algn="l">
              <a:lnSpc>
                <a:spcPts val="1820"/>
              </a:lnSpc>
            </a:pPr>
            <a:r>
              <a:rPr sz="1300" b="1">
                <a:solidFill>
                  <a:srgbClr val="1E7D55"/>
                </a:solidFill>
                <a:latin typeface="Carlito"/>
              </a:rPr>
              <a:t>agent.py</a:t>
            </a:r>
          </a:p>
        </p:txBody>
      </p:sp>
      <p:sp>
        <p:nvSpPr>
          <p:cNvPr id="25" name="TextBox 24"/>
          <p:cNvSpPr txBox="1"/>
          <p:nvPr/>
        </p:nvSpPr>
        <p:spPr>
          <a:xfrm>
            <a:off x="7580376" y="2240280"/>
            <a:ext cx="1490472" cy="274320"/>
          </a:xfrm>
          <a:prstGeom prst="rect">
            <a:avLst/>
          </a:prstGeom>
          <a:noFill/>
        </p:spPr>
        <p:txBody>
          <a:bodyPr wrap="square" lIns="0" rIns="0" tIns="0" bIns="0" anchor="t">
            <a:spAutoFit/>
          </a:bodyPr>
          <a:lstStyle/>
          <a:p>
            <a:pPr algn="l">
              <a:lnSpc>
                <a:spcPts val="1800"/>
              </a:lnSpc>
            </a:pPr>
            <a:r>
              <a:rPr sz="1500" b="1">
                <a:solidFill>
                  <a:srgbClr val="1D1C1D"/>
                </a:solidFill>
                <a:latin typeface="Carlito"/>
              </a:rPr>
              <a:t>Observe</a:t>
            </a:r>
          </a:p>
        </p:txBody>
      </p:sp>
      <p:sp>
        <p:nvSpPr>
          <p:cNvPr id="26" name="TextBox 25"/>
          <p:cNvSpPr txBox="1"/>
          <p:nvPr/>
        </p:nvSpPr>
        <p:spPr>
          <a:xfrm>
            <a:off x="7580376" y="2560320"/>
            <a:ext cx="1490472" cy="658368"/>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The result goes back to Muse Spark ↺</a:t>
            </a:r>
          </a:p>
        </p:txBody>
      </p:sp>
      <p:pic>
        <p:nvPicPr>
          <p:cNvPr id="27" name="Picture 26" descr="image-4-1.png"/>
          <p:cNvPicPr>
            <a:picLocks noChangeAspect="1"/>
          </p:cNvPicPr>
          <p:nvPr/>
        </p:nvPicPr>
        <p:blipFill>
          <a:blip r:embed="rId3"/>
          <a:stretch>
            <a:fillRect/>
          </a:stretch>
        </p:blipFill>
        <p:spPr>
          <a:xfrm>
            <a:off x="9262872" y="2441448"/>
            <a:ext cx="283464" cy="155448"/>
          </a:xfrm>
          <a:prstGeom prst="rect">
            <a:avLst/>
          </a:prstGeom>
        </p:spPr>
      </p:pic>
      <p:sp>
        <p:nvSpPr>
          <p:cNvPr id="28" name="Rounded Rectangle 27"/>
          <p:cNvSpPr/>
          <p:nvPr/>
        </p:nvSpPr>
        <p:spPr>
          <a:xfrm>
            <a:off x="9628632" y="1755648"/>
            <a:ext cx="1746504" cy="1527048"/>
          </a:xfrm>
          <a:prstGeom prst="roundRect">
            <a:avLst>
              <a:gd name="adj" fmla="val 6586"/>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9683496" y="1773936"/>
            <a:ext cx="1636776" cy="0"/>
          </a:xfrm>
          <a:prstGeom prst="line">
            <a:avLst/>
          </a:prstGeom>
          <a:ln w="38100">
            <a:solidFill>
              <a:srgbClr val="0B6E99"/>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784080" y="1938528"/>
            <a:ext cx="1490472" cy="256032"/>
          </a:xfrm>
          <a:prstGeom prst="rect">
            <a:avLst/>
          </a:prstGeom>
          <a:noFill/>
        </p:spPr>
        <p:txBody>
          <a:bodyPr wrap="square" lIns="0" rIns="0" tIns="0" bIns="0" anchor="t">
            <a:spAutoFit/>
          </a:bodyPr>
          <a:lstStyle/>
          <a:p>
            <a:pPr algn="l">
              <a:lnSpc>
                <a:spcPts val="1820"/>
              </a:lnSpc>
            </a:pPr>
            <a:r>
              <a:rPr sz="1300" b="1">
                <a:solidFill>
                  <a:srgbClr val="0B6E99"/>
                </a:solidFill>
                <a:latin typeface="Carlito"/>
              </a:rPr>
              <a:t>You again</a:t>
            </a:r>
          </a:p>
        </p:txBody>
      </p:sp>
      <p:sp>
        <p:nvSpPr>
          <p:cNvPr id="31" name="TextBox 30"/>
          <p:cNvSpPr txBox="1"/>
          <p:nvPr/>
        </p:nvSpPr>
        <p:spPr>
          <a:xfrm>
            <a:off x="9784080" y="2240280"/>
            <a:ext cx="1490472" cy="274320"/>
          </a:xfrm>
          <a:prstGeom prst="rect">
            <a:avLst/>
          </a:prstGeom>
          <a:noFill/>
        </p:spPr>
        <p:txBody>
          <a:bodyPr wrap="square" lIns="0" rIns="0" tIns="0" bIns="0" anchor="t">
            <a:spAutoFit/>
          </a:bodyPr>
          <a:lstStyle/>
          <a:p>
            <a:pPr algn="l">
              <a:lnSpc>
                <a:spcPts val="1800"/>
              </a:lnSpc>
            </a:pPr>
            <a:r>
              <a:rPr sz="1500" b="1">
                <a:solidFill>
                  <a:srgbClr val="1D1C1D"/>
                </a:solidFill>
                <a:latin typeface="Carlito"/>
              </a:rPr>
              <a:t>Approve</a:t>
            </a:r>
          </a:p>
        </p:txBody>
      </p:sp>
      <p:sp>
        <p:nvSpPr>
          <p:cNvPr id="32" name="TextBox 31"/>
          <p:cNvSpPr txBox="1"/>
          <p:nvPr/>
        </p:nvSpPr>
        <p:spPr>
          <a:xfrm>
            <a:off x="9784080" y="2560320"/>
            <a:ext cx="1490472" cy="658368"/>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The report is written only after you click</a:t>
            </a:r>
          </a:p>
        </p:txBody>
      </p:sp>
      <p:sp>
        <p:nvSpPr>
          <p:cNvPr id="33" name="TextBox 32"/>
          <p:cNvSpPr txBox="1"/>
          <p:nvPr/>
        </p:nvSpPr>
        <p:spPr>
          <a:xfrm>
            <a:off x="813816" y="3483864"/>
            <a:ext cx="10881360" cy="292608"/>
          </a:xfrm>
          <a:prstGeom prst="rect">
            <a:avLst/>
          </a:prstGeom>
          <a:noFill/>
        </p:spPr>
        <p:txBody>
          <a:bodyPr wrap="square" lIns="0" rIns="0" tIns="0" bIns="0" anchor="t">
            <a:spAutoFit/>
          </a:bodyPr>
          <a:lstStyle/>
          <a:p>
            <a:pPr algn="l">
              <a:lnSpc>
                <a:spcPts val="1959"/>
              </a:lnSpc>
            </a:pPr>
            <a:r>
              <a:rPr sz="1400" b="1">
                <a:solidFill>
                  <a:srgbClr val="454245"/>
                </a:solidFill>
                <a:latin typeface="Carlito"/>
              </a:rPr>
              <a:t>The loop:</a:t>
            </a:r>
            <a:r>
              <a:rPr sz="1400" b="0">
                <a:solidFill>
                  <a:srgbClr val="454245"/>
                </a:solidFill>
                <a:latin typeface="Carlito"/>
              </a:rPr>
              <a:t> Decide → Act → Observe repeats up to 8 rounds. Writing the report is the only action that needs your approval.</a:t>
            </a:r>
          </a:p>
        </p:txBody>
      </p:sp>
      <p:sp>
        <p:nvSpPr>
          <p:cNvPr id="34" name="Rounded Rectangle 33"/>
          <p:cNvSpPr/>
          <p:nvPr/>
        </p:nvSpPr>
        <p:spPr>
          <a:xfrm>
            <a:off x="813816" y="4160520"/>
            <a:ext cx="2514600" cy="1463040"/>
          </a:xfrm>
          <a:prstGeom prst="roundRect">
            <a:avLst>
              <a:gd name="adj" fmla="val 6874"/>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4984" y="4297680"/>
            <a:ext cx="2194560" cy="731520"/>
          </a:xfrm>
          <a:prstGeom prst="rect">
            <a:avLst/>
          </a:prstGeom>
          <a:noFill/>
        </p:spPr>
        <p:txBody>
          <a:bodyPr wrap="square" lIns="0" rIns="0" tIns="0" bIns="0" anchor="t">
            <a:spAutoFit/>
          </a:bodyPr>
          <a:lstStyle/>
          <a:p>
            <a:pPr algn="l">
              <a:lnSpc>
                <a:spcPts val="4000"/>
              </a:lnSpc>
            </a:pPr>
            <a:r>
              <a:rPr sz="4000" b="1">
                <a:solidFill>
                  <a:srgbClr val="4A154B"/>
                </a:solidFill>
                <a:latin typeface="Caladea"/>
              </a:rPr>
              <a:t>3</a:t>
            </a:r>
          </a:p>
        </p:txBody>
      </p:sp>
      <p:sp>
        <p:nvSpPr>
          <p:cNvPr id="36" name="TextBox 35"/>
          <p:cNvSpPr txBox="1"/>
          <p:nvPr/>
        </p:nvSpPr>
        <p:spPr>
          <a:xfrm>
            <a:off x="1014984" y="4983480"/>
            <a:ext cx="2194560" cy="54864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demo modes: Basic · Tool-using · Agent</a:t>
            </a:r>
          </a:p>
        </p:txBody>
      </p:sp>
      <p:sp>
        <p:nvSpPr>
          <p:cNvPr id="37" name="Rounded Rectangle 36"/>
          <p:cNvSpPr/>
          <p:nvPr/>
        </p:nvSpPr>
        <p:spPr>
          <a:xfrm>
            <a:off x="3493008" y="4160520"/>
            <a:ext cx="2514600" cy="1463040"/>
          </a:xfrm>
          <a:prstGeom prst="roundRect">
            <a:avLst>
              <a:gd name="adj" fmla="val 6874"/>
            </a:avLst>
          </a:prstGeom>
          <a:solidFill>
            <a:srgbClr val="FC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94176" y="4297680"/>
            <a:ext cx="2194560" cy="731520"/>
          </a:xfrm>
          <a:prstGeom prst="rect">
            <a:avLst/>
          </a:prstGeom>
          <a:noFill/>
        </p:spPr>
        <p:txBody>
          <a:bodyPr wrap="square" lIns="0" rIns="0" tIns="0" bIns="0" anchor="t">
            <a:spAutoFit/>
          </a:bodyPr>
          <a:lstStyle/>
          <a:p>
            <a:pPr algn="l">
              <a:lnSpc>
                <a:spcPts val="4000"/>
              </a:lnSpc>
            </a:pPr>
            <a:r>
              <a:rPr sz="4000" b="1">
                <a:solidFill>
                  <a:srgbClr val="C0164D"/>
                </a:solidFill>
                <a:latin typeface="Caladea"/>
              </a:rPr>
              <a:t>4</a:t>
            </a:r>
          </a:p>
        </p:txBody>
      </p:sp>
      <p:sp>
        <p:nvSpPr>
          <p:cNvPr id="39" name="TextBox 38"/>
          <p:cNvSpPr txBox="1"/>
          <p:nvPr/>
        </p:nvSpPr>
        <p:spPr>
          <a:xfrm>
            <a:off x="3694176" y="4983480"/>
            <a:ext cx="2194560" cy="54864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tools, each with a JSON Schema</a:t>
            </a:r>
          </a:p>
        </p:txBody>
      </p:sp>
      <p:sp>
        <p:nvSpPr>
          <p:cNvPr id="40" name="Rounded Rectangle 39"/>
          <p:cNvSpPr/>
          <p:nvPr/>
        </p:nvSpPr>
        <p:spPr>
          <a:xfrm>
            <a:off x="6172200" y="4160520"/>
            <a:ext cx="2514600" cy="1463040"/>
          </a:xfrm>
          <a:prstGeom prst="roundRect">
            <a:avLst>
              <a:gd name="adj" fmla="val 6874"/>
            </a:avLst>
          </a:prstGeom>
          <a:solidFill>
            <a:srgbClr val="FD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73368" y="4297680"/>
            <a:ext cx="2194560" cy="731520"/>
          </a:xfrm>
          <a:prstGeom prst="rect">
            <a:avLst/>
          </a:prstGeom>
          <a:noFill/>
        </p:spPr>
        <p:txBody>
          <a:bodyPr wrap="square" lIns="0" rIns="0" tIns="0" bIns="0" anchor="t">
            <a:spAutoFit/>
          </a:bodyPr>
          <a:lstStyle/>
          <a:p>
            <a:pPr algn="l">
              <a:lnSpc>
                <a:spcPts val="4000"/>
              </a:lnSpc>
            </a:pPr>
            <a:r>
              <a:rPr sz="4000" b="1">
                <a:solidFill>
                  <a:srgbClr val="8A6300"/>
                </a:solidFill>
                <a:latin typeface="Caladea"/>
              </a:rPr>
              <a:t>8</a:t>
            </a:r>
          </a:p>
        </p:txBody>
      </p:sp>
      <p:sp>
        <p:nvSpPr>
          <p:cNvPr id="42" name="TextBox 41"/>
          <p:cNvSpPr txBox="1"/>
          <p:nvPr/>
        </p:nvSpPr>
        <p:spPr>
          <a:xfrm>
            <a:off x="6373368" y="4983480"/>
            <a:ext cx="2194560" cy="54864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tool rounds at most, then it stops</a:t>
            </a:r>
          </a:p>
        </p:txBody>
      </p:sp>
      <p:sp>
        <p:nvSpPr>
          <p:cNvPr id="43" name="Rounded Rectangle 42"/>
          <p:cNvSpPr/>
          <p:nvPr/>
        </p:nvSpPr>
        <p:spPr>
          <a:xfrm>
            <a:off x="8851392" y="4160520"/>
            <a:ext cx="2514600" cy="1463040"/>
          </a:xfrm>
          <a:prstGeom prst="roundRect">
            <a:avLst>
              <a:gd name="adj" fmla="val 6874"/>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0" y="4297680"/>
            <a:ext cx="2194560" cy="731520"/>
          </a:xfrm>
          <a:prstGeom prst="rect">
            <a:avLst/>
          </a:prstGeom>
          <a:noFill/>
        </p:spPr>
        <p:txBody>
          <a:bodyPr wrap="square" lIns="0" rIns="0" tIns="0" bIns="0" anchor="t">
            <a:spAutoFit/>
          </a:bodyPr>
          <a:lstStyle/>
          <a:p>
            <a:pPr algn="l">
              <a:lnSpc>
                <a:spcPts val="4000"/>
              </a:lnSpc>
            </a:pPr>
            <a:r>
              <a:rPr sz="4000" b="1">
                <a:solidFill>
                  <a:srgbClr val="1E7D55"/>
                </a:solidFill>
                <a:latin typeface="Caladea"/>
              </a:rPr>
              <a:t>123</a:t>
            </a:r>
          </a:p>
        </p:txBody>
      </p:sp>
      <p:sp>
        <p:nvSpPr>
          <p:cNvPr id="45" name="TextBox 44"/>
          <p:cNvSpPr txBox="1"/>
          <p:nvPr/>
        </p:nvSpPr>
        <p:spPr>
          <a:xfrm>
            <a:off x="9052560" y="4983480"/>
            <a:ext cx="2194560" cy="54864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offline tests, no API key needed</a:t>
            </a:r>
          </a:p>
        </p:txBody>
      </p:sp>
      <p:sp>
        <p:nvSpPr>
          <p:cNvPr id="46" name="TextBox 45"/>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47" name="TextBox 46"/>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1E7D55"/>
                </a:solidFill>
                <a:latin typeface="Carlito"/>
              </a:rPr>
              <a:t>SETUP</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The project: one file per idea</a:t>
            </a:r>
          </a:p>
        </p:txBody>
      </p:sp>
      <p:graphicFrame>
        <p:nvGraphicFramePr>
          <p:cNvPr id="4" name="Table 3"/>
          <p:cNvGraphicFramePr>
            <a:graphicFrameLocks noGrp="1"/>
          </p:cNvGraphicFramePr>
          <p:nvPr/>
        </p:nvGraphicFramePr>
        <p:xfrm>
          <a:off x="813816" y="1755648"/>
          <a:ext cx="10570463" cy="3176622"/>
        </p:xfrm>
        <a:graphic>
          <a:graphicData uri="http://schemas.openxmlformats.org/drawingml/2006/table">
            <a:tbl>
              <a:tblPr firstRow="0" bandRow="0">
                <a:tableStyleId>{2D5ABB26-0587-4C30-8999-92F81FD0307C}</a:tableStyleId>
              </a:tblPr>
              <a:tblGrid>
                <a:gridCol w="3749039"/>
                <a:gridCol w="914400"/>
                <a:gridCol w="5907024"/>
              </a:tblGrid>
              <a:tr h="352958">
                <a:tc>
                  <a:txBody>
                    <a:bodyPr wrap="square"/>
                    <a:lstStyle/>
                    <a:p>
                      <a:pPr>
                        <a:lnSpc>
                          <a:spcPts val="1959"/>
                        </a:lnSpc>
                      </a:pPr>
                      <a:r>
                        <a:rPr sz="1400" b="1">
                          <a:solidFill>
                            <a:srgbClr val="1D1C1D"/>
                          </a:solidFill>
                          <a:latin typeface="Carlito"/>
                        </a:rPr>
                        <a:t>File</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EDEDED"/>
                    </a:solidFill>
                  </a:tcPr>
                </a:tc>
                <a:tc>
                  <a:txBody>
                    <a:bodyPr wrap="square"/>
                    <a:lstStyle/>
                    <a:p>
                      <a:pPr>
                        <a:lnSpc>
                          <a:spcPts val="1959"/>
                        </a:lnSpc>
                      </a:pPr>
                      <a:r>
                        <a:rPr sz="1400" b="1">
                          <a:solidFill>
                            <a:srgbClr val="1D1C1D"/>
                          </a:solidFill>
                          <a:latin typeface="Carlito"/>
                        </a:rPr>
                        <a:t>Step</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EDEDED"/>
                    </a:solidFill>
                  </a:tcPr>
                </a:tc>
                <a:tc>
                  <a:txBody>
                    <a:bodyPr wrap="square"/>
                    <a:lstStyle/>
                    <a:p>
                      <a:pPr>
                        <a:lnSpc>
                          <a:spcPts val="1959"/>
                        </a:lnSpc>
                      </a:pPr>
                      <a:r>
                        <a:rPr sz="1400" b="1">
                          <a:solidFill>
                            <a:srgbClr val="1D1C1D"/>
                          </a:solidFill>
                          <a:latin typeface="Carlito"/>
                        </a:rPr>
                        <a:t>Job</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EDEDED"/>
                    </a:solidFill>
                  </a:tcPr>
                </a:tc>
              </a:tr>
              <a:tr h="352958">
                <a:tc>
                  <a:txBody>
                    <a:bodyPr wrap="square"/>
                    <a:lstStyle/>
                    <a:p>
                      <a:pPr>
                        <a:lnSpc>
                          <a:spcPts val="1959"/>
                        </a:lnSpc>
                      </a:pPr>
                      <a:r>
                        <a:rPr sz="1400" b="0">
                          <a:solidFill>
                            <a:srgbClr val="1D1C1D"/>
                          </a:solidFill>
                          <a:latin typeface="Carlito"/>
                        </a:rPr>
                        <a:t>config.py</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0</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Settings from .env: key, model, mock switch</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r h="352958">
                <a:tc>
                  <a:txBody>
                    <a:bodyPr wrap="square"/>
                    <a:lstStyle/>
                    <a:p>
                      <a:pPr>
                        <a:lnSpc>
                          <a:spcPts val="1959"/>
                        </a:lnSpc>
                      </a:pPr>
                      <a:r>
                        <a:rPr sz="1400" b="0">
                          <a:solidFill>
                            <a:srgbClr val="1D1C1D"/>
                          </a:solidFill>
                          <a:latin typeface="Carlito"/>
                        </a:rPr>
                        <a:t>meta_client.py</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1</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Talk to Muse Spark; MockMetaClient for class without a key</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r h="352958">
                <a:tc>
                  <a:txBody>
                    <a:bodyPr wrap="square"/>
                    <a:lstStyle/>
                    <a:p>
                      <a:pPr>
                        <a:lnSpc>
                          <a:spcPts val="1959"/>
                        </a:lnSpc>
                      </a:pPr>
                      <a:r>
                        <a:rPr sz="1400" b="0">
                          <a:solidFill>
                            <a:srgbClr val="1D1C1D"/>
                          </a:solidFill>
                          <a:latin typeface="Carlito"/>
                        </a:rPr>
                        <a:t>tools.py</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2</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Tool registry, JSON Schemas, argument validation</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r h="352958">
                <a:tc>
                  <a:txBody>
                    <a:bodyPr wrap="square"/>
                    <a:lstStyle/>
                    <a:p>
                      <a:pPr>
                        <a:lnSpc>
                          <a:spcPts val="1959"/>
                        </a:lnSpc>
                      </a:pPr>
                      <a:r>
                        <a:rPr sz="1400" b="0">
                          <a:solidFill>
                            <a:srgbClr val="1D1C1D"/>
                          </a:solidFill>
                          <a:latin typeface="Carlito"/>
                        </a:rPr>
                        <a:t>paper_search.py · pdf_reader.py · calculator.py</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3</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The three tools that do real work</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r h="352958">
                <a:tc>
                  <a:txBody>
                    <a:bodyPr wrap="square"/>
                    <a:lstStyle/>
                    <a:p>
                      <a:pPr>
                        <a:lnSpc>
                          <a:spcPts val="1959"/>
                        </a:lnSpc>
                      </a:pPr>
                      <a:r>
                        <a:rPr sz="1400" b="0">
                          <a:solidFill>
                            <a:srgbClr val="1D1C1D"/>
                          </a:solidFill>
                          <a:latin typeface="Carlito"/>
                        </a:rPr>
                        <a:t>agent.py</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4–5</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Agent loop, state machine, human approval</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r h="352958">
                <a:tc>
                  <a:txBody>
                    <a:bodyPr wrap="square"/>
                    <a:lstStyle/>
                    <a:p>
                      <a:pPr>
                        <a:lnSpc>
                          <a:spcPts val="1959"/>
                        </a:lnSpc>
                      </a:pPr>
                      <a:r>
                        <a:rPr sz="1400" b="0">
                          <a:solidFill>
                            <a:srgbClr val="1D1C1D"/>
                          </a:solidFill>
                          <a:latin typeface="Carlito"/>
                        </a:rPr>
                        <a:t>report_generator.py</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5</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Report with [n] citations, saved to outputs/</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r h="352958">
                <a:tc>
                  <a:txBody>
                    <a:bodyPr wrap="square"/>
                    <a:lstStyle/>
                    <a:p>
                      <a:pPr>
                        <a:lnSpc>
                          <a:spcPts val="1959"/>
                        </a:lnSpc>
                      </a:pPr>
                      <a:r>
                        <a:rPr sz="1400" b="0">
                          <a:solidFill>
                            <a:srgbClr val="1D1C1D"/>
                          </a:solidFill>
                          <a:latin typeface="Carlito"/>
                        </a:rPr>
                        <a:t>app.py</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6</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Streamlit chat interface</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r h="352958">
                <a:tc>
                  <a:txBody>
                    <a:bodyPr wrap="square"/>
                    <a:lstStyle/>
                    <a:p>
                      <a:pPr>
                        <a:lnSpc>
                          <a:spcPts val="1959"/>
                        </a:lnSpc>
                      </a:pPr>
                      <a:r>
                        <a:rPr sz="1400" b="0">
                          <a:solidFill>
                            <a:srgbClr val="1D1C1D"/>
                          </a:solidFill>
                          <a:latin typeface="Carlito"/>
                        </a:rPr>
                        <a:t>tests/</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7</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123 offline tests + 2 live tests</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bl>
          </a:graphicData>
        </a:graphic>
      </p:graphicFrame>
      <p:sp>
        <p:nvSpPr>
          <p:cNvPr id="5" name="TextBox 4"/>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6" name="TextBox 5"/>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1E7D55"/>
                </a:solidFill>
                <a:latin typeface="Carlito"/>
              </a:rPr>
              <a:t>STEP 0</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Install, add a key, run</a:t>
            </a:r>
          </a:p>
        </p:txBody>
      </p:sp>
      <p:sp>
        <p:nvSpPr>
          <p:cNvPr id="4" name="Rounded Rectangle 3"/>
          <p:cNvSpPr/>
          <p:nvPr/>
        </p:nvSpPr>
        <p:spPr>
          <a:xfrm>
            <a:off x="813816" y="1755648"/>
            <a:ext cx="10570464" cy="1508760"/>
          </a:xfrm>
          <a:prstGeom prst="roundRect">
            <a:avLst>
              <a:gd name="adj" fmla="val 6666"/>
            </a:avLst>
          </a:prstGeom>
          <a:solidFill>
            <a:srgbClr val="2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929384"/>
            <a:ext cx="10204704" cy="1234439"/>
          </a:xfrm>
          <a:prstGeom prst="rect">
            <a:avLst/>
          </a:prstGeom>
          <a:noFill/>
        </p:spPr>
        <p:txBody>
          <a:bodyPr wrap="none" lIns="0" rIns="0" tIns="0" bIns="0">
            <a:spAutoFit/>
          </a:bodyPr>
          <a:lstStyle/>
          <a:p>
            <a:pPr>
              <a:lnSpc>
                <a:spcPts val="1820"/>
              </a:lnSpc>
            </a:pPr>
            <a:r>
              <a:rPr sz="1300">
                <a:solidFill>
                  <a:srgbClr val="EEE9F4"/>
                </a:solidFill>
                <a:latin typeface="Consolas"/>
              </a:rPr>
              <a:t>python -m venv .venv</a:t>
            </a:r>
          </a:p>
          <a:p>
            <a:pPr>
              <a:lnSpc>
                <a:spcPts val="1820"/>
              </a:lnSpc>
            </a:pPr>
            <a:r>
              <a:rPr sz="1300">
                <a:solidFill>
                  <a:srgbClr val="EEE9F4"/>
                </a:solidFill>
                <a:latin typeface="Consolas"/>
              </a:rPr>
              <a:t>.venv\Scripts\activate            </a:t>
            </a:r>
            <a:r>
              <a:rPr sz="1300">
                <a:solidFill>
                  <a:srgbClr val="B3A6C4"/>
                </a:solidFill>
                <a:latin typeface="Consolas"/>
              </a:rPr>
              <a:t># macOS/Linux: source .venv/bin/activate</a:t>
            </a:r>
          </a:p>
          <a:p>
            <a:pPr>
              <a:lnSpc>
                <a:spcPts val="1820"/>
              </a:lnSpc>
            </a:pPr>
            <a:r>
              <a:rPr sz="1300">
                <a:solidFill>
                  <a:srgbClr val="EEE9F4"/>
                </a:solidFill>
                <a:latin typeface="Consolas"/>
              </a:rPr>
              <a:t>pip install -r requirements.txt   </a:t>
            </a:r>
            <a:r>
              <a:rPr sz="1300">
                <a:solidFill>
                  <a:srgbClr val="B3A6C4"/>
                </a:solidFill>
                <a:latin typeface="Consolas"/>
              </a:rPr>
              <a:t># streamlit, openai, httpx, pypdf, pytest</a:t>
            </a:r>
          </a:p>
          <a:p>
            <a:pPr>
              <a:lnSpc>
                <a:spcPts val="1820"/>
              </a:lnSpc>
            </a:pPr>
            <a:r>
              <a:rPr sz="1300">
                <a:solidFill>
                  <a:srgbClr val="EEE9F4"/>
                </a:solidFill>
                <a:latin typeface="Consolas"/>
              </a:rPr>
              <a:t>copy .env.example .env            </a:t>
            </a:r>
            <a:r>
              <a:rPr sz="1300">
                <a:solidFill>
                  <a:srgbClr val="B3A6C4"/>
                </a:solidFill>
                <a:latin typeface="Consolas"/>
              </a:rPr>
              <a:t># paste MODEL_API_KEY=...  (or leave it empty)</a:t>
            </a:r>
          </a:p>
          <a:p>
            <a:pPr>
              <a:lnSpc>
                <a:spcPts val="1820"/>
              </a:lnSpc>
            </a:pPr>
            <a:r>
              <a:rPr sz="1300">
                <a:solidFill>
                  <a:srgbClr val="EEE9F4"/>
                </a:solidFill>
                <a:latin typeface="Consolas"/>
              </a:rPr>
              <a:t>streamlit run app.py              </a:t>
            </a:r>
            <a:r>
              <a:rPr sz="1300">
                <a:solidFill>
                  <a:srgbClr val="B3A6C4"/>
                </a:solidFill>
                <a:latin typeface="Consolas"/>
              </a:rPr>
              <a:t># open http://localhost:8501</a:t>
            </a:r>
          </a:p>
        </p:txBody>
      </p:sp>
      <p:sp>
        <p:nvSpPr>
          <p:cNvPr id="6" name="Rounded Rectangle 5"/>
          <p:cNvSpPr/>
          <p:nvPr/>
        </p:nvSpPr>
        <p:spPr>
          <a:xfrm>
            <a:off x="813816" y="3465576"/>
            <a:ext cx="5202936" cy="1435608"/>
          </a:xfrm>
          <a:prstGeom prst="roundRect">
            <a:avLst>
              <a:gd name="adj" fmla="val 7006"/>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eyRound-green.png"/>
          <p:cNvPicPr>
            <a:picLocks noChangeAspect="1"/>
          </p:cNvPicPr>
          <p:nvPr/>
        </p:nvPicPr>
        <p:blipFill>
          <a:blip r:embed="rId3"/>
          <a:stretch>
            <a:fillRect/>
          </a:stretch>
        </p:blipFill>
        <p:spPr>
          <a:xfrm>
            <a:off x="1014984" y="3639312"/>
            <a:ext cx="283464" cy="283464"/>
          </a:xfrm>
          <a:prstGeom prst="rect">
            <a:avLst/>
          </a:prstGeom>
        </p:spPr>
      </p:pic>
      <p:sp>
        <p:nvSpPr>
          <p:cNvPr id="8" name="TextBox 7"/>
          <p:cNvSpPr txBox="1"/>
          <p:nvPr/>
        </p:nvSpPr>
        <p:spPr>
          <a:xfrm>
            <a:off x="1014984" y="3986784"/>
            <a:ext cx="4892040" cy="274320"/>
          </a:xfrm>
          <a:prstGeom prst="rect">
            <a:avLst/>
          </a:prstGeom>
          <a:noFill/>
        </p:spPr>
        <p:txBody>
          <a:bodyPr wrap="square" lIns="0" rIns="0" tIns="0" bIns="0" anchor="t">
            <a:spAutoFit/>
          </a:bodyPr>
          <a:lstStyle/>
          <a:p>
            <a:pPr algn="l">
              <a:lnSpc>
                <a:spcPts val="2240"/>
              </a:lnSpc>
            </a:pPr>
            <a:r>
              <a:rPr sz="1600" b="1">
                <a:solidFill>
                  <a:srgbClr val="1D1C1D"/>
                </a:solidFill>
                <a:latin typeface="Carlito"/>
              </a:rPr>
              <a:t>Getting a key</a:t>
            </a:r>
          </a:p>
        </p:txBody>
      </p:sp>
      <p:sp>
        <p:nvSpPr>
          <p:cNvPr id="9" name="TextBox 8"/>
          <p:cNvSpPr txBox="1"/>
          <p:nvPr/>
        </p:nvSpPr>
        <p:spPr>
          <a:xfrm>
            <a:off x="1014984" y="4295648"/>
            <a:ext cx="4892040" cy="566928"/>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dev.meta.ai → API keys → Create API key. It is shown once; put it in </a:t>
            </a:r>
            <a:r>
              <a:rPr sz="1300" b="1">
                <a:solidFill>
                  <a:srgbClr val="454245"/>
                </a:solidFill>
                <a:latin typeface="Carlito"/>
              </a:rPr>
              <a:t>.env</a:t>
            </a:r>
            <a:r>
              <a:rPr sz="1300" b="0">
                <a:solidFill>
                  <a:srgbClr val="454245"/>
                </a:solidFill>
                <a:latin typeface="Carlito"/>
              </a:rPr>
              <a:t>, never in code. Pay per token.</a:t>
            </a:r>
          </a:p>
        </p:txBody>
      </p:sp>
      <p:sp>
        <p:nvSpPr>
          <p:cNvPr id="10" name="Rounded Rectangle 9"/>
          <p:cNvSpPr/>
          <p:nvPr/>
        </p:nvSpPr>
        <p:spPr>
          <a:xfrm>
            <a:off x="6172200" y="3465576"/>
            <a:ext cx="5202936" cy="1435608"/>
          </a:xfrm>
          <a:prstGeom prst="roundRect">
            <a:avLst>
              <a:gd name="adj" fmla="val 7006"/>
            </a:avLst>
          </a:prstGeom>
          <a:solidFill>
            <a:srgbClr val="FD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riangleAlert-amber.png"/>
          <p:cNvPicPr>
            <a:picLocks noChangeAspect="1"/>
          </p:cNvPicPr>
          <p:nvPr/>
        </p:nvPicPr>
        <p:blipFill>
          <a:blip r:embed="rId4"/>
          <a:stretch>
            <a:fillRect/>
          </a:stretch>
        </p:blipFill>
        <p:spPr>
          <a:xfrm>
            <a:off x="6373368" y="3639312"/>
            <a:ext cx="283464" cy="283464"/>
          </a:xfrm>
          <a:prstGeom prst="rect">
            <a:avLst/>
          </a:prstGeom>
        </p:spPr>
      </p:pic>
      <p:sp>
        <p:nvSpPr>
          <p:cNvPr id="12" name="TextBox 11"/>
          <p:cNvSpPr txBox="1"/>
          <p:nvPr/>
        </p:nvSpPr>
        <p:spPr>
          <a:xfrm>
            <a:off x="6373368" y="3986784"/>
            <a:ext cx="4892040" cy="274320"/>
          </a:xfrm>
          <a:prstGeom prst="rect">
            <a:avLst/>
          </a:prstGeom>
          <a:noFill/>
        </p:spPr>
        <p:txBody>
          <a:bodyPr wrap="square" lIns="0" rIns="0" tIns="0" bIns="0" anchor="t">
            <a:spAutoFit/>
          </a:bodyPr>
          <a:lstStyle/>
          <a:p>
            <a:pPr algn="l">
              <a:lnSpc>
                <a:spcPts val="2240"/>
              </a:lnSpc>
            </a:pPr>
            <a:r>
              <a:rPr sz="1600" b="1">
                <a:solidFill>
                  <a:srgbClr val="1D1C1D"/>
                </a:solidFill>
                <a:latin typeface="Carlito"/>
              </a:rPr>
              <a:t>No key? Mock mode</a:t>
            </a:r>
          </a:p>
        </p:txBody>
      </p:sp>
      <p:sp>
        <p:nvSpPr>
          <p:cNvPr id="13" name="TextBox 12"/>
          <p:cNvSpPr txBox="1"/>
          <p:nvPr/>
        </p:nvSpPr>
        <p:spPr>
          <a:xfrm>
            <a:off x="6373368" y="4295648"/>
            <a:ext cx="4892040" cy="566928"/>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An empty key, MINI_MUSE_MOCK=1, or a refused key (401 / 403 / region) switches to a scripted stand-in model. The tools stay real.</a:t>
            </a:r>
          </a:p>
        </p:txBody>
      </p:sp>
      <p:sp>
        <p:nvSpPr>
          <p:cNvPr id="14" name="TextBox 13"/>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15" name="TextBox 14"/>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1E7D55"/>
                </a:solidFill>
                <a:latin typeface="Carlito"/>
              </a:rPr>
              <a:t>STEP 0</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config.py — settings live outside the code</a:t>
            </a:r>
          </a:p>
        </p:txBody>
      </p:sp>
      <p:sp>
        <p:nvSpPr>
          <p:cNvPr id="4" name="Rounded Rectangle 3"/>
          <p:cNvSpPr/>
          <p:nvPr/>
        </p:nvSpPr>
        <p:spPr>
          <a:xfrm>
            <a:off x="813816" y="1755648"/>
            <a:ext cx="10570464" cy="3699510"/>
          </a:xfrm>
          <a:prstGeom prst="roundRect">
            <a:avLst>
              <a:gd name="adj" fmla="val 2718"/>
            </a:avLst>
          </a:prstGeom>
          <a:solidFill>
            <a:srgbClr val="2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929384"/>
            <a:ext cx="10204704" cy="3425190"/>
          </a:xfrm>
          <a:prstGeom prst="rect">
            <a:avLst/>
          </a:prstGeom>
          <a:noFill/>
        </p:spPr>
        <p:txBody>
          <a:bodyPr wrap="none" lIns="0" rIns="0" tIns="0" bIns="0">
            <a:spAutoFit/>
          </a:bodyPr>
          <a:lstStyle/>
          <a:p>
            <a:pPr>
              <a:lnSpc>
                <a:spcPts val="1750"/>
              </a:lnSpc>
            </a:pPr>
            <a:r>
              <a:rPr sz="1250">
                <a:solidFill>
                  <a:srgbClr val="EEE9F4"/>
                </a:solidFill>
                <a:latin typeface="Consolas"/>
              </a:rPr>
              <a:t>load_dotenv(PROJECT_DIR / ".env")          </a:t>
            </a:r>
            <a:r>
              <a:rPr sz="1250">
                <a:solidFill>
                  <a:srgbClr val="B3A6C4"/>
                </a:solidFill>
                <a:latin typeface="Consolas"/>
              </a:rPr>
              <a:t># read .env; the key is never printed</a:t>
            </a:r>
          </a:p>
          <a:p>
            <a:pPr>
              <a:lnSpc>
                <a:spcPts val="1750"/>
              </a:lnSpc>
            </a:pPr>
            <a:r>
              <a:rPr sz="1250">
                <a:latin typeface="Consolas"/>
              </a:rPr>
              <a:t> </a:t>
            </a:r>
          </a:p>
          <a:p>
            <a:pPr>
              <a:lnSpc>
                <a:spcPts val="1750"/>
              </a:lnSpc>
            </a:pPr>
            <a:r>
              <a:rPr sz="1250">
                <a:solidFill>
                  <a:srgbClr val="EEE9F4"/>
                </a:solidFill>
                <a:latin typeface="Consolas"/>
              </a:rPr>
              <a:t>@dataclass(frozen=True)</a:t>
            </a:r>
          </a:p>
          <a:p>
            <a:pPr>
              <a:lnSpc>
                <a:spcPts val="1750"/>
              </a:lnSpc>
            </a:pPr>
            <a:r>
              <a:rPr sz="1250">
                <a:solidFill>
                  <a:srgbClr val="EEE9F4"/>
                </a:solidFill>
                <a:latin typeface="Consolas"/>
              </a:rPr>
              <a:t>class Settings:</a:t>
            </a:r>
          </a:p>
          <a:p>
            <a:pPr>
              <a:lnSpc>
                <a:spcPts val="1750"/>
              </a:lnSpc>
            </a:pPr>
            <a:r>
              <a:rPr sz="1250">
                <a:solidFill>
                  <a:srgbClr val="EEE9F4"/>
                </a:solidFill>
                <a:latin typeface="Consolas"/>
              </a:rPr>
              <a:t>    api_key: str = field(repr=False)        </a:t>
            </a:r>
            <a:r>
              <a:rPr sz="1250">
                <a:solidFill>
                  <a:srgbClr val="B3A6C4"/>
                </a:solidFill>
                <a:latin typeface="Consolas"/>
              </a:rPr>
              <a:t># repr=False: the key never shows in logs</a:t>
            </a:r>
          </a:p>
          <a:p>
            <a:pPr>
              <a:lnSpc>
                <a:spcPts val="1750"/>
              </a:lnSpc>
            </a:pPr>
            <a:r>
              <a:rPr sz="1250">
                <a:solidFill>
                  <a:srgbClr val="EEE9F4"/>
                </a:solidFill>
                <a:latin typeface="Consolas"/>
              </a:rPr>
              <a:t>    model: str = "muse-spark-1.3"</a:t>
            </a:r>
          </a:p>
          <a:p>
            <a:pPr>
              <a:lnSpc>
                <a:spcPts val="1750"/>
              </a:lnSpc>
            </a:pPr>
            <a:r>
              <a:rPr sz="1250">
                <a:solidFill>
                  <a:srgbClr val="EEE9F4"/>
                </a:solidFill>
                <a:latin typeface="Consolas"/>
              </a:rPr>
              <a:t>    base_url: str = "https://api.meta.ai/v1"</a:t>
            </a:r>
          </a:p>
          <a:p>
            <a:pPr>
              <a:lnSpc>
                <a:spcPts val="1750"/>
              </a:lnSpc>
            </a:pPr>
            <a:r>
              <a:rPr sz="1250">
                <a:solidFill>
                  <a:srgbClr val="EEE9F4"/>
                </a:solidFill>
                <a:latin typeface="Consolas"/>
              </a:rPr>
              <a:t>    reasoning_effort: str = "low"           </a:t>
            </a:r>
            <a:r>
              <a:rPr sz="1250">
                <a:solidFill>
                  <a:srgbClr val="B3A6C4"/>
                </a:solidFill>
                <a:latin typeface="Consolas"/>
              </a:rPr>
              <a:t># reasoning tokens are billed as output</a:t>
            </a:r>
          </a:p>
          <a:p>
            <a:pPr>
              <a:lnSpc>
                <a:spcPts val="1750"/>
              </a:lnSpc>
            </a:pPr>
            <a:r>
              <a:rPr sz="1250">
                <a:solidFill>
                  <a:srgbClr val="EEE9F4"/>
                </a:solidFill>
                <a:latin typeface="Consolas"/>
              </a:rPr>
              <a:t>    force_mock: bool = False</a:t>
            </a:r>
          </a:p>
          <a:p>
            <a:pPr>
              <a:lnSpc>
                <a:spcPts val="1750"/>
              </a:lnSpc>
            </a:pPr>
            <a:r>
              <a:rPr sz="1250">
                <a:latin typeface="Consolas"/>
              </a:rPr>
              <a:t> </a:t>
            </a:r>
          </a:p>
          <a:p>
            <a:pPr>
              <a:lnSpc>
                <a:spcPts val="1750"/>
              </a:lnSpc>
            </a:pPr>
            <a:r>
              <a:rPr sz="1250">
                <a:solidFill>
                  <a:srgbClr val="EEE9F4"/>
                </a:solidFill>
                <a:latin typeface="Consolas"/>
              </a:rPr>
              <a:t>    @property</a:t>
            </a:r>
          </a:p>
          <a:p>
            <a:pPr>
              <a:lnSpc>
                <a:spcPts val="1750"/>
              </a:lnSpc>
            </a:pPr>
            <a:r>
              <a:rPr sz="1250">
                <a:solidFill>
                  <a:srgbClr val="EEE9F4"/>
                </a:solidFill>
                <a:latin typeface="Consolas"/>
              </a:rPr>
              <a:t>    def use_mock(self) -&gt; bool:</a:t>
            </a:r>
          </a:p>
          <a:p>
            <a:pPr>
              <a:lnSpc>
                <a:spcPts val="1750"/>
              </a:lnSpc>
            </a:pPr>
            <a:r>
              <a:rPr sz="1250">
                <a:solidFill>
                  <a:srgbClr val="EEE9F4"/>
                </a:solidFill>
                <a:latin typeface="Consolas"/>
              </a:rPr>
              <a:t>        return self.force_mock or not self.api_key</a:t>
            </a:r>
          </a:p>
          <a:p>
            <a:pPr>
              <a:lnSpc>
                <a:spcPts val="1750"/>
              </a:lnSpc>
            </a:pPr>
            <a:r>
              <a:rPr sz="1250">
                <a:latin typeface="Consolas"/>
              </a:rPr>
              <a:t> </a:t>
            </a:r>
          </a:p>
          <a:p>
            <a:pPr>
              <a:lnSpc>
                <a:spcPts val="1750"/>
              </a:lnSpc>
            </a:pPr>
            <a:r>
              <a:rPr sz="1250">
                <a:solidFill>
                  <a:srgbClr val="EEE9F4"/>
                </a:solidFill>
                <a:latin typeface="Consolas"/>
              </a:rPr>
              <a:t>MAX_STEPS = 8                               </a:t>
            </a:r>
            <a:r>
              <a:rPr sz="1250">
                <a:solidFill>
                  <a:srgbClr val="B3A6C4"/>
                </a:solidFill>
                <a:latin typeface="Consolas"/>
              </a:rPr>
              <a:t># hard limit on tool rounds in Agent mode</a:t>
            </a:r>
          </a:p>
        </p:txBody>
      </p:sp>
      <p:sp>
        <p:nvSpPr>
          <p:cNvPr id="6" name="Rounded Rectangle 5"/>
          <p:cNvSpPr/>
          <p:nvPr/>
        </p:nvSpPr>
        <p:spPr>
          <a:xfrm>
            <a:off x="813816" y="5656326"/>
            <a:ext cx="10570464" cy="448056"/>
          </a:xfrm>
          <a:prstGeom prst="roundRect">
            <a:avLst>
              <a:gd name="adj" fmla="val 16938"/>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5766054"/>
            <a:ext cx="10296144" cy="301751"/>
          </a:xfrm>
          <a:prstGeom prst="rect">
            <a:avLst/>
          </a:prstGeom>
          <a:noFill/>
        </p:spPr>
        <p:txBody>
          <a:bodyPr wrap="square" lIns="0" rIns="0" tIns="0" bIns="0" anchor="t">
            <a:spAutoFit/>
          </a:bodyPr>
          <a:lstStyle/>
          <a:p>
            <a:pPr algn="l">
              <a:lnSpc>
                <a:spcPts val="1755"/>
              </a:lnSpc>
            </a:pPr>
            <a:r>
              <a:rPr sz="1300" b="1">
                <a:solidFill>
                  <a:srgbClr val="1D1C1D"/>
                </a:solidFill>
                <a:latin typeface="Carlito"/>
              </a:rPr>
              <a:t>Key idea</a:t>
            </a:r>
            <a:r>
              <a:rPr sz="1300" b="0">
                <a:solidFill>
                  <a:srgbClr val="1D1C1D"/>
                </a:solidFill>
                <a:latin typeface="Carlito"/>
              </a:rPr>
              <a:t> · one place for every setting. An empty key switches on </a:t>
            </a:r>
            <a:r>
              <a:rPr sz="1300" b="1">
                <a:solidFill>
                  <a:srgbClr val="1D1C1D"/>
                </a:solidFill>
                <a:latin typeface="Carlito"/>
              </a:rPr>
              <a:t>mock mode</a:t>
            </a:r>
            <a:r>
              <a:rPr sz="1300" b="0">
                <a:solidFill>
                  <a:srgbClr val="1D1C1D"/>
                </a:solidFill>
                <a:latin typeface="Carlito"/>
              </a:rPr>
              <a:t>; </a:t>
            </a:r>
            <a:r>
              <a:rPr sz="1300" b="1">
                <a:solidFill>
                  <a:srgbClr val="1D1C1D"/>
                </a:solidFill>
                <a:latin typeface="Carlito"/>
              </a:rPr>
              <a:t>repr=False</a:t>
            </a:r>
            <a:r>
              <a:rPr sz="1300" b="0">
                <a:solidFill>
                  <a:srgbClr val="1D1C1D"/>
                </a:solidFill>
                <a:latin typeface="Carlito"/>
              </a:rPr>
              <a:t> keeps the key out of error messages.</a:t>
            </a:r>
          </a:p>
        </p:txBody>
      </p:sp>
      <p:sp>
        <p:nvSpPr>
          <p:cNvPr id="8" name="TextBox 7"/>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9" name="TextBox 8"/>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0B6E99"/>
                </a:solidFill>
                <a:latin typeface="Carlito"/>
              </a:rPr>
              <a:t>STEP 1</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Call Muse Spark with the OpenAI SDK</a:t>
            </a:r>
          </a:p>
        </p:txBody>
      </p:sp>
      <p:sp>
        <p:nvSpPr>
          <p:cNvPr id="4" name="Rounded Rectangle 3"/>
          <p:cNvSpPr/>
          <p:nvPr/>
        </p:nvSpPr>
        <p:spPr>
          <a:xfrm>
            <a:off x="813816" y="1755648"/>
            <a:ext cx="10570464" cy="3139440"/>
          </a:xfrm>
          <a:prstGeom prst="roundRect">
            <a:avLst>
              <a:gd name="adj" fmla="val 3203"/>
            </a:avLst>
          </a:prstGeom>
          <a:solidFill>
            <a:srgbClr val="2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929384"/>
            <a:ext cx="10204704" cy="2865120"/>
          </a:xfrm>
          <a:prstGeom prst="rect">
            <a:avLst/>
          </a:prstGeom>
          <a:noFill/>
        </p:spPr>
        <p:txBody>
          <a:bodyPr wrap="none" lIns="0" rIns="0" tIns="0" bIns="0">
            <a:spAutoFit/>
          </a:bodyPr>
          <a:lstStyle/>
          <a:p>
            <a:pPr>
              <a:lnSpc>
                <a:spcPts val="1820"/>
              </a:lnSpc>
            </a:pPr>
            <a:r>
              <a:rPr sz="1300">
                <a:solidFill>
                  <a:srgbClr val="EEE9F4"/>
                </a:solidFill>
                <a:latin typeface="Consolas"/>
              </a:rPr>
              <a:t>client = OpenAI(api_key=api_key, base_url="https://api.meta.ai/v1",   </a:t>
            </a:r>
            <a:r>
              <a:rPr sz="1300">
                <a:solidFill>
                  <a:srgbClr val="B3A6C4"/>
                </a:solidFill>
                <a:latin typeface="Consolas"/>
              </a:rPr>
              <a:t># Meta, not OpenAI</a:t>
            </a:r>
          </a:p>
          <a:p>
            <a:pPr>
              <a:lnSpc>
                <a:spcPts val="1820"/>
              </a:lnSpc>
            </a:pPr>
            <a:r>
              <a:rPr sz="1300">
                <a:solidFill>
                  <a:srgbClr val="EEE9F4"/>
                </a:solidFill>
                <a:latin typeface="Consolas"/>
              </a:rPr>
              <a:t>                timeout=120, max_retries=0)                          </a:t>
            </a:r>
            <a:r>
              <a:rPr sz="1300">
                <a:solidFill>
                  <a:srgbClr val="B3A6C4"/>
                </a:solidFill>
                <a:latin typeface="Consolas"/>
              </a:rPr>
              <a:t># we retry ourselves</a:t>
            </a:r>
          </a:p>
          <a:p>
            <a:pPr>
              <a:lnSpc>
                <a:spcPts val="1820"/>
              </a:lnSpc>
            </a:pPr>
            <a:r>
              <a:rPr sz="1300">
                <a:latin typeface="Consolas"/>
              </a:rPr>
              <a:t> </a:t>
            </a:r>
          </a:p>
          <a:p>
            <a:pPr>
              <a:lnSpc>
                <a:spcPts val="1820"/>
              </a:lnSpc>
            </a:pPr>
            <a:r>
              <a:rPr sz="1300">
                <a:solidFill>
                  <a:srgbClr val="EEE9F4"/>
                </a:solidFill>
                <a:latin typeface="Consolas"/>
              </a:rPr>
              <a:t>response = client.responses.create(</a:t>
            </a:r>
          </a:p>
          <a:p>
            <a:pPr>
              <a:lnSpc>
                <a:spcPts val="1820"/>
              </a:lnSpc>
            </a:pPr>
            <a:r>
              <a:rPr sz="1300">
                <a:solidFill>
                  <a:srgbClr val="EEE9F4"/>
                </a:solidFill>
                <a:latin typeface="Consolas"/>
              </a:rPr>
              <a:t>    model="muse-spark-1.3",</a:t>
            </a:r>
          </a:p>
          <a:p>
            <a:pPr>
              <a:lnSpc>
                <a:spcPts val="1820"/>
              </a:lnSpc>
            </a:pPr>
            <a:r>
              <a:rPr sz="1300">
                <a:solidFill>
                  <a:srgbClr val="EEE9F4"/>
                </a:solidFill>
                <a:latin typeface="Consolas"/>
              </a:rPr>
              <a:t>    instructions=prompts.AGENT,          </a:t>
            </a:r>
            <a:r>
              <a:rPr sz="1300">
                <a:solidFill>
                  <a:srgbClr val="B3A6C4"/>
                </a:solidFill>
                <a:latin typeface="Consolas"/>
              </a:rPr>
              <a:t># the agent's rules</a:t>
            </a:r>
          </a:p>
          <a:p>
            <a:pPr>
              <a:lnSpc>
                <a:spcPts val="1820"/>
              </a:lnSpc>
            </a:pPr>
            <a:r>
              <a:rPr sz="1300">
                <a:solidFill>
                  <a:srgbClr val="EEE9F4"/>
                </a:solidFill>
                <a:latin typeface="Consolas"/>
              </a:rPr>
              <a:t>    input=history,                       </a:t>
            </a:r>
            <a:r>
              <a:rPr sz="1300">
                <a:solidFill>
                  <a:srgbClr val="B3A6C4"/>
                </a:solidFill>
                <a:latin typeface="Consolas"/>
              </a:rPr>
              <a:t># the conversation so far</a:t>
            </a:r>
          </a:p>
          <a:p>
            <a:pPr>
              <a:lnSpc>
                <a:spcPts val="1820"/>
              </a:lnSpc>
            </a:pPr>
            <a:r>
              <a:rPr sz="1300">
                <a:solidFill>
                  <a:srgbClr val="EEE9F4"/>
                </a:solidFill>
                <a:latin typeface="Consolas"/>
              </a:rPr>
              <a:t>    tools=tool_schemas,                  </a:t>
            </a:r>
            <a:r>
              <a:rPr sz="1300">
                <a:solidFill>
                  <a:srgbClr val="B3A6C4"/>
                </a:solidFill>
                <a:latin typeface="Consolas"/>
              </a:rPr>
              <a:t># what the model may ask us to run</a:t>
            </a:r>
          </a:p>
          <a:p>
            <a:pPr>
              <a:lnSpc>
                <a:spcPts val="1820"/>
              </a:lnSpc>
            </a:pPr>
            <a:r>
              <a:rPr sz="1300">
                <a:solidFill>
                  <a:srgbClr val="EEE9F4"/>
                </a:solidFill>
                <a:latin typeface="Consolas"/>
              </a:rPr>
              <a:t>    reasoning={"effort": "low"},         </a:t>
            </a:r>
            <a:r>
              <a:rPr sz="1300">
                <a:solidFill>
                  <a:srgbClr val="B3A6C4"/>
                </a:solidFill>
                <a:latin typeface="Consolas"/>
              </a:rPr>
              <a:t># think less = faster and cheaper</a:t>
            </a:r>
          </a:p>
          <a:p>
            <a:pPr>
              <a:lnSpc>
                <a:spcPts val="1820"/>
              </a:lnSpc>
            </a:pPr>
            <a:r>
              <a:rPr sz="1300">
                <a:solidFill>
                  <a:srgbClr val="EEE9F4"/>
                </a:solidFill>
                <a:latin typeface="Consolas"/>
              </a:rPr>
              <a:t>    store=False,</a:t>
            </a:r>
          </a:p>
          <a:p>
            <a:pPr>
              <a:lnSpc>
                <a:spcPts val="1820"/>
              </a:lnSpc>
            </a:pPr>
            <a:r>
              <a:rPr sz="1300">
                <a:solidFill>
                  <a:srgbClr val="EEE9F4"/>
                </a:solidFill>
                <a:latin typeface="Consolas"/>
              </a:rPr>
              <a:t>    include=["reasoning.encrypted_content"],</a:t>
            </a:r>
          </a:p>
          <a:p>
            <a:pPr>
              <a:lnSpc>
                <a:spcPts val="1820"/>
              </a:lnSpc>
            </a:pPr>
            <a:r>
              <a:rPr sz="1300">
                <a:solidFill>
                  <a:srgbClr val="EEE9F4"/>
                </a:solidFill>
                <a:latin typeface="Consolas"/>
              </a:rPr>
              <a:t>)</a:t>
            </a:r>
          </a:p>
        </p:txBody>
      </p:sp>
      <p:sp>
        <p:nvSpPr>
          <p:cNvPr id="6" name="Rounded Rectangle 5"/>
          <p:cNvSpPr/>
          <p:nvPr/>
        </p:nvSpPr>
        <p:spPr>
          <a:xfrm>
            <a:off x="813816" y="5096256"/>
            <a:ext cx="10570464" cy="448056"/>
          </a:xfrm>
          <a:prstGeom prst="roundRect">
            <a:avLst>
              <a:gd name="adj" fmla="val 16938"/>
            </a:avLst>
          </a:prstGeom>
          <a:solidFill>
            <a:srgbClr val="E4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5205984"/>
            <a:ext cx="10296144" cy="301751"/>
          </a:xfrm>
          <a:prstGeom prst="rect">
            <a:avLst/>
          </a:prstGeom>
          <a:noFill/>
        </p:spPr>
        <p:txBody>
          <a:bodyPr wrap="square" lIns="0" rIns="0" tIns="0" bIns="0" anchor="t">
            <a:spAutoFit/>
          </a:bodyPr>
          <a:lstStyle/>
          <a:p>
            <a:pPr algn="l">
              <a:lnSpc>
                <a:spcPts val="1755"/>
              </a:lnSpc>
            </a:pPr>
            <a:r>
              <a:rPr sz="1300" b="1">
                <a:solidFill>
                  <a:srgbClr val="1D1C1D"/>
                </a:solidFill>
                <a:latin typeface="Carlito"/>
              </a:rPr>
              <a:t>Key idea</a:t>
            </a:r>
            <a:r>
              <a:rPr sz="1300" b="0">
                <a:solidFill>
                  <a:srgbClr val="1D1C1D"/>
                </a:solidFill>
                <a:latin typeface="Carlito"/>
              </a:rPr>
              <a:t> · only </a:t>
            </a:r>
            <a:r>
              <a:rPr sz="1300" b="1">
                <a:solidFill>
                  <a:srgbClr val="1D1C1D"/>
                </a:solidFill>
                <a:latin typeface="Carlito"/>
              </a:rPr>
              <a:t>base_url</a:t>
            </a:r>
            <a:r>
              <a:rPr sz="1300" b="0">
                <a:solidFill>
                  <a:srgbClr val="1D1C1D"/>
                </a:solidFill>
                <a:latin typeface="Carlito"/>
              </a:rPr>
              <a:t> changes. The SDK does </a:t>
            </a:r>
            <a:r>
              <a:rPr sz="1300" b="1">
                <a:solidFill>
                  <a:srgbClr val="1D1C1D"/>
                </a:solidFill>
                <a:latin typeface="Carlito"/>
              </a:rPr>
              <a:t>not</a:t>
            </a:r>
            <a:r>
              <a:rPr sz="1300" b="0">
                <a:solidFill>
                  <a:srgbClr val="1D1C1D"/>
                </a:solidFill>
                <a:latin typeface="Carlito"/>
              </a:rPr>
              <a:t> read MODEL_API_KEY by itself, so we pass it explicitly.</a:t>
            </a:r>
          </a:p>
        </p:txBody>
      </p:sp>
      <p:sp>
        <p:nvSpPr>
          <p:cNvPr id="8" name="TextBox 7"/>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9" name="TextBox 8"/>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0B6E99"/>
                </a:solidFill>
                <a:latin typeface="Carlito"/>
              </a:rPr>
              <a:t>STEP 1</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What comes back: an answer or a tool call</a:t>
            </a:r>
          </a:p>
        </p:txBody>
      </p:sp>
      <p:sp>
        <p:nvSpPr>
          <p:cNvPr id="4" name="Rounded Rectangle 3"/>
          <p:cNvSpPr/>
          <p:nvPr/>
        </p:nvSpPr>
        <p:spPr>
          <a:xfrm>
            <a:off x="813816" y="1755648"/>
            <a:ext cx="10570464" cy="2214880"/>
          </a:xfrm>
          <a:prstGeom prst="roundRect">
            <a:avLst>
              <a:gd name="adj" fmla="val 4541"/>
            </a:avLst>
          </a:prstGeom>
          <a:solidFill>
            <a:srgbClr val="2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929384"/>
            <a:ext cx="10204704" cy="1940560"/>
          </a:xfrm>
          <a:prstGeom prst="rect">
            <a:avLst/>
          </a:prstGeom>
          <a:noFill/>
        </p:spPr>
        <p:txBody>
          <a:bodyPr wrap="none" lIns="0" rIns="0" tIns="0" bIns="0">
            <a:spAutoFit/>
          </a:bodyPr>
          <a:lstStyle/>
          <a:p>
            <a:pPr>
              <a:lnSpc>
                <a:spcPts val="1820"/>
              </a:lnSpc>
            </a:pPr>
            <a:r>
              <a:rPr sz="1300">
                <a:solidFill>
                  <a:srgbClr val="EEE9F4"/>
                </a:solidFill>
                <a:latin typeface="Consolas"/>
              </a:rPr>
              <a:t>output: [</a:t>
            </a:r>
          </a:p>
          <a:p>
            <a:pPr>
              <a:lnSpc>
                <a:spcPts val="1820"/>
              </a:lnSpc>
            </a:pPr>
            <a:r>
              <a:rPr sz="1300">
                <a:solidFill>
                  <a:srgbClr val="EEE9F4"/>
                </a:solidFill>
                <a:latin typeface="Consolas"/>
              </a:rPr>
              <a:t>  { "type": "reasoning", "encrypted_content": "gAAA…" },</a:t>
            </a:r>
          </a:p>
          <a:p>
            <a:pPr>
              <a:lnSpc>
                <a:spcPts val="1820"/>
              </a:lnSpc>
            </a:pPr>
            <a:r>
              <a:rPr sz="1300">
                <a:solidFill>
                  <a:srgbClr val="EEE9F4"/>
                </a:solidFill>
                <a:latin typeface="Consolas"/>
              </a:rPr>
              <a:t>  { "type": "function_call",</a:t>
            </a:r>
          </a:p>
          <a:p>
            <a:pPr>
              <a:lnSpc>
                <a:spcPts val="1820"/>
              </a:lnSpc>
            </a:pPr>
            <a:r>
              <a:rPr sz="1300">
                <a:solidFill>
                  <a:srgbClr val="EEE9F4"/>
                </a:solidFill>
                <a:latin typeface="Consolas"/>
              </a:rPr>
              <a:t>    "call_id": "call_8f2a…",</a:t>
            </a:r>
          </a:p>
          <a:p>
            <a:pPr>
              <a:lnSpc>
                <a:spcPts val="1820"/>
              </a:lnSpc>
            </a:pPr>
            <a:r>
              <a:rPr sz="1300">
                <a:solidFill>
                  <a:srgbClr val="EEE9F4"/>
                </a:solidFill>
                <a:latin typeface="Consolas"/>
              </a:rPr>
              <a:t>    "name": "search_papers",</a:t>
            </a:r>
          </a:p>
          <a:p>
            <a:pPr>
              <a:lnSpc>
                <a:spcPts val="1820"/>
              </a:lnSpc>
            </a:pPr>
            <a:r>
              <a:rPr sz="1300">
                <a:solidFill>
                  <a:srgbClr val="EEE9F4"/>
                </a:solidFill>
                <a:latin typeface="Consolas"/>
              </a:rPr>
              <a:t>    "arguments": "{\"query\": \"physics-informed solar power forecasting\", \"year_from\": 2024}" }</a:t>
            </a:r>
          </a:p>
          <a:p>
            <a:pPr>
              <a:lnSpc>
                <a:spcPts val="1820"/>
              </a:lnSpc>
            </a:pPr>
            <a:r>
              <a:rPr sz="1300">
                <a:solidFill>
                  <a:srgbClr val="EEE9F4"/>
                </a:solidFill>
                <a:latin typeface="Consolas"/>
              </a:rPr>
              <a:t>]</a:t>
            </a:r>
          </a:p>
          <a:p>
            <a:pPr>
              <a:lnSpc>
                <a:spcPts val="1820"/>
              </a:lnSpc>
            </a:pPr>
            <a:r>
              <a:rPr sz="1300">
                <a:solidFill>
                  <a:srgbClr val="EEE9F4"/>
                </a:solidFill>
                <a:latin typeface="Consolas"/>
              </a:rPr>
              <a:t>usage: { "input_tokens": …, "output_tokens": …  }        </a:t>
            </a:r>
            <a:r>
              <a:rPr sz="1300">
                <a:solidFill>
                  <a:srgbClr val="B3A6C4"/>
                </a:solidFill>
                <a:latin typeface="Consolas"/>
              </a:rPr>
              <a:t># output includes reasoning tokens</a:t>
            </a:r>
          </a:p>
        </p:txBody>
      </p:sp>
      <p:sp>
        <p:nvSpPr>
          <p:cNvPr id="6" name="Rounded Rectangle 5"/>
          <p:cNvSpPr/>
          <p:nvPr/>
        </p:nvSpPr>
        <p:spPr>
          <a:xfrm>
            <a:off x="813816" y="4171696"/>
            <a:ext cx="3419856" cy="1417320"/>
          </a:xfrm>
          <a:prstGeom prst="roundRect">
            <a:avLst>
              <a:gd name="adj" fmla="val 7096"/>
            </a:avLst>
          </a:prstGeom>
          <a:solidFill>
            <a:srgbClr val="E4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rench-blue.png"/>
          <p:cNvPicPr>
            <a:picLocks noChangeAspect="1"/>
          </p:cNvPicPr>
          <p:nvPr/>
        </p:nvPicPr>
        <p:blipFill>
          <a:blip r:embed="rId3"/>
          <a:stretch>
            <a:fillRect/>
          </a:stretch>
        </p:blipFill>
        <p:spPr>
          <a:xfrm>
            <a:off x="1014984" y="4345432"/>
            <a:ext cx="283464" cy="283464"/>
          </a:xfrm>
          <a:prstGeom prst="rect">
            <a:avLst/>
          </a:prstGeom>
        </p:spPr>
      </p:pic>
      <p:sp>
        <p:nvSpPr>
          <p:cNvPr id="8" name="TextBox 7"/>
          <p:cNvSpPr txBox="1"/>
          <p:nvPr/>
        </p:nvSpPr>
        <p:spPr>
          <a:xfrm>
            <a:off x="1014984" y="4692904"/>
            <a:ext cx="3108960" cy="274320"/>
          </a:xfrm>
          <a:prstGeom prst="rect">
            <a:avLst/>
          </a:prstGeom>
          <a:noFill/>
        </p:spPr>
        <p:txBody>
          <a:bodyPr wrap="square" lIns="0" rIns="0" tIns="0" bIns="0" anchor="t">
            <a:spAutoFit/>
          </a:bodyPr>
          <a:lstStyle/>
          <a:p>
            <a:pPr algn="l">
              <a:lnSpc>
                <a:spcPts val="2100"/>
              </a:lnSpc>
            </a:pPr>
            <a:r>
              <a:rPr sz="1500" b="1">
                <a:solidFill>
                  <a:srgbClr val="1D1C1D"/>
                </a:solidFill>
                <a:latin typeface="Carlito"/>
              </a:rPr>
              <a:t>function_call</a:t>
            </a:r>
          </a:p>
        </p:txBody>
      </p:sp>
      <p:sp>
        <p:nvSpPr>
          <p:cNvPr id="9" name="TextBox 8"/>
          <p:cNvSpPr txBox="1"/>
          <p:nvPr/>
        </p:nvSpPr>
        <p:spPr>
          <a:xfrm>
            <a:off x="1014984" y="4985893"/>
            <a:ext cx="3108960" cy="54864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The model's decision: which tool, with which JSON arguments.</a:t>
            </a:r>
          </a:p>
        </p:txBody>
      </p:sp>
      <p:sp>
        <p:nvSpPr>
          <p:cNvPr id="10" name="Rounded Rectangle 9"/>
          <p:cNvSpPr/>
          <p:nvPr/>
        </p:nvSpPr>
        <p:spPr>
          <a:xfrm>
            <a:off x="4389120" y="4171696"/>
            <a:ext cx="3419856" cy="1417320"/>
          </a:xfrm>
          <a:prstGeom prst="roundRect">
            <a:avLst>
              <a:gd name="adj" fmla="val 7096"/>
            </a:avLst>
          </a:prstGeom>
          <a:solidFill>
            <a:srgbClr val="E4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nk-blue.png"/>
          <p:cNvPicPr>
            <a:picLocks noChangeAspect="1"/>
          </p:cNvPicPr>
          <p:nvPr/>
        </p:nvPicPr>
        <p:blipFill>
          <a:blip r:embed="rId4"/>
          <a:stretch>
            <a:fillRect/>
          </a:stretch>
        </p:blipFill>
        <p:spPr>
          <a:xfrm>
            <a:off x="4590288" y="4345432"/>
            <a:ext cx="283464" cy="283464"/>
          </a:xfrm>
          <a:prstGeom prst="rect">
            <a:avLst/>
          </a:prstGeom>
        </p:spPr>
      </p:pic>
      <p:sp>
        <p:nvSpPr>
          <p:cNvPr id="12" name="TextBox 11"/>
          <p:cNvSpPr txBox="1"/>
          <p:nvPr/>
        </p:nvSpPr>
        <p:spPr>
          <a:xfrm>
            <a:off x="4590288" y="4692904"/>
            <a:ext cx="3108960" cy="274320"/>
          </a:xfrm>
          <a:prstGeom prst="rect">
            <a:avLst/>
          </a:prstGeom>
          <a:noFill/>
        </p:spPr>
        <p:txBody>
          <a:bodyPr wrap="square" lIns="0" rIns="0" tIns="0" bIns="0" anchor="t">
            <a:spAutoFit/>
          </a:bodyPr>
          <a:lstStyle/>
          <a:p>
            <a:pPr algn="l">
              <a:lnSpc>
                <a:spcPts val="2100"/>
              </a:lnSpc>
            </a:pPr>
            <a:r>
              <a:rPr sz="1500" b="1">
                <a:solidFill>
                  <a:srgbClr val="1D1C1D"/>
                </a:solidFill>
                <a:latin typeface="Carlito"/>
              </a:rPr>
              <a:t>call_id</a:t>
            </a:r>
          </a:p>
        </p:txBody>
      </p:sp>
      <p:sp>
        <p:nvSpPr>
          <p:cNvPr id="13" name="TextBox 12"/>
          <p:cNvSpPr txBox="1"/>
          <p:nvPr/>
        </p:nvSpPr>
        <p:spPr>
          <a:xfrm>
            <a:off x="4590288" y="4985893"/>
            <a:ext cx="3108960" cy="54864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Ties our tool result back to this exact request.</a:t>
            </a:r>
          </a:p>
        </p:txBody>
      </p:sp>
      <p:sp>
        <p:nvSpPr>
          <p:cNvPr id="14" name="Rounded Rectangle 13"/>
          <p:cNvSpPr/>
          <p:nvPr/>
        </p:nvSpPr>
        <p:spPr>
          <a:xfrm>
            <a:off x="7964424" y="4171696"/>
            <a:ext cx="3419856" cy="1417320"/>
          </a:xfrm>
          <a:prstGeom prst="roundRect">
            <a:avLst>
              <a:gd name="adj" fmla="val 7096"/>
            </a:avLst>
          </a:prstGeom>
          <a:solidFill>
            <a:srgbClr val="E4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Brain-blue.png"/>
          <p:cNvPicPr>
            <a:picLocks noChangeAspect="1"/>
          </p:cNvPicPr>
          <p:nvPr/>
        </p:nvPicPr>
        <p:blipFill>
          <a:blip r:embed="rId5"/>
          <a:stretch>
            <a:fillRect/>
          </a:stretch>
        </p:blipFill>
        <p:spPr>
          <a:xfrm>
            <a:off x="8165592" y="4345432"/>
            <a:ext cx="283464" cy="283464"/>
          </a:xfrm>
          <a:prstGeom prst="rect">
            <a:avLst/>
          </a:prstGeom>
        </p:spPr>
      </p:pic>
      <p:sp>
        <p:nvSpPr>
          <p:cNvPr id="16" name="TextBox 15"/>
          <p:cNvSpPr txBox="1"/>
          <p:nvPr/>
        </p:nvSpPr>
        <p:spPr>
          <a:xfrm>
            <a:off x="8165592" y="4692904"/>
            <a:ext cx="3108960" cy="274320"/>
          </a:xfrm>
          <a:prstGeom prst="rect">
            <a:avLst/>
          </a:prstGeom>
          <a:noFill/>
        </p:spPr>
        <p:txBody>
          <a:bodyPr wrap="square" lIns="0" rIns="0" tIns="0" bIns="0" anchor="t">
            <a:spAutoFit/>
          </a:bodyPr>
          <a:lstStyle/>
          <a:p>
            <a:pPr algn="l">
              <a:lnSpc>
                <a:spcPts val="2100"/>
              </a:lnSpc>
            </a:pPr>
            <a:r>
              <a:rPr sz="1500" b="1">
                <a:solidFill>
                  <a:srgbClr val="1D1C1D"/>
                </a:solidFill>
                <a:latin typeface="Carlito"/>
              </a:rPr>
              <a:t>reasoning</a:t>
            </a:r>
          </a:p>
        </p:txBody>
      </p:sp>
      <p:sp>
        <p:nvSpPr>
          <p:cNvPr id="17" name="TextBox 16"/>
          <p:cNvSpPr txBox="1"/>
          <p:nvPr/>
        </p:nvSpPr>
        <p:spPr>
          <a:xfrm>
            <a:off x="8165592" y="4985893"/>
            <a:ext cx="3108960" cy="54864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Hidden thinking, replayed encrypted. Never shown to users.</a:t>
            </a:r>
          </a:p>
        </p:txBody>
      </p:sp>
      <p:sp>
        <p:nvSpPr>
          <p:cNvPr id="18" name="TextBox 17"/>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19" name="TextBox 18"/>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C0164D"/>
                </a:solidFill>
                <a:latin typeface="Carlito"/>
              </a:rPr>
              <a:t>STEP 2</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Describe each tool with a JSON Schema</a:t>
            </a:r>
          </a:p>
        </p:txBody>
      </p:sp>
      <p:sp>
        <p:nvSpPr>
          <p:cNvPr id="4" name="Rounded Rectangle 3"/>
          <p:cNvSpPr/>
          <p:nvPr/>
        </p:nvSpPr>
        <p:spPr>
          <a:xfrm>
            <a:off x="813816" y="1755648"/>
            <a:ext cx="10570464" cy="2677160"/>
          </a:xfrm>
          <a:prstGeom prst="roundRect">
            <a:avLst>
              <a:gd name="adj" fmla="val 3757"/>
            </a:avLst>
          </a:prstGeom>
          <a:solidFill>
            <a:srgbClr val="2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929384"/>
            <a:ext cx="10204704" cy="2402840"/>
          </a:xfrm>
          <a:prstGeom prst="rect">
            <a:avLst/>
          </a:prstGeom>
          <a:noFill/>
        </p:spPr>
        <p:txBody>
          <a:bodyPr wrap="none" lIns="0" rIns="0" tIns="0" bIns="0">
            <a:spAutoFit/>
          </a:bodyPr>
          <a:lstStyle/>
          <a:p>
            <a:pPr>
              <a:lnSpc>
                <a:spcPts val="1820"/>
              </a:lnSpc>
            </a:pPr>
            <a:r>
              <a:rPr sz="1300">
                <a:solidFill>
                  <a:srgbClr val="EEE9F4"/>
                </a:solidFill>
                <a:latin typeface="Consolas"/>
              </a:rPr>
              <a:t>"calculate": {</a:t>
            </a:r>
          </a:p>
          <a:p>
            <a:pPr>
              <a:lnSpc>
                <a:spcPts val="1820"/>
              </a:lnSpc>
            </a:pPr>
            <a:r>
              <a:rPr sz="1300">
                <a:solidFill>
                  <a:srgbClr val="EEE9F4"/>
                </a:solidFill>
                <a:latin typeface="Consolas"/>
              </a:rPr>
              <a:t>    "description": "Safely evaluate arithmetic. Supports + - * / ** %, parentheses and "</a:t>
            </a:r>
          </a:p>
          <a:p>
            <a:pPr>
              <a:lnSpc>
                <a:spcPts val="1820"/>
              </a:lnSpc>
            </a:pPr>
            <a:r>
              <a:rPr sz="1300">
                <a:solidFill>
                  <a:srgbClr val="EEE9F4"/>
                </a:solidFill>
                <a:latin typeface="Consolas"/>
              </a:rPr>
              <a:t>                   "sqrt, abs, round, mean, rmse(list, list), pct_change(old, new).",</a:t>
            </a:r>
          </a:p>
          <a:p>
            <a:pPr>
              <a:lnSpc>
                <a:spcPts val="1820"/>
              </a:lnSpc>
            </a:pPr>
            <a:r>
              <a:rPr sz="1300">
                <a:solidFill>
                  <a:srgbClr val="EEE9F4"/>
                </a:solidFill>
                <a:latin typeface="Consolas"/>
              </a:rPr>
              <a:t>    "parameters": {</a:t>
            </a:r>
          </a:p>
          <a:p>
            <a:pPr>
              <a:lnSpc>
                <a:spcPts val="1820"/>
              </a:lnSpc>
            </a:pPr>
            <a:r>
              <a:rPr sz="1300">
                <a:solidFill>
                  <a:srgbClr val="EEE9F4"/>
                </a:solidFill>
                <a:latin typeface="Consolas"/>
              </a:rPr>
              <a:t>        "type": "object",</a:t>
            </a:r>
          </a:p>
          <a:p>
            <a:pPr>
              <a:lnSpc>
                <a:spcPts val="1820"/>
              </a:lnSpc>
            </a:pPr>
            <a:r>
              <a:rPr sz="1300">
                <a:solidFill>
                  <a:srgbClr val="EEE9F4"/>
                </a:solidFill>
                <a:latin typeface="Consolas"/>
              </a:rPr>
              <a:t>        "properties": {"expression": {"type": "string", "minLength": 1, "maxLength": 200}},</a:t>
            </a:r>
          </a:p>
          <a:p>
            <a:pPr>
              <a:lnSpc>
                <a:spcPts val="1820"/>
              </a:lnSpc>
            </a:pPr>
            <a:r>
              <a:rPr sz="1300">
                <a:solidFill>
                  <a:srgbClr val="EEE9F4"/>
                </a:solidFill>
                <a:latin typeface="Consolas"/>
              </a:rPr>
              <a:t>        "required": ["expression"],</a:t>
            </a:r>
          </a:p>
          <a:p>
            <a:pPr>
              <a:lnSpc>
                <a:spcPts val="1820"/>
              </a:lnSpc>
            </a:pPr>
            <a:r>
              <a:rPr sz="1300">
                <a:solidFill>
                  <a:srgbClr val="EEE9F4"/>
                </a:solidFill>
                <a:latin typeface="Consolas"/>
              </a:rPr>
              <a:t>        "additionalProperties": False,</a:t>
            </a:r>
          </a:p>
          <a:p>
            <a:pPr>
              <a:lnSpc>
                <a:spcPts val="1820"/>
              </a:lnSpc>
            </a:pPr>
            <a:r>
              <a:rPr sz="1300">
                <a:solidFill>
                  <a:srgbClr val="EEE9F4"/>
                </a:solidFill>
                <a:latin typeface="Consolas"/>
              </a:rPr>
              <a:t>    },</a:t>
            </a:r>
          </a:p>
          <a:p>
            <a:pPr>
              <a:lnSpc>
                <a:spcPts val="1820"/>
              </a:lnSpc>
            </a:pPr>
            <a:r>
              <a:rPr sz="1300">
                <a:solidFill>
                  <a:srgbClr val="EEE9F4"/>
                </a:solidFill>
                <a:latin typeface="Consolas"/>
              </a:rPr>
              <a:t>},</a:t>
            </a:r>
          </a:p>
        </p:txBody>
      </p:sp>
      <p:sp>
        <p:nvSpPr>
          <p:cNvPr id="6" name="Rounded Rectangle 5"/>
          <p:cNvSpPr/>
          <p:nvPr/>
        </p:nvSpPr>
        <p:spPr>
          <a:xfrm>
            <a:off x="813816" y="4633975"/>
            <a:ext cx="5202936" cy="1417320"/>
          </a:xfrm>
          <a:prstGeom prst="roundRect">
            <a:avLst>
              <a:gd name="adj" fmla="val 7096"/>
            </a:avLst>
          </a:prstGeom>
          <a:solidFill>
            <a:srgbClr val="FC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ightbulb-pink.png"/>
          <p:cNvPicPr>
            <a:picLocks noChangeAspect="1"/>
          </p:cNvPicPr>
          <p:nvPr/>
        </p:nvPicPr>
        <p:blipFill>
          <a:blip r:embed="rId3"/>
          <a:stretch>
            <a:fillRect/>
          </a:stretch>
        </p:blipFill>
        <p:spPr>
          <a:xfrm>
            <a:off x="1014984" y="4807711"/>
            <a:ext cx="283464" cy="283464"/>
          </a:xfrm>
          <a:prstGeom prst="rect">
            <a:avLst/>
          </a:prstGeom>
        </p:spPr>
      </p:pic>
      <p:sp>
        <p:nvSpPr>
          <p:cNvPr id="8" name="TextBox 7"/>
          <p:cNvSpPr txBox="1"/>
          <p:nvPr/>
        </p:nvSpPr>
        <p:spPr>
          <a:xfrm>
            <a:off x="1014984" y="5155183"/>
            <a:ext cx="4892040" cy="274320"/>
          </a:xfrm>
          <a:prstGeom prst="rect">
            <a:avLst/>
          </a:prstGeom>
          <a:noFill/>
        </p:spPr>
        <p:txBody>
          <a:bodyPr wrap="square" lIns="0" rIns="0" tIns="0" bIns="0" anchor="t">
            <a:spAutoFit/>
          </a:bodyPr>
          <a:lstStyle/>
          <a:p>
            <a:pPr algn="l">
              <a:lnSpc>
                <a:spcPts val="2240"/>
              </a:lnSpc>
            </a:pPr>
            <a:r>
              <a:rPr sz="1600" b="1">
                <a:solidFill>
                  <a:srgbClr val="1D1C1D"/>
                </a:solidFill>
                <a:latin typeface="Carlito"/>
              </a:rPr>
              <a:t>description</a:t>
            </a:r>
          </a:p>
        </p:txBody>
      </p:sp>
      <p:sp>
        <p:nvSpPr>
          <p:cNvPr id="9" name="TextBox 8"/>
          <p:cNvSpPr txBox="1"/>
          <p:nvPr/>
        </p:nvSpPr>
        <p:spPr>
          <a:xfrm>
            <a:off x="1014984" y="5464047"/>
            <a:ext cx="4892040" cy="54864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The model reads this to decide </a:t>
            </a:r>
            <a:r>
              <a:rPr sz="1300" b="1">
                <a:solidFill>
                  <a:srgbClr val="454245"/>
                </a:solidFill>
                <a:latin typeface="Carlito"/>
              </a:rPr>
              <a:t>when</a:t>
            </a:r>
            <a:r>
              <a:rPr sz="1300" b="0">
                <a:solidFill>
                  <a:srgbClr val="454245"/>
                </a:solidFill>
                <a:latin typeface="Carlito"/>
              </a:rPr>
              <a:t> to use the tool.</a:t>
            </a:r>
          </a:p>
        </p:txBody>
      </p:sp>
      <p:sp>
        <p:nvSpPr>
          <p:cNvPr id="10" name="Rounded Rectangle 9"/>
          <p:cNvSpPr/>
          <p:nvPr/>
        </p:nvSpPr>
        <p:spPr>
          <a:xfrm>
            <a:off x="6172200" y="4633975"/>
            <a:ext cx="5202936" cy="1417320"/>
          </a:xfrm>
          <a:prstGeom prst="roundRect">
            <a:avLst>
              <a:gd name="adj" fmla="val 7096"/>
            </a:avLst>
          </a:prstGeom>
          <a:solidFill>
            <a:srgbClr val="FC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de-pink.png"/>
          <p:cNvPicPr>
            <a:picLocks noChangeAspect="1"/>
          </p:cNvPicPr>
          <p:nvPr/>
        </p:nvPicPr>
        <p:blipFill>
          <a:blip r:embed="rId4"/>
          <a:stretch>
            <a:fillRect/>
          </a:stretch>
        </p:blipFill>
        <p:spPr>
          <a:xfrm>
            <a:off x="6373368" y="4807711"/>
            <a:ext cx="283464" cy="283464"/>
          </a:xfrm>
          <a:prstGeom prst="rect">
            <a:avLst/>
          </a:prstGeom>
        </p:spPr>
      </p:pic>
      <p:sp>
        <p:nvSpPr>
          <p:cNvPr id="12" name="TextBox 11"/>
          <p:cNvSpPr txBox="1"/>
          <p:nvPr/>
        </p:nvSpPr>
        <p:spPr>
          <a:xfrm>
            <a:off x="6373368" y="5155183"/>
            <a:ext cx="4892040" cy="274320"/>
          </a:xfrm>
          <a:prstGeom prst="rect">
            <a:avLst/>
          </a:prstGeom>
          <a:noFill/>
        </p:spPr>
        <p:txBody>
          <a:bodyPr wrap="square" lIns="0" rIns="0" tIns="0" bIns="0" anchor="t">
            <a:spAutoFit/>
          </a:bodyPr>
          <a:lstStyle/>
          <a:p>
            <a:pPr algn="l">
              <a:lnSpc>
                <a:spcPts val="2240"/>
              </a:lnSpc>
            </a:pPr>
            <a:r>
              <a:rPr sz="1600" b="1">
                <a:solidFill>
                  <a:srgbClr val="1D1C1D"/>
                </a:solidFill>
                <a:latin typeface="Carlito"/>
              </a:rPr>
              <a:t>parameters</a:t>
            </a:r>
          </a:p>
        </p:txBody>
      </p:sp>
      <p:sp>
        <p:nvSpPr>
          <p:cNvPr id="13" name="TextBox 12"/>
          <p:cNvSpPr txBox="1"/>
          <p:nvPr/>
        </p:nvSpPr>
        <p:spPr>
          <a:xfrm>
            <a:off x="6373368" y="5464047"/>
            <a:ext cx="4892040" cy="54864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JSON Schema: </a:t>
            </a:r>
            <a:r>
              <a:rPr sz="1300" b="1">
                <a:solidFill>
                  <a:srgbClr val="454245"/>
                </a:solidFill>
                <a:latin typeface="Carlito"/>
              </a:rPr>
              <a:t>what</a:t>
            </a:r>
            <a:r>
              <a:rPr sz="1300" b="0">
                <a:solidFill>
                  <a:srgbClr val="454245"/>
                </a:solidFill>
                <a:latin typeface="Carlito"/>
              </a:rPr>
              <a:t> arguments are allowed. We check them again in Python.</a:t>
            </a:r>
          </a:p>
        </p:txBody>
      </p:sp>
      <p:sp>
        <p:nvSpPr>
          <p:cNvPr id="14" name="TextBox 13"/>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15" name="TextBox 14"/>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C0164D"/>
                </a:solidFill>
                <a:latin typeface="Carlito"/>
              </a:rPr>
              <a:t>STEP 2</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The model proposes, Python decides</a:t>
            </a:r>
          </a:p>
        </p:txBody>
      </p:sp>
      <p:sp>
        <p:nvSpPr>
          <p:cNvPr id="4" name="Rounded Rectangle 3"/>
          <p:cNvSpPr/>
          <p:nvPr/>
        </p:nvSpPr>
        <p:spPr>
          <a:xfrm>
            <a:off x="813816" y="1755648"/>
            <a:ext cx="10570464" cy="3477259"/>
          </a:xfrm>
          <a:prstGeom prst="roundRect">
            <a:avLst>
              <a:gd name="adj" fmla="val 2892"/>
            </a:avLst>
          </a:prstGeom>
          <a:solidFill>
            <a:srgbClr val="2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929384"/>
            <a:ext cx="10204704" cy="3202939"/>
          </a:xfrm>
          <a:prstGeom prst="rect">
            <a:avLst/>
          </a:prstGeom>
          <a:noFill/>
        </p:spPr>
        <p:txBody>
          <a:bodyPr wrap="none" lIns="0" rIns="0" tIns="0" bIns="0">
            <a:spAutoFit/>
          </a:bodyPr>
          <a:lstStyle/>
          <a:p>
            <a:pPr>
              <a:lnSpc>
                <a:spcPts val="1750"/>
              </a:lnSpc>
            </a:pPr>
            <a:r>
              <a:rPr sz="1250">
                <a:solidFill>
                  <a:srgbClr val="EEE9F4"/>
                </a:solidFill>
                <a:latin typeface="Consolas"/>
              </a:rPr>
              <a:t>def validate_call(name, raw_arguments, allowed):</a:t>
            </a:r>
          </a:p>
          <a:p>
            <a:pPr>
              <a:lnSpc>
                <a:spcPts val="1750"/>
              </a:lnSpc>
            </a:pPr>
            <a:r>
              <a:rPr sz="1250">
                <a:solidFill>
                  <a:srgbClr val="EEE9F4"/>
                </a:solidFill>
                <a:latin typeface="Consolas"/>
              </a:rPr>
              <a:t>    """Return (arguments, None) if valid, else (None, error_message)."""</a:t>
            </a:r>
          </a:p>
          <a:p>
            <a:pPr>
              <a:lnSpc>
                <a:spcPts val="1750"/>
              </a:lnSpc>
            </a:pPr>
            <a:r>
              <a:rPr sz="1250">
                <a:solidFill>
                  <a:srgbClr val="EEE9F4"/>
                </a:solidFill>
                <a:latin typeface="Consolas"/>
              </a:rPr>
              <a:t>    if name not in TOOLS:</a:t>
            </a:r>
          </a:p>
          <a:p>
            <a:pPr>
              <a:lnSpc>
                <a:spcPts val="1750"/>
              </a:lnSpc>
            </a:pPr>
            <a:r>
              <a:rPr sz="1250">
                <a:solidFill>
                  <a:srgbClr val="EEE9F4"/>
                </a:solidFill>
                <a:latin typeface="Consolas"/>
              </a:rPr>
              <a:t>        return None, f"Unknown tool '{name}'."</a:t>
            </a:r>
          </a:p>
          <a:p>
            <a:pPr>
              <a:lnSpc>
                <a:spcPts val="1750"/>
              </a:lnSpc>
            </a:pPr>
            <a:r>
              <a:rPr sz="1250">
                <a:solidFill>
                  <a:srgbClr val="EEE9F4"/>
                </a:solidFill>
                <a:latin typeface="Consolas"/>
              </a:rPr>
              <a:t>    if name not in allowed:</a:t>
            </a:r>
          </a:p>
          <a:p>
            <a:pPr>
              <a:lnSpc>
                <a:spcPts val="1750"/>
              </a:lnSpc>
            </a:pPr>
            <a:r>
              <a:rPr sz="1250">
                <a:solidFill>
                  <a:srgbClr val="EEE9F4"/>
                </a:solidFill>
                <a:latin typeface="Consolas"/>
              </a:rPr>
              <a:t>        return None, f"Tool '{name}' is not available in this mode."</a:t>
            </a:r>
          </a:p>
          <a:p>
            <a:pPr>
              <a:lnSpc>
                <a:spcPts val="1750"/>
              </a:lnSpc>
            </a:pPr>
            <a:r>
              <a:rPr sz="1250">
                <a:solidFill>
                  <a:srgbClr val="EEE9F4"/>
                </a:solidFill>
                <a:latin typeface="Consolas"/>
              </a:rPr>
              <a:t>    try:</a:t>
            </a:r>
          </a:p>
          <a:p>
            <a:pPr>
              <a:lnSpc>
                <a:spcPts val="1750"/>
              </a:lnSpc>
            </a:pPr>
            <a:r>
              <a:rPr sz="1250">
                <a:solidFill>
                  <a:srgbClr val="EEE9F4"/>
                </a:solidFill>
                <a:latin typeface="Consolas"/>
              </a:rPr>
              <a:t>        args = json.loads(raw_arguments)</a:t>
            </a:r>
          </a:p>
          <a:p>
            <a:pPr>
              <a:lnSpc>
                <a:spcPts val="1750"/>
              </a:lnSpc>
            </a:pPr>
            <a:r>
              <a:rPr sz="1250">
                <a:solidFill>
                  <a:srgbClr val="EEE9F4"/>
                </a:solidFill>
                <a:latin typeface="Consolas"/>
              </a:rPr>
              <a:t>    except json.JSONDecodeError:</a:t>
            </a:r>
          </a:p>
          <a:p>
            <a:pPr>
              <a:lnSpc>
                <a:spcPts val="1750"/>
              </a:lnSpc>
            </a:pPr>
            <a:r>
              <a:rPr sz="1250">
                <a:solidFill>
                  <a:srgbClr val="EEE9F4"/>
                </a:solidFill>
                <a:latin typeface="Consolas"/>
              </a:rPr>
              <a:t>        return None, "Arguments are not valid JSON."</a:t>
            </a:r>
          </a:p>
          <a:p>
            <a:pPr>
              <a:lnSpc>
                <a:spcPts val="1750"/>
              </a:lnSpc>
            </a:pPr>
            <a:r>
              <a:rPr sz="1250">
                <a:solidFill>
                  <a:srgbClr val="EEE9F4"/>
                </a:solidFill>
                <a:latin typeface="Consolas"/>
              </a:rPr>
              <a:t>    errors = _check(args, TOOLS[name]["parameters"], "arguments")    </a:t>
            </a:r>
            <a:r>
              <a:rPr sz="1250">
                <a:solidFill>
                  <a:srgbClr val="B3A6C4"/>
                </a:solidFill>
                <a:latin typeface="Consolas"/>
              </a:rPr>
              <a:t># mini JSON-Schema check</a:t>
            </a:r>
          </a:p>
          <a:p>
            <a:pPr>
              <a:lnSpc>
                <a:spcPts val="1750"/>
              </a:lnSpc>
            </a:pPr>
            <a:r>
              <a:rPr sz="1250">
                <a:solidFill>
                  <a:srgbClr val="EEE9F4"/>
                </a:solidFill>
                <a:latin typeface="Consolas"/>
              </a:rPr>
              <a:t>    if errors:</a:t>
            </a:r>
          </a:p>
          <a:p>
            <a:pPr>
              <a:lnSpc>
                <a:spcPts val="1750"/>
              </a:lnSpc>
            </a:pPr>
            <a:r>
              <a:rPr sz="1250">
                <a:solidFill>
                  <a:srgbClr val="EEE9F4"/>
                </a:solidFill>
                <a:latin typeface="Consolas"/>
              </a:rPr>
              <a:t>        return None, "Invalid arguments: " + "; ".join(errors[:5])</a:t>
            </a:r>
          </a:p>
          <a:p>
            <a:pPr>
              <a:lnSpc>
                <a:spcPts val="1750"/>
              </a:lnSpc>
            </a:pPr>
            <a:r>
              <a:rPr sz="1250">
                <a:solidFill>
                  <a:srgbClr val="EEE9F4"/>
                </a:solidFill>
                <a:latin typeface="Consolas"/>
              </a:rPr>
              <a:t>    return args, None</a:t>
            </a:r>
          </a:p>
        </p:txBody>
      </p:sp>
      <p:sp>
        <p:nvSpPr>
          <p:cNvPr id="6" name="Rounded Rectangle 5"/>
          <p:cNvSpPr/>
          <p:nvPr/>
        </p:nvSpPr>
        <p:spPr>
          <a:xfrm>
            <a:off x="813816" y="5434075"/>
            <a:ext cx="10570464" cy="448056"/>
          </a:xfrm>
          <a:prstGeom prst="roundRect">
            <a:avLst>
              <a:gd name="adj" fmla="val 16938"/>
            </a:avLst>
          </a:prstGeom>
          <a:solidFill>
            <a:srgbClr val="FC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5543803"/>
            <a:ext cx="10296144" cy="301751"/>
          </a:xfrm>
          <a:prstGeom prst="rect">
            <a:avLst/>
          </a:prstGeom>
          <a:noFill/>
        </p:spPr>
        <p:txBody>
          <a:bodyPr wrap="square" lIns="0" rIns="0" tIns="0" bIns="0" anchor="t">
            <a:spAutoFit/>
          </a:bodyPr>
          <a:lstStyle/>
          <a:p>
            <a:pPr algn="l">
              <a:lnSpc>
                <a:spcPts val="1755"/>
              </a:lnSpc>
            </a:pPr>
            <a:r>
              <a:rPr sz="1300" b="1">
                <a:solidFill>
                  <a:srgbClr val="1D1C1D"/>
                </a:solidFill>
                <a:latin typeface="Carlito"/>
              </a:rPr>
              <a:t>Key idea</a:t>
            </a:r>
            <a:r>
              <a:rPr sz="1300" b="0">
                <a:solidFill>
                  <a:srgbClr val="1D1C1D"/>
                </a:solidFill>
                <a:latin typeface="Carlito"/>
              </a:rPr>
              <a:t> · an unknown tool or a bad argument becomes an </a:t>
            </a:r>
            <a:r>
              <a:rPr sz="1300" b="1">
                <a:solidFill>
                  <a:srgbClr val="1D1C1D"/>
                </a:solidFill>
                <a:latin typeface="Carlito"/>
              </a:rPr>
              <a:t>error observation</a:t>
            </a:r>
            <a:r>
              <a:rPr sz="1300" b="0">
                <a:solidFill>
                  <a:srgbClr val="1D1C1D"/>
                </a:solidFill>
                <a:latin typeface="Carlito"/>
              </a:rPr>
              <a:t> the model can read and correct — never a crash.</a:t>
            </a:r>
          </a:p>
        </p:txBody>
      </p:sp>
      <p:sp>
        <p:nvSpPr>
          <p:cNvPr id="8" name="TextBox 7"/>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9" name="TextBox 8"/>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8A6300"/>
                </a:solidFill>
                <a:latin typeface="Carlito"/>
              </a:rPr>
              <a:t>STEP 3</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Three tools that do real work</a:t>
            </a:r>
          </a:p>
        </p:txBody>
      </p:sp>
      <p:sp>
        <p:nvSpPr>
          <p:cNvPr id="4" name="Rounded Rectangle 3"/>
          <p:cNvSpPr/>
          <p:nvPr/>
        </p:nvSpPr>
        <p:spPr>
          <a:xfrm>
            <a:off x="813816" y="1755648"/>
            <a:ext cx="3401568" cy="2788920"/>
          </a:xfrm>
          <a:prstGeom prst="roundRect">
            <a:avLst>
              <a:gd name="adj" fmla="val 3606"/>
            </a:avLst>
          </a:prstGeom>
          <a:solidFill>
            <a:srgbClr val="FD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earch-amber.png"/>
          <p:cNvPicPr>
            <a:picLocks noChangeAspect="1"/>
          </p:cNvPicPr>
          <p:nvPr/>
        </p:nvPicPr>
        <p:blipFill>
          <a:blip r:embed="rId3"/>
          <a:stretch>
            <a:fillRect/>
          </a:stretch>
        </p:blipFill>
        <p:spPr>
          <a:xfrm>
            <a:off x="1014984" y="1929384"/>
            <a:ext cx="283464" cy="283464"/>
          </a:xfrm>
          <a:prstGeom prst="rect">
            <a:avLst/>
          </a:prstGeom>
        </p:spPr>
      </p:pic>
      <p:sp>
        <p:nvSpPr>
          <p:cNvPr id="6" name="TextBox 5"/>
          <p:cNvSpPr txBox="1"/>
          <p:nvPr/>
        </p:nvSpPr>
        <p:spPr>
          <a:xfrm>
            <a:off x="1014984" y="2276856"/>
            <a:ext cx="3090672" cy="274320"/>
          </a:xfrm>
          <a:prstGeom prst="rect">
            <a:avLst/>
          </a:prstGeom>
          <a:noFill/>
        </p:spPr>
        <p:txBody>
          <a:bodyPr wrap="square" lIns="0" rIns="0" tIns="0" bIns="0" anchor="t">
            <a:spAutoFit/>
          </a:bodyPr>
          <a:lstStyle/>
          <a:p>
            <a:pPr algn="l">
              <a:lnSpc>
                <a:spcPts val="2240"/>
              </a:lnSpc>
            </a:pPr>
            <a:r>
              <a:rPr sz="1600" b="1">
                <a:solidFill>
                  <a:srgbClr val="1D1C1D"/>
                </a:solidFill>
                <a:latin typeface="Consolas"/>
              </a:rPr>
              <a:t>search_papers</a:t>
            </a:r>
          </a:p>
        </p:txBody>
      </p:sp>
      <p:sp>
        <p:nvSpPr>
          <p:cNvPr id="7" name="TextBox 6"/>
          <p:cNvSpPr txBox="1"/>
          <p:nvPr/>
        </p:nvSpPr>
        <p:spPr>
          <a:xfrm>
            <a:off x="1014984" y="2587752"/>
            <a:ext cx="3090672" cy="274320"/>
          </a:xfrm>
          <a:prstGeom prst="rect">
            <a:avLst/>
          </a:prstGeom>
          <a:noFill/>
        </p:spPr>
        <p:txBody>
          <a:bodyPr wrap="square" lIns="0" rIns="0" tIns="0" bIns="0" anchor="t">
            <a:spAutoFit/>
          </a:bodyPr>
          <a:lstStyle/>
          <a:p>
            <a:pPr algn="l">
              <a:lnSpc>
                <a:spcPts val="1539"/>
              </a:lnSpc>
            </a:pPr>
            <a:r>
              <a:rPr sz="1100" b="0">
                <a:solidFill>
                  <a:srgbClr val="8A6300"/>
                </a:solidFill>
                <a:latin typeface="Consolas"/>
              </a:rPr>
              <a:t>query, year_from, max_results</a:t>
            </a:r>
          </a:p>
        </p:txBody>
      </p:sp>
      <p:sp>
        <p:nvSpPr>
          <p:cNvPr id="8" name="TextBox 7"/>
          <p:cNvSpPr txBox="1"/>
          <p:nvPr/>
        </p:nvSpPr>
        <p:spPr>
          <a:xfrm>
            <a:off x="1014984" y="2926080"/>
            <a:ext cx="3017520" cy="155448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Semantic Scholar first. On HTTP 429 it waits (Retry-After), then falls back to </a:t>
            </a:r>
            <a:r>
              <a:rPr sz="1300" b="1">
                <a:solidFill>
                  <a:srgbClr val="454245"/>
                </a:solidFill>
                <a:latin typeface="Carlito"/>
              </a:rPr>
              <a:t>OpenAlex</a:t>
            </a:r>
            <a:r>
              <a:rPr sz="1300" b="0">
                <a:solidFill>
                  <a:srgbClr val="454245"/>
                </a:solidFill>
                <a:latin typeface="Carlito"/>
              </a:rPr>
              <a:t>. Returns real papers only: title, authors, year, venue, DOI.</a:t>
            </a:r>
          </a:p>
        </p:txBody>
      </p:sp>
      <p:sp>
        <p:nvSpPr>
          <p:cNvPr id="9" name="Rounded Rectangle 8"/>
          <p:cNvSpPr/>
          <p:nvPr/>
        </p:nvSpPr>
        <p:spPr>
          <a:xfrm>
            <a:off x="4398264" y="1755648"/>
            <a:ext cx="3401568" cy="2788920"/>
          </a:xfrm>
          <a:prstGeom prst="roundRect">
            <a:avLst>
              <a:gd name="adj" fmla="val 3606"/>
            </a:avLst>
          </a:prstGeom>
          <a:solidFill>
            <a:srgbClr val="FD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leText-amber.png"/>
          <p:cNvPicPr>
            <a:picLocks noChangeAspect="1"/>
          </p:cNvPicPr>
          <p:nvPr/>
        </p:nvPicPr>
        <p:blipFill>
          <a:blip r:embed="rId4"/>
          <a:stretch>
            <a:fillRect/>
          </a:stretch>
        </p:blipFill>
        <p:spPr>
          <a:xfrm>
            <a:off x="4599431" y="1929384"/>
            <a:ext cx="283464" cy="283464"/>
          </a:xfrm>
          <a:prstGeom prst="rect">
            <a:avLst/>
          </a:prstGeom>
        </p:spPr>
      </p:pic>
      <p:sp>
        <p:nvSpPr>
          <p:cNvPr id="11" name="TextBox 10"/>
          <p:cNvSpPr txBox="1"/>
          <p:nvPr/>
        </p:nvSpPr>
        <p:spPr>
          <a:xfrm>
            <a:off x="4599431" y="2276856"/>
            <a:ext cx="3090672" cy="274320"/>
          </a:xfrm>
          <a:prstGeom prst="rect">
            <a:avLst/>
          </a:prstGeom>
          <a:noFill/>
        </p:spPr>
        <p:txBody>
          <a:bodyPr wrap="square" lIns="0" rIns="0" tIns="0" bIns="0" anchor="t">
            <a:spAutoFit/>
          </a:bodyPr>
          <a:lstStyle/>
          <a:p>
            <a:pPr algn="l">
              <a:lnSpc>
                <a:spcPts val="2240"/>
              </a:lnSpc>
            </a:pPr>
            <a:r>
              <a:rPr sz="1600" b="1">
                <a:solidFill>
                  <a:srgbClr val="1D1C1D"/>
                </a:solidFill>
                <a:latin typeface="Consolas"/>
              </a:rPr>
              <a:t>read_pdf</a:t>
            </a:r>
          </a:p>
        </p:txBody>
      </p:sp>
      <p:sp>
        <p:nvSpPr>
          <p:cNvPr id="12" name="TextBox 11"/>
          <p:cNvSpPr txBox="1"/>
          <p:nvPr/>
        </p:nvSpPr>
        <p:spPr>
          <a:xfrm>
            <a:off x="4599431" y="2587752"/>
            <a:ext cx="3090672" cy="274320"/>
          </a:xfrm>
          <a:prstGeom prst="rect">
            <a:avLst/>
          </a:prstGeom>
          <a:noFill/>
        </p:spPr>
        <p:txBody>
          <a:bodyPr wrap="square" lIns="0" rIns="0" tIns="0" bIns="0" anchor="t">
            <a:spAutoFit/>
          </a:bodyPr>
          <a:lstStyle/>
          <a:p>
            <a:pPr algn="l">
              <a:lnSpc>
                <a:spcPts val="1539"/>
              </a:lnSpc>
            </a:pPr>
            <a:r>
              <a:rPr sz="1100" b="0">
                <a:solidFill>
                  <a:srgbClr val="8A6300"/>
                </a:solidFill>
                <a:latin typeface="Consolas"/>
              </a:rPr>
              <a:t>question</a:t>
            </a:r>
          </a:p>
        </p:txBody>
      </p:sp>
      <p:sp>
        <p:nvSpPr>
          <p:cNvPr id="13" name="TextBox 12"/>
          <p:cNvSpPr txBox="1"/>
          <p:nvPr/>
        </p:nvSpPr>
        <p:spPr>
          <a:xfrm>
            <a:off x="4599431" y="2926080"/>
            <a:ext cx="3017520" cy="155448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pypdf text → ~2,000-word chunks with 200-word overlap → the 6 chunks with most keyword overlap. Rejects encrypted, scanned and &gt;20 MB files.</a:t>
            </a:r>
          </a:p>
        </p:txBody>
      </p:sp>
      <p:sp>
        <p:nvSpPr>
          <p:cNvPr id="14" name="Rounded Rectangle 13"/>
          <p:cNvSpPr/>
          <p:nvPr/>
        </p:nvSpPr>
        <p:spPr>
          <a:xfrm>
            <a:off x="7982712" y="1755648"/>
            <a:ext cx="3401568" cy="2788920"/>
          </a:xfrm>
          <a:prstGeom prst="roundRect">
            <a:avLst>
              <a:gd name="adj" fmla="val 3606"/>
            </a:avLst>
          </a:prstGeom>
          <a:solidFill>
            <a:srgbClr val="FD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alculator-amber.png"/>
          <p:cNvPicPr>
            <a:picLocks noChangeAspect="1"/>
          </p:cNvPicPr>
          <p:nvPr/>
        </p:nvPicPr>
        <p:blipFill>
          <a:blip r:embed="rId5"/>
          <a:stretch>
            <a:fillRect/>
          </a:stretch>
        </p:blipFill>
        <p:spPr>
          <a:xfrm>
            <a:off x="8183880" y="1929384"/>
            <a:ext cx="283464" cy="283464"/>
          </a:xfrm>
          <a:prstGeom prst="rect">
            <a:avLst/>
          </a:prstGeom>
        </p:spPr>
      </p:pic>
      <p:sp>
        <p:nvSpPr>
          <p:cNvPr id="16" name="TextBox 15"/>
          <p:cNvSpPr txBox="1"/>
          <p:nvPr/>
        </p:nvSpPr>
        <p:spPr>
          <a:xfrm>
            <a:off x="8183880" y="2276856"/>
            <a:ext cx="3090672" cy="274320"/>
          </a:xfrm>
          <a:prstGeom prst="rect">
            <a:avLst/>
          </a:prstGeom>
          <a:noFill/>
        </p:spPr>
        <p:txBody>
          <a:bodyPr wrap="square" lIns="0" rIns="0" tIns="0" bIns="0" anchor="t">
            <a:spAutoFit/>
          </a:bodyPr>
          <a:lstStyle/>
          <a:p>
            <a:pPr algn="l">
              <a:lnSpc>
                <a:spcPts val="2240"/>
              </a:lnSpc>
            </a:pPr>
            <a:r>
              <a:rPr sz="1600" b="1">
                <a:solidFill>
                  <a:srgbClr val="1D1C1D"/>
                </a:solidFill>
                <a:latin typeface="Consolas"/>
              </a:rPr>
              <a:t>calculate</a:t>
            </a:r>
          </a:p>
        </p:txBody>
      </p:sp>
      <p:sp>
        <p:nvSpPr>
          <p:cNvPr id="17" name="TextBox 16"/>
          <p:cNvSpPr txBox="1"/>
          <p:nvPr/>
        </p:nvSpPr>
        <p:spPr>
          <a:xfrm>
            <a:off x="8183880" y="2587752"/>
            <a:ext cx="3090672" cy="274320"/>
          </a:xfrm>
          <a:prstGeom prst="rect">
            <a:avLst/>
          </a:prstGeom>
          <a:noFill/>
        </p:spPr>
        <p:txBody>
          <a:bodyPr wrap="square" lIns="0" rIns="0" tIns="0" bIns="0" anchor="t">
            <a:spAutoFit/>
          </a:bodyPr>
          <a:lstStyle/>
          <a:p>
            <a:pPr algn="l">
              <a:lnSpc>
                <a:spcPts val="1539"/>
              </a:lnSpc>
            </a:pPr>
            <a:r>
              <a:rPr sz="1100" b="0">
                <a:solidFill>
                  <a:srgbClr val="8A6300"/>
                </a:solidFill>
                <a:latin typeface="Consolas"/>
              </a:rPr>
              <a:t>expression</a:t>
            </a:r>
          </a:p>
        </p:txBody>
      </p:sp>
      <p:sp>
        <p:nvSpPr>
          <p:cNvPr id="18" name="TextBox 17"/>
          <p:cNvSpPr txBox="1"/>
          <p:nvPr/>
        </p:nvSpPr>
        <p:spPr>
          <a:xfrm>
            <a:off x="8183880" y="2926080"/>
            <a:ext cx="3017520" cy="155448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Safe maths from an AST whitelist: + − × ÷ ** %, sqrt, mean, rmse, pct_change. No eval().</a:t>
            </a:r>
          </a:p>
        </p:txBody>
      </p:sp>
      <p:sp>
        <p:nvSpPr>
          <p:cNvPr id="19" name="Rounded Rectangle 18"/>
          <p:cNvSpPr/>
          <p:nvPr/>
        </p:nvSpPr>
        <p:spPr>
          <a:xfrm>
            <a:off x="813816" y="4754880"/>
            <a:ext cx="10570464" cy="448056"/>
          </a:xfrm>
          <a:prstGeom prst="roundRect">
            <a:avLst>
              <a:gd name="adj" fmla="val 16938"/>
            </a:avLst>
          </a:prstGeom>
          <a:solidFill>
            <a:srgbClr val="FD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4864608"/>
            <a:ext cx="10296144" cy="301751"/>
          </a:xfrm>
          <a:prstGeom prst="rect">
            <a:avLst/>
          </a:prstGeom>
          <a:noFill/>
        </p:spPr>
        <p:txBody>
          <a:bodyPr wrap="square" lIns="0" rIns="0" tIns="0" bIns="0" anchor="t">
            <a:spAutoFit/>
          </a:bodyPr>
          <a:lstStyle/>
          <a:p>
            <a:pPr algn="l">
              <a:lnSpc>
                <a:spcPts val="1755"/>
              </a:lnSpc>
            </a:pPr>
            <a:r>
              <a:rPr sz="1300" b="1">
                <a:solidFill>
                  <a:srgbClr val="1D1C1D"/>
                </a:solidFill>
                <a:latin typeface="Carlito"/>
              </a:rPr>
              <a:t>Key idea</a:t>
            </a:r>
            <a:r>
              <a:rPr sz="1300" b="0">
                <a:solidFill>
                  <a:srgbClr val="1D1C1D"/>
                </a:solidFill>
                <a:latin typeface="Carlito"/>
              </a:rPr>
              <a:t> · tools return </a:t>
            </a:r>
            <a:r>
              <a:rPr sz="1300" b="1">
                <a:solidFill>
                  <a:srgbClr val="1D1C1D"/>
                </a:solidFill>
                <a:latin typeface="Carlito"/>
              </a:rPr>
              <a:t>real data or a clear error</a:t>
            </a:r>
            <a:r>
              <a:rPr sz="1300" b="0">
                <a:solidFill>
                  <a:srgbClr val="1D1C1D"/>
                </a:solidFill>
                <a:latin typeface="Carlito"/>
              </a:rPr>
              <a:t> — never invented papers. Nothing else can run: no shell, no Python, no files.</a:t>
            </a:r>
          </a:p>
        </p:txBody>
      </p:sp>
      <p:sp>
        <p:nvSpPr>
          <p:cNvPr id="21" name="TextBox 20"/>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22" name="TextBox 21"/>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8A6300"/>
                </a:solidFill>
                <a:latin typeface="Carlito"/>
              </a:rPr>
              <a:t>STEP 3</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A calculator that cannot be hacked</a:t>
            </a:r>
          </a:p>
        </p:txBody>
      </p:sp>
      <p:sp>
        <p:nvSpPr>
          <p:cNvPr id="4" name="Rounded Rectangle 3"/>
          <p:cNvSpPr/>
          <p:nvPr/>
        </p:nvSpPr>
        <p:spPr>
          <a:xfrm>
            <a:off x="813816" y="1755648"/>
            <a:ext cx="10570464" cy="3139440"/>
          </a:xfrm>
          <a:prstGeom prst="roundRect">
            <a:avLst>
              <a:gd name="adj" fmla="val 3203"/>
            </a:avLst>
          </a:prstGeom>
          <a:solidFill>
            <a:srgbClr val="2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929384"/>
            <a:ext cx="10204704" cy="2865120"/>
          </a:xfrm>
          <a:prstGeom prst="rect">
            <a:avLst/>
          </a:prstGeom>
          <a:noFill/>
        </p:spPr>
        <p:txBody>
          <a:bodyPr wrap="none" lIns="0" rIns="0" tIns="0" bIns="0">
            <a:spAutoFit/>
          </a:bodyPr>
          <a:lstStyle/>
          <a:p>
            <a:pPr>
              <a:lnSpc>
                <a:spcPts val="1679"/>
              </a:lnSpc>
            </a:pPr>
            <a:r>
              <a:rPr sz="1200">
                <a:solidFill>
                  <a:srgbClr val="EEE9F4"/>
                </a:solidFill>
                <a:latin typeface="Consolas"/>
              </a:rPr>
              <a:t>tree = ast.parse("pct_change(100, 125)", mode="eval")      </a:t>
            </a:r>
            <a:r>
              <a:rPr sz="1200">
                <a:solidFill>
                  <a:srgbClr val="B3A6C4"/>
                </a:solidFill>
                <a:latin typeface="Consolas"/>
              </a:rPr>
              <a:t># text → syntax tree; nothing runs</a:t>
            </a:r>
          </a:p>
          <a:p>
            <a:pPr>
              <a:lnSpc>
                <a:spcPts val="1679"/>
              </a:lnSpc>
            </a:pPr>
            <a:r>
              <a:rPr sz="1200">
                <a:latin typeface="Consolas"/>
              </a:rPr>
              <a:t> </a:t>
            </a:r>
          </a:p>
          <a:p>
            <a:pPr>
              <a:lnSpc>
                <a:spcPts val="1679"/>
              </a:lnSpc>
            </a:pPr>
            <a:r>
              <a:rPr sz="1200">
                <a:solidFill>
                  <a:srgbClr val="EEE9F4"/>
                </a:solidFill>
                <a:latin typeface="Consolas"/>
              </a:rPr>
              <a:t>def _eval(node):</a:t>
            </a:r>
          </a:p>
          <a:p>
            <a:pPr>
              <a:lnSpc>
                <a:spcPts val="1679"/>
              </a:lnSpc>
            </a:pPr>
            <a:r>
              <a:rPr sz="1200">
                <a:solidFill>
                  <a:srgbClr val="EEE9F4"/>
                </a:solidFill>
                <a:latin typeface="Consolas"/>
              </a:rPr>
              <a:t>    if isinstance(node, ast.Constant):                          </a:t>
            </a:r>
            <a:r>
              <a:rPr sz="1200">
                <a:solidFill>
                  <a:srgbClr val="B3A6C4"/>
                </a:solidFill>
                <a:latin typeface="Consolas"/>
              </a:rPr>
              <a:t># numbers only</a:t>
            </a:r>
          </a:p>
          <a:p>
            <a:pPr>
              <a:lnSpc>
                <a:spcPts val="1679"/>
              </a:lnSpc>
            </a:pPr>
            <a:r>
              <a:rPr sz="1200">
                <a:solidFill>
                  <a:srgbClr val="EEE9F4"/>
                </a:solidFill>
                <a:latin typeface="Consolas"/>
              </a:rPr>
              <a:t>        ...</a:t>
            </a:r>
          </a:p>
          <a:p>
            <a:pPr>
              <a:lnSpc>
                <a:spcPts val="1679"/>
              </a:lnSpc>
            </a:pPr>
            <a:r>
              <a:rPr sz="1200">
                <a:solidFill>
                  <a:srgbClr val="EEE9F4"/>
                </a:solidFill>
                <a:latin typeface="Consolas"/>
              </a:rPr>
              <a:t>    if isinstance(node, ast.BinOp) and type(node.op) in BIN_OPS:</a:t>
            </a:r>
          </a:p>
          <a:p>
            <a:pPr>
              <a:lnSpc>
                <a:spcPts val="1679"/>
              </a:lnSpc>
            </a:pPr>
            <a:r>
              <a:rPr sz="1200">
                <a:solidFill>
                  <a:srgbClr val="EEE9F4"/>
                </a:solidFill>
                <a:latin typeface="Consolas"/>
              </a:rPr>
              <a:t>        return BIN_OPS[type(node.op)](_eval(node.left), _eval(node.right))</a:t>
            </a:r>
          </a:p>
          <a:p>
            <a:pPr>
              <a:lnSpc>
                <a:spcPts val="1679"/>
              </a:lnSpc>
            </a:pPr>
            <a:r>
              <a:rPr sz="1200">
                <a:solidFill>
                  <a:srgbClr val="EEE9F4"/>
                </a:solidFill>
                <a:latin typeface="Consolas"/>
              </a:rPr>
              <a:t>    if isinstance(node, ast.Call):</a:t>
            </a:r>
          </a:p>
          <a:p>
            <a:pPr>
              <a:lnSpc>
                <a:spcPts val="1679"/>
              </a:lnSpc>
            </a:pPr>
            <a:r>
              <a:rPr sz="1200">
                <a:solidFill>
                  <a:srgbClr val="EEE9F4"/>
                </a:solidFill>
                <a:latin typeface="Consolas"/>
              </a:rPr>
              <a:t>        </a:t>
            </a:r>
            <a:r>
              <a:rPr sz="1200">
                <a:solidFill>
                  <a:srgbClr val="B3A6C4"/>
                </a:solidFill>
                <a:latin typeface="Consolas"/>
              </a:rPr>
              <a:t># Only plain names from the whitelist: no attributes (os.system), no keywords.</a:t>
            </a:r>
          </a:p>
          <a:p>
            <a:pPr>
              <a:lnSpc>
                <a:spcPts val="1679"/>
              </a:lnSpc>
            </a:pPr>
            <a:r>
              <a:rPr sz="1200">
                <a:solidFill>
                  <a:srgbClr val="EEE9F4"/>
                </a:solidFill>
                <a:latin typeface="Consolas"/>
              </a:rPr>
              <a:t>        if not isinstance(node.func, ast.Name) or node.func.id not in FUNCTIONS:</a:t>
            </a:r>
          </a:p>
          <a:p>
            <a:pPr>
              <a:lnSpc>
                <a:spcPts val="1679"/>
              </a:lnSpc>
            </a:pPr>
            <a:r>
              <a:rPr sz="1200">
                <a:solidFill>
                  <a:srgbClr val="EEE9F4"/>
                </a:solidFill>
                <a:latin typeface="Consolas"/>
              </a:rPr>
              <a:t>            raise CalculatorError("Function not allowed")</a:t>
            </a:r>
          </a:p>
          <a:p>
            <a:pPr>
              <a:lnSpc>
                <a:spcPts val="1679"/>
              </a:lnSpc>
            </a:pPr>
            <a:r>
              <a:rPr sz="1200">
                <a:solidFill>
                  <a:srgbClr val="EEE9F4"/>
                </a:solidFill>
                <a:latin typeface="Consolas"/>
              </a:rPr>
              <a:t>        return FUNCTIONS[node.func.id](*[_eval(arg) for arg in node.args])</a:t>
            </a:r>
          </a:p>
          <a:p>
            <a:pPr>
              <a:lnSpc>
                <a:spcPts val="1679"/>
              </a:lnSpc>
            </a:pPr>
            <a:r>
              <a:rPr sz="1200">
                <a:solidFill>
                  <a:srgbClr val="EEE9F4"/>
                </a:solidFill>
                <a:latin typeface="Consolas"/>
              </a:rPr>
              <a:t>    raise CalculatorError(f"Unsupported syntax: {type(node).__name__}")</a:t>
            </a:r>
          </a:p>
        </p:txBody>
      </p:sp>
      <p:sp>
        <p:nvSpPr>
          <p:cNvPr id="6" name="Rounded Rectangle 5"/>
          <p:cNvSpPr/>
          <p:nvPr/>
        </p:nvSpPr>
        <p:spPr>
          <a:xfrm>
            <a:off x="813816" y="5096256"/>
            <a:ext cx="5202936" cy="868680"/>
          </a:xfrm>
          <a:prstGeom prst="roundRect">
            <a:avLst>
              <a:gd name="adj" fmla="val 11578"/>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ircleCheck-green.png"/>
          <p:cNvPicPr>
            <a:picLocks noChangeAspect="1"/>
          </p:cNvPicPr>
          <p:nvPr/>
        </p:nvPicPr>
        <p:blipFill>
          <a:blip r:embed="rId3"/>
          <a:stretch>
            <a:fillRect/>
          </a:stretch>
        </p:blipFill>
        <p:spPr>
          <a:xfrm>
            <a:off x="996696" y="5279136"/>
            <a:ext cx="283464" cy="283464"/>
          </a:xfrm>
          <a:prstGeom prst="rect">
            <a:avLst/>
          </a:prstGeom>
        </p:spPr>
      </p:pic>
      <p:sp>
        <p:nvSpPr>
          <p:cNvPr id="8" name="TextBox 7"/>
          <p:cNvSpPr txBox="1"/>
          <p:nvPr/>
        </p:nvSpPr>
        <p:spPr>
          <a:xfrm>
            <a:off x="1426464" y="5233416"/>
            <a:ext cx="4471416" cy="256032"/>
          </a:xfrm>
          <a:prstGeom prst="rect">
            <a:avLst/>
          </a:prstGeom>
          <a:noFill/>
        </p:spPr>
        <p:txBody>
          <a:bodyPr wrap="square" lIns="0" rIns="0" tIns="0" bIns="0" anchor="t">
            <a:spAutoFit/>
          </a:bodyPr>
          <a:lstStyle/>
          <a:p>
            <a:pPr algn="l">
              <a:lnSpc>
                <a:spcPts val="1959"/>
              </a:lnSpc>
            </a:pPr>
            <a:r>
              <a:rPr sz="1400" b="1">
                <a:solidFill>
                  <a:srgbClr val="1D1C1D"/>
                </a:solidFill>
                <a:latin typeface="Carlito"/>
              </a:rPr>
              <a:t>pct_change(100, 125)  →  25.0</a:t>
            </a:r>
          </a:p>
        </p:txBody>
      </p:sp>
      <p:sp>
        <p:nvSpPr>
          <p:cNvPr id="9" name="TextBox 8"/>
          <p:cNvSpPr txBox="1"/>
          <p:nvPr/>
        </p:nvSpPr>
        <p:spPr>
          <a:xfrm>
            <a:off x="1426464" y="5516880"/>
            <a:ext cx="4471416" cy="411479"/>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Percentage increase: (new − old) / old × 100.</a:t>
            </a:r>
          </a:p>
        </p:txBody>
      </p:sp>
      <p:sp>
        <p:nvSpPr>
          <p:cNvPr id="10" name="Rounded Rectangle 9"/>
          <p:cNvSpPr/>
          <p:nvPr/>
        </p:nvSpPr>
        <p:spPr>
          <a:xfrm>
            <a:off x="6172200" y="5096256"/>
            <a:ext cx="5202936" cy="868680"/>
          </a:xfrm>
          <a:prstGeom prst="roundRect">
            <a:avLst>
              <a:gd name="adj" fmla="val 11578"/>
            </a:avLst>
          </a:prstGeom>
          <a:solidFill>
            <a:srgbClr val="FC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hieldCheck-pink.png"/>
          <p:cNvPicPr>
            <a:picLocks noChangeAspect="1"/>
          </p:cNvPicPr>
          <p:nvPr/>
        </p:nvPicPr>
        <p:blipFill>
          <a:blip r:embed="rId4"/>
          <a:stretch>
            <a:fillRect/>
          </a:stretch>
        </p:blipFill>
        <p:spPr>
          <a:xfrm>
            <a:off x="6355080" y="5279136"/>
            <a:ext cx="283464" cy="283464"/>
          </a:xfrm>
          <a:prstGeom prst="rect">
            <a:avLst/>
          </a:prstGeom>
        </p:spPr>
      </p:pic>
      <p:sp>
        <p:nvSpPr>
          <p:cNvPr id="12" name="TextBox 11"/>
          <p:cNvSpPr txBox="1"/>
          <p:nvPr/>
        </p:nvSpPr>
        <p:spPr>
          <a:xfrm>
            <a:off x="6784848" y="5233416"/>
            <a:ext cx="4471416" cy="256032"/>
          </a:xfrm>
          <a:prstGeom prst="rect">
            <a:avLst/>
          </a:prstGeom>
          <a:noFill/>
        </p:spPr>
        <p:txBody>
          <a:bodyPr wrap="square" lIns="0" rIns="0" tIns="0" bIns="0" anchor="t">
            <a:spAutoFit/>
          </a:bodyPr>
          <a:lstStyle/>
          <a:p>
            <a:pPr algn="l">
              <a:lnSpc>
                <a:spcPts val="1959"/>
              </a:lnSpc>
            </a:pPr>
            <a:r>
              <a:rPr sz="1400" b="1">
                <a:solidFill>
                  <a:srgbClr val="1D1C1D"/>
                </a:solidFill>
                <a:latin typeface="Carlito"/>
              </a:rPr>
              <a:t>__import__('os')  →  rejected</a:t>
            </a:r>
          </a:p>
        </p:txBody>
      </p:sp>
      <p:sp>
        <p:nvSpPr>
          <p:cNvPr id="13" name="TextBox 12"/>
          <p:cNvSpPr txBox="1"/>
          <p:nvPr/>
        </p:nvSpPr>
        <p:spPr>
          <a:xfrm>
            <a:off x="6784848" y="5516880"/>
            <a:ext cx="4471416" cy="411479"/>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“Function not allowed” — nothing is ever imported or run.</a:t>
            </a:r>
          </a:p>
        </p:txBody>
      </p:sp>
      <p:sp>
        <p:nvSpPr>
          <p:cNvPr id="14" name="TextBox 13"/>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15" name="TextBox 14"/>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0B6E99"/>
                </a:solidFill>
                <a:latin typeface="Carlito"/>
              </a:rPr>
              <a:t>STEP 4</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The agent loop: decide → act → observe</a:t>
            </a:r>
          </a:p>
        </p:txBody>
      </p:sp>
      <p:sp>
        <p:nvSpPr>
          <p:cNvPr id="4" name="Rounded Rectangle 3"/>
          <p:cNvSpPr/>
          <p:nvPr/>
        </p:nvSpPr>
        <p:spPr>
          <a:xfrm>
            <a:off x="813816" y="1755648"/>
            <a:ext cx="7315200" cy="4419600"/>
          </a:xfrm>
          <a:prstGeom prst="roundRect">
            <a:avLst>
              <a:gd name="adj" fmla="val 2275"/>
            </a:avLst>
          </a:prstGeom>
          <a:solidFill>
            <a:srgbClr val="2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929384"/>
            <a:ext cx="6949440" cy="4145280"/>
          </a:xfrm>
          <a:prstGeom prst="rect">
            <a:avLst/>
          </a:prstGeom>
          <a:noFill/>
        </p:spPr>
        <p:txBody>
          <a:bodyPr wrap="none" lIns="0" rIns="0" tIns="0" bIns="0">
            <a:spAutoFit/>
          </a:bodyPr>
          <a:lstStyle/>
          <a:p>
            <a:pPr>
              <a:lnSpc>
                <a:spcPts val="1679"/>
              </a:lnSpc>
            </a:pPr>
            <a:r>
              <a:rPr sz="1200">
                <a:solidFill>
                  <a:srgbClr val="EEE9F4"/>
                </a:solidFill>
                <a:latin typeface="Consolas"/>
              </a:rPr>
              <a:t>def _run_agent_loop(state, client):</a:t>
            </a:r>
          </a:p>
          <a:p>
            <a:pPr>
              <a:lnSpc>
                <a:spcPts val="1679"/>
              </a:lnSpc>
            </a:pPr>
            <a:r>
              <a:rPr sz="1200">
                <a:solidFill>
                  <a:srgbClr val="EEE9F4"/>
                </a:solidFill>
                <a:latin typeface="Consolas"/>
              </a:rPr>
              <a:t>    allowed = tools.MODE_TOOLS["agent"]</a:t>
            </a:r>
          </a:p>
          <a:p>
            <a:pPr>
              <a:lnSpc>
                <a:spcPts val="1679"/>
              </a:lnSpc>
            </a:pPr>
            <a:r>
              <a:rPr sz="1200">
                <a:solidFill>
                  <a:srgbClr val="EEE9F4"/>
                </a:solidFill>
                <a:latin typeface="Consolas"/>
              </a:rPr>
              <a:t>    while state["status"] == RUNNING:</a:t>
            </a:r>
          </a:p>
          <a:p>
            <a:pPr>
              <a:lnSpc>
                <a:spcPts val="1679"/>
              </a:lnSpc>
            </a:pPr>
            <a:r>
              <a:rPr sz="1200">
                <a:solidFill>
                  <a:srgbClr val="EEE9F4"/>
                </a:solidFill>
                <a:latin typeface="Consolas"/>
              </a:rPr>
              <a:t>        if state["steps"] &gt;= MAX_STEPS:              </a:t>
            </a:r>
            <a:r>
              <a:rPr sz="1200">
                <a:solidFill>
                  <a:srgbClr val="B3A6C4"/>
                </a:solidFill>
                <a:latin typeface="Consolas"/>
              </a:rPr>
              <a:t># hard stop: 8 rounds</a:t>
            </a:r>
          </a:p>
          <a:p>
            <a:pPr>
              <a:lnSpc>
                <a:spcPts val="1679"/>
              </a:lnSpc>
            </a:pPr>
            <a:r>
              <a:rPr sz="1200">
                <a:solidFill>
                  <a:srgbClr val="EEE9F4"/>
                </a:solidFill>
                <a:latin typeface="Consolas"/>
              </a:rPr>
              <a:t>            return _finish(state, "Stopped after 8 tool rounds.")</a:t>
            </a:r>
          </a:p>
          <a:p>
            <a:pPr>
              <a:lnSpc>
                <a:spcPts val="1679"/>
              </a:lnSpc>
            </a:pPr>
            <a:r>
              <a:rPr sz="1200">
                <a:latin typeface="Consolas"/>
              </a:rPr>
              <a:t> </a:t>
            </a:r>
          </a:p>
          <a:p>
            <a:pPr>
              <a:lnSpc>
                <a:spcPts val="1679"/>
              </a:lnSpc>
            </a:pPr>
            <a:r>
              <a:rPr sz="1200">
                <a:solidFill>
                  <a:srgbClr val="EEE9F4"/>
                </a:solidFill>
                <a:latin typeface="Consolas"/>
              </a:rPr>
              <a:t>        result = _ask_model(state, client, allowed)  </a:t>
            </a:r>
            <a:r>
              <a:rPr sz="1200">
                <a:solidFill>
                  <a:srgbClr val="B3A6C4"/>
                </a:solidFill>
                <a:latin typeface="Consolas"/>
              </a:rPr>
              <a:t># DECIDE</a:t>
            </a:r>
          </a:p>
          <a:p>
            <a:pPr>
              <a:lnSpc>
                <a:spcPts val="1679"/>
              </a:lnSpc>
            </a:pPr>
            <a:r>
              <a:rPr sz="1200">
                <a:solidFill>
                  <a:srgbClr val="EEE9F4"/>
                </a:solidFill>
                <a:latin typeface="Consolas"/>
              </a:rPr>
              <a:t>        if not result["tool_calls"]:                 </a:t>
            </a:r>
            <a:r>
              <a:rPr sz="1200">
                <a:solidFill>
                  <a:srgbClr val="B3A6C4"/>
                </a:solidFill>
                <a:latin typeface="Consolas"/>
              </a:rPr>
              <a:t># text = final answer</a:t>
            </a:r>
          </a:p>
          <a:p>
            <a:pPr>
              <a:lnSpc>
                <a:spcPts val="1679"/>
              </a:lnSpc>
            </a:pPr>
            <a:r>
              <a:rPr sz="1200">
                <a:solidFill>
                  <a:srgbClr val="EEE9F4"/>
                </a:solidFill>
                <a:latin typeface="Consolas"/>
              </a:rPr>
              <a:t>            return _finish(state, result["text"])</a:t>
            </a:r>
          </a:p>
          <a:p>
            <a:pPr>
              <a:lnSpc>
                <a:spcPts val="1679"/>
              </a:lnSpc>
            </a:pPr>
            <a:r>
              <a:rPr sz="1200">
                <a:latin typeface="Consolas"/>
              </a:rPr>
              <a:t> </a:t>
            </a:r>
          </a:p>
          <a:p>
            <a:pPr>
              <a:lnSpc>
                <a:spcPts val="1679"/>
              </a:lnSpc>
            </a:pPr>
            <a:r>
              <a:rPr sz="1200">
                <a:solidFill>
                  <a:srgbClr val="EEE9F4"/>
                </a:solidFill>
                <a:latin typeface="Consolas"/>
              </a:rPr>
              <a:t>        state["steps"] += 1</a:t>
            </a:r>
          </a:p>
          <a:p>
            <a:pPr>
              <a:lnSpc>
                <a:spcPts val="1679"/>
              </a:lnSpc>
            </a:pPr>
            <a:r>
              <a:rPr sz="1200">
                <a:solidFill>
                  <a:srgbClr val="EEE9F4"/>
                </a:solidFill>
                <a:latin typeface="Consolas"/>
              </a:rPr>
              <a:t>        for call in result["tool_calls"]:</a:t>
            </a:r>
          </a:p>
          <a:p>
            <a:pPr>
              <a:lnSpc>
                <a:spcPts val="1679"/>
              </a:lnSpc>
            </a:pPr>
            <a:r>
              <a:rPr sz="1200">
                <a:solidFill>
                  <a:srgbClr val="EEE9F4"/>
                </a:solidFill>
                <a:latin typeface="Consolas"/>
              </a:rPr>
              <a:t>            if call["name"] == "generate_report":</a:t>
            </a:r>
          </a:p>
          <a:p>
            <a:pPr>
              <a:lnSpc>
                <a:spcPts val="1679"/>
              </a:lnSpc>
            </a:pPr>
            <a:r>
              <a:rPr sz="1200">
                <a:solidFill>
                  <a:srgbClr val="EEE9F4"/>
                </a:solidFill>
                <a:latin typeface="Consolas"/>
              </a:rPr>
              <a:t>                _request_approval(state, call, allowed)   </a:t>
            </a:r>
            <a:r>
              <a:rPr sz="1200">
                <a:solidFill>
                  <a:srgbClr val="B3A6C4"/>
                </a:solidFill>
                <a:latin typeface="Consolas"/>
              </a:rPr>
              <a:t># pause!</a:t>
            </a:r>
          </a:p>
          <a:p>
            <a:pPr>
              <a:lnSpc>
                <a:spcPts val="1679"/>
              </a:lnSpc>
            </a:pPr>
            <a:r>
              <a:rPr sz="1200">
                <a:solidFill>
                  <a:srgbClr val="EEE9F4"/>
                </a:solidFill>
                <a:latin typeface="Consolas"/>
              </a:rPr>
              <a:t>            else:</a:t>
            </a:r>
          </a:p>
          <a:p>
            <a:pPr>
              <a:lnSpc>
                <a:spcPts val="1679"/>
              </a:lnSpc>
            </a:pPr>
            <a:r>
              <a:rPr sz="1200">
                <a:solidFill>
                  <a:srgbClr val="EEE9F4"/>
                </a:solidFill>
                <a:latin typeface="Consolas"/>
              </a:rPr>
              <a:t>                _run_tool_call(state, call, allowed)      </a:t>
            </a:r>
            <a:r>
              <a:rPr sz="1200">
                <a:solidFill>
                  <a:srgbClr val="B3A6C4"/>
                </a:solidFill>
                <a:latin typeface="Consolas"/>
              </a:rPr>
              <a:t># ACT + OBSERVE</a:t>
            </a:r>
          </a:p>
          <a:p>
            <a:pPr>
              <a:lnSpc>
                <a:spcPts val="1679"/>
              </a:lnSpc>
            </a:pPr>
            <a:r>
              <a:rPr sz="1200">
                <a:latin typeface="Consolas"/>
              </a:rPr>
              <a:t> </a:t>
            </a:r>
          </a:p>
          <a:p>
            <a:pPr>
              <a:lnSpc>
                <a:spcPts val="1679"/>
              </a:lnSpc>
            </a:pPr>
            <a:r>
              <a:rPr sz="1200">
                <a:solidFill>
                  <a:srgbClr val="EEE9F4"/>
                </a:solidFill>
                <a:latin typeface="Consolas"/>
              </a:rPr>
              <a:t>        if state["pending_report"]:</a:t>
            </a:r>
          </a:p>
          <a:p>
            <a:pPr>
              <a:lnSpc>
                <a:spcPts val="1679"/>
              </a:lnSpc>
            </a:pPr>
            <a:r>
              <a:rPr sz="1200">
                <a:solidFill>
                  <a:srgbClr val="EEE9F4"/>
                </a:solidFill>
                <a:latin typeface="Consolas"/>
              </a:rPr>
              <a:t>            _set_status(state, WAITING_APPROVAL)</a:t>
            </a:r>
          </a:p>
        </p:txBody>
      </p:sp>
      <p:sp>
        <p:nvSpPr>
          <p:cNvPr id="6" name="Rounded Rectangle 5"/>
          <p:cNvSpPr/>
          <p:nvPr/>
        </p:nvSpPr>
        <p:spPr>
          <a:xfrm>
            <a:off x="8330183" y="1755648"/>
            <a:ext cx="3044952" cy="1325880"/>
          </a:xfrm>
          <a:prstGeom prst="roundRect">
            <a:avLst>
              <a:gd name="adj" fmla="val 7586"/>
            </a:avLst>
          </a:prstGeom>
          <a:solidFill>
            <a:srgbClr val="FC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rain-pink.png"/>
          <p:cNvPicPr>
            <a:picLocks noChangeAspect="1"/>
          </p:cNvPicPr>
          <p:nvPr/>
        </p:nvPicPr>
        <p:blipFill>
          <a:blip r:embed="rId3"/>
          <a:stretch>
            <a:fillRect/>
          </a:stretch>
        </p:blipFill>
        <p:spPr>
          <a:xfrm>
            <a:off x="8531352" y="1929384"/>
            <a:ext cx="283464" cy="283464"/>
          </a:xfrm>
          <a:prstGeom prst="rect">
            <a:avLst/>
          </a:prstGeom>
        </p:spPr>
      </p:pic>
      <p:sp>
        <p:nvSpPr>
          <p:cNvPr id="8" name="TextBox 7"/>
          <p:cNvSpPr txBox="1"/>
          <p:nvPr/>
        </p:nvSpPr>
        <p:spPr>
          <a:xfrm>
            <a:off x="8531352" y="2276856"/>
            <a:ext cx="2734056" cy="274320"/>
          </a:xfrm>
          <a:prstGeom prst="rect">
            <a:avLst/>
          </a:prstGeom>
          <a:noFill/>
        </p:spPr>
        <p:txBody>
          <a:bodyPr wrap="square" lIns="0" rIns="0" tIns="0" bIns="0" anchor="t">
            <a:spAutoFit/>
          </a:bodyPr>
          <a:lstStyle/>
          <a:p>
            <a:pPr algn="l">
              <a:lnSpc>
                <a:spcPts val="2100"/>
              </a:lnSpc>
            </a:pPr>
            <a:r>
              <a:rPr sz="1500" b="1">
                <a:solidFill>
                  <a:srgbClr val="1D1C1D"/>
                </a:solidFill>
                <a:latin typeface="Carlito"/>
              </a:rPr>
              <a:t>Decide</a:t>
            </a:r>
          </a:p>
        </p:txBody>
      </p:sp>
      <p:sp>
        <p:nvSpPr>
          <p:cNvPr id="9" name="TextBox 8"/>
          <p:cNvSpPr txBox="1"/>
          <p:nvPr/>
        </p:nvSpPr>
        <p:spPr>
          <a:xfrm>
            <a:off x="8531352" y="2569844"/>
            <a:ext cx="2734056" cy="45720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Muse Spark picks a tool, or writes the final answer.</a:t>
            </a:r>
          </a:p>
        </p:txBody>
      </p:sp>
      <p:sp>
        <p:nvSpPr>
          <p:cNvPr id="10" name="Rounded Rectangle 9"/>
          <p:cNvSpPr/>
          <p:nvPr/>
        </p:nvSpPr>
        <p:spPr>
          <a:xfrm>
            <a:off x="8330183" y="3218688"/>
            <a:ext cx="3044952" cy="1325880"/>
          </a:xfrm>
          <a:prstGeom prst="roundRect">
            <a:avLst>
              <a:gd name="adj" fmla="val 7586"/>
            </a:avLst>
          </a:prstGeom>
          <a:solidFill>
            <a:srgbClr val="FD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rench-amber.png"/>
          <p:cNvPicPr>
            <a:picLocks noChangeAspect="1"/>
          </p:cNvPicPr>
          <p:nvPr/>
        </p:nvPicPr>
        <p:blipFill>
          <a:blip r:embed="rId4"/>
          <a:stretch>
            <a:fillRect/>
          </a:stretch>
        </p:blipFill>
        <p:spPr>
          <a:xfrm>
            <a:off x="8531352" y="3392424"/>
            <a:ext cx="283464" cy="283464"/>
          </a:xfrm>
          <a:prstGeom prst="rect">
            <a:avLst/>
          </a:prstGeom>
        </p:spPr>
      </p:pic>
      <p:sp>
        <p:nvSpPr>
          <p:cNvPr id="12" name="TextBox 11"/>
          <p:cNvSpPr txBox="1"/>
          <p:nvPr/>
        </p:nvSpPr>
        <p:spPr>
          <a:xfrm>
            <a:off x="8531352" y="3739896"/>
            <a:ext cx="2734056" cy="274320"/>
          </a:xfrm>
          <a:prstGeom prst="rect">
            <a:avLst/>
          </a:prstGeom>
          <a:noFill/>
        </p:spPr>
        <p:txBody>
          <a:bodyPr wrap="square" lIns="0" rIns="0" tIns="0" bIns="0" anchor="t">
            <a:spAutoFit/>
          </a:bodyPr>
          <a:lstStyle/>
          <a:p>
            <a:pPr algn="l">
              <a:lnSpc>
                <a:spcPts val="2100"/>
              </a:lnSpc>
            </a:pPr>
            <a:r>
              <a:rPr sz="1500" b="1">
                <a:solidFill>
                  <a:srgbClr val="1D1C1D"/>
                </a:solidFill>
                <a:latin typeface="Carlito"/>
              </a:rPr>
              <a:t>Act</a:t>
            </a:r>
          </a:p>
        </p:txBody>
      </p:sp>
      <p:sp>
        <p:nvSpPr>
          <p:cNvPr id="13" name="TextBox 12"/>
          <p:cNvSpPr txBox="1"/>
          <p:nvPr/>
        </p:nvSpPr>
        <p:spPr>
          <a:xfrm>
            <a:off x="8531352" y="4032885"/>
            <a:ext cx="2734056" cy="45720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tools.py validates the call, then the tool runs.</a:t>
            </a:r>
          </a:p>
        </p:txBody>
      </p:sp>
      <p:sp>
        <p:nvSpPr>
          <p:cNvPr id="14" name="Rounded Rectangle 13"/>
          <p:cNvSpPr/>
          <p:nvPr/>
        </p:nvSpPr>
        <p:spPr>
          <a:xfrm>
            <a:off x="8330183" y="4681728"/>
            <a:ext cx="3044952" cy="1325880"/>
          </a:xfrm>
          <a:prstGeom prst="roundRect">
            <a:avLst>
              <a:gd name="adj" fmla="val 7586"/>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Repeat-green.png"/>
          <p:cNvPicPr>
            <a:picLocks noChangeAspect="1"/>
          </p:cNvPicPr>
          <p:nvPr/>
        </p:nvPicPr>
        <p:blipFill>
          <a:blip r:embed="rId5"/>
          <a:stretch>
            <a:fillRect/>
          </a:stretch>
        </p:blipFill>
        <p:spPr>
          <a:xfrm>
            <a:off x="8531352" y="4855464"/>
            <a:ext cx="283464" cy="283464"/>
          </a:xfrm>
          <a:prstGeom prst="rect">
            <a:avLst/>
          </a:prstGeom>
        </p:spPr>
      </p:pic>
      <p:sp>
        <p:nvSpPr>
          <p:cNvPr id="16" name="TextBox 15"/>
          <p:cNvSpPr txBox="1"/>
          <p:nvPr/>
        </p:nvSpPr>
        <p:spPr>
          <a:xfrm>
            <a:off x="8531352" y="5202936"/>
            <a:ext cx="2734056" cy="274320"/>
          </a:xfrm>
          <a:prstGeom prst="rect">
            <a:avLst/>
          </a:prstGeom>
          <a:noFill/>
        </p:spPr>
        <p:txBody>
          <a:bodyPr wrap="square" lIns="0" rIns="0" tIns="0" bIns="0" anchor="t">
            <a:spAutoFit/>
          </a:bodyPr>
          <a:lstStyle/>
          <a:p>
            <a:pPr algn="l">
              <a:lnSpc>
                <a:spcPts val="2100"/>
              </a:lnSpc>
            </a:pPr>
            <a:r>
              <a:rPr sz="1500" b="1">
                <a:solidFill>
                  <a:srgbClr val="1D1C1D"/>
                </a:solidFill>
                <a:latin typeface="Carlito"/>
              </a:rPr>
              <a:t>Observe</a:t>
            </a:r>
          </a:p>
        </p:txBody>
      </p:sp>
      <p:sp>
        <p:nvSpPr>
          <p:cNvPr id="17" name="TextBox 16"/>
          <p:cNvSpPr txBox="1"/>
          <p:nvPr/>
        </p:nvSpPr>
        <p:spPr>
          <a:xfrm>
            <a:off x="8531352" y="5495925"/>
            <a:ext cx="2734056" cy="45720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The result is added to the history; the loop runs again.</a:t>
            </a:r>
          </a:p>
        </p:txBody>
      </p:sp>
      <p:sp>
        <p:nvSpPr>
          <p:cNvPr id="18" name="TextBox 17"/>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19" name="TextBox 18"/>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0B6E99"/>
                </a:solidFill>
                <a:latin typeface="Carlito"/>
              </a:rPr>
              <a:t>STEP 4</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Observe: the result goes back to the model</a:t>
            </a:r>
          </a:p>
        </p:txBody>
      </p:sp>
      <p:sp>
        <p:nvSpPr>
          <p:cNvPr id="4" name="Rounded Rectangle 3"/>
          <p:cNvSpPr/>
          <p:nvPr/>
        </p:nvSpPr>
        <p:spPr>
          <a:xfrm>
            <a:off x="813816" y="1755648"/>
            <a:ext cx="10570464" cy="1859280"/>
          </a:xfrm>
          <a:prstGeom prst="roundRect">
            <a:avLst>
              <a:gd name="adj" fmla="val 5409"/>
            </a:avLst>
          </a:prstGeom>
          <a:solidFill>
            <a:srgbClr val="2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929384"/>
            <a:ext cx="10204704" cy="1584959"/>
          </a:xfrm>
          <a:prstGeom prst="rect">
            <a:avLst/>
          </a:prstGeom>
          <a:noFill/>
        </p:spPr>
        <p:txBody>
          <a:bodyPr wrap="none" lIns="0" rIns="0" tIns="0" bIns="0">
            <a:spAutoFit/>
          </a:bodyPr>
          <a:lstStyle/>
          <a:p>
            <a:pPr>
              <a:lnSpc>
                <a:spcPts val="1679"/>
              </a:lnSpc>
            </a:pPr>
            <a:r>
              <a:rPr sz="1200">
                <a:solidFill>
                  <a:srgbClr val="EEE9F4"/>
                </a:solidFill>
                <a:latin typeface="Consolas"/>
              </a:rPr>
              <a:t>history = [</a:t>
            </a:r>
          </a:p>
          <a:p>
            <a:pPr>
              <a:lnSpc>
                <a:spcPts val="1679"/>
              </a:lnSpc>
            </a:pPr>
            <a:r>
              <a:rPr sz="1200">
                <a:solidFill>
                  <a:srgbClr val="EEE9F4"/>
                </a:solidFill>
                <a:latin typeface="Consolas"/>
              </a:rPr>
              <a:t>  { "role": "user", "content": "Find recent papers about physics-informed solar power forecasting ..." },</a:t>
            </a:r>
          </a:p>
          <a:p>
            <a:pPr>
              <a:lnSpc>
                <a:spcPts val="1679"/>
              </a:lnSpc>
            </a:pPr>
            <a:r>
              <a:rPr sz="1200">
                <a:solidFill>
                  <a:srgbClr val="EEE9F4"/>
                </a:solidFill>
                <a:latin typeface="Consolas"/>
              </a:rPr>
              <a:t>  { "type": "function_call", "call_id": "call_8f2a…", "name": "search_papers",</a:t>
            </a:r>
          </a:p>
          <a:p>
            <a:pPr>
              <a:lnSpc>
                <a:spcPts val="1679"/>
              </a:lnSpc>
            </a:pPr>
            <a:r>
              <a:rPr sz="1200">
                <a:solidFill>
                  <a:srgbClr val="EEE9F4"/>
                </a:solidFill>
                <a:latin typeface="Consolas"/>
              </a:rPr>
              <a:t>    "arguments": "{\"query\": \"physics-informed solar power forecasting\"}" },</a:t>
            </a:r>
          </a:p>
          <a:p>
            <a:pPr>
              <a:lnSpc>
                <a:spcPts val="1679"/>
              </a:lnSpc>
            </a:pPr>
            <a:r>
              <a:rPr sz="1200">
                <a:solidFill>
                  <a:srgbClr val="EEE9F4"/>
                </a:solidFill>
                <a:latin typeface="Consolas"/>
              </a:rPr>
              <a:t>  { "type": "function_call_output", "call_id": "call_8f2a…",</a:t>
            </a:r>
          </a:p>
          <a:p>
            <a:pPr>
              <a:lnSpc>
                <a:spcPts val="1679"/>
              </a:lnSpc>
            </a:pPr>
            <a:r>
              <a:rPr sz="1200">
                <a:solidFill>
                  <a:srgbClr val="EEE9F4"/>
                </a:solidFill>
                <a:latin typeface="Consolas"/>
              </a:rPr>
              <a:t>    "output": "{\"source\": \"OpenAlex\", \"papers\": [{\"id\": 1, \"title\": \"Physics-informed voting ...\"}, ...]}" },</a:t>
            </a:r>
          </a:p>
          <a:p>
            <a:pPr>
              <a:lnSpc>
                <a:spcPts val="1679"/>
              </a:lnSpc>
            </a:pPr>
            <a:r>
              <a:rPr sz="1200">
                <a:solidFill>
                  <a:srgbClr val="EEE9F4"/>
                </a:solidFill>
                <a:latin typeface="Consolas"/>
              </a:rPr>
              <a:t>]                                          </a:t>
            </a:r>
            <a:r>
              <a:rPr sz="1200">
                <a:solidFill>
                  <a:srgbClr val="B3A6C4"/>
                </a:solidFill>
                <a:latin typeface="Consolas"/>
              </a:rPr>
              <a:t># the whole list is sent again for the next decision</a:t>
            </a:r>
          </a:p>
        </p:txBody>
      </p:sp>
      <p:sp>
        <p:nvSpPr>
          <p:cNvPr id="6" name="Rounded Rectangle 5"/>
          <p:cNvSpPr/>
          <p:nvPr/>
        </p:nvSpPr>
        <p:spPr>
          <a:xfrm>
            <a:off x="813816" y="3816095"/>
            <a:ext cx="3419856" cy="1417320"/>
          </a:xfrm>
          <a:prstGeom prst="roundRect">
            <a:avLst>
              <a:gd name="adj" fmla="val 7096"/>
            </a:avLst>
          </a:prstGeom>
          <a:solidFill>
            <a:srgbClr val="E4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ink-blue.png"/>
          <p:cNvPicPr>
            <a:picLocks noChangeAspect="1"/>
          </p:cNvPicPr>
          <p:nvPr/>
        </p:nvPicPr>
        <p:blipFill>
          <a:blip r:embed="rId3"/>
          <a:stretch>
            <a:fillRect/>
          </a:stretch>
        </p:blipFill>
        <p:spPr>
          <a:xfrm>
            <a:off x="1014984" y="3989832"/>
            <a:ext cx="283464" cy="283464"/>
          </a:xfrm>
          <a:prstGeom prst="rect">
            <a:avLst/>
          </a:prstGeom>
        </p:spPr>
      </p:pic>
      <p:sp>
        <p:nvSpPr>
          <p:cNvPr id="8" name="TextBox 7"/>
          <p:cNvSpPr txBox="1"/>
          <p:nvPr/>
        </p:nvSpPr>
        <p:spPr>
          <a:xfrm>
            <a:off x="1014984" y="4337304"/>
            <a:ext cx="3108960" cy="274320"/>
          </a:xfrm>
          <a:prstGeom prst="rect">
            <a:avLst/>
          </a:prstGeom>
          <a:noFill/>
        </p:spPr>
        <p:txBody>
          <a:bodyPr wrap="square" lIns="0" rIns="0" tIns="0" bIns="0" anchor="t">
            <a:spAutoFit/>
          </a:bodyPr>
          <a:lstStyle/>
          <a:p>
            <a:pPr algn="l">
              <a:lnSpc>
                <a:spcPts val="2100"/>
              </a:lnSpc>
            </a:pPr>
            <a:r>
              <a:rPr sz="1500" b="1">
                <a:solidFill>
                  <a:srgbClr val="1D1C1D"/>
                </a:solidFill>
                <a:latin typeface="Carlito"/>
              </a:rPr>
              <a:t>function_call_output</a:t>
            </a:r>
          </a:p>
        </p:txBody>
      </p:sp>
      <p:sp>
        <p:nvSpPr>
          <p:cNvPr id="9" name="TextBox 8"/>
          <p:cNvSpPr txBox="1"/>
          <p:nvPr/>
        </p:nvSpPr>
        <p:spPr>
          <a:xfrm>
            <a:off x="1014984" y="4630293"/>
            <a:ext cx="3108960" cy="54864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Our result, matched to the request by the same call_id.</a:t>
            </a:r>
          </a:p>
        </p:txBody>
      </p:sp>
      <p:sp>
        <p:nvSpPr>
          <p:cNvPr id="10" name="Rounded Rectangle 9"/>
          <p:cNvSpPr/>
          <p:nvPr/>
        </p:nvSpPr>
        <p:spPr>
          <a:xfrm>
            <a:off x="4389120" y="3816095"/>
            <a:ext cx="3419856" cy="1417320"/>
          </a:xfrm>
          <a:prstGeom prst="roundRect">
            <a:avLst>
              <a:gd name="adj" fmla="val 7096"/>
            </a:avLst>
          </a:prstGeom>
          <a:solidFill>
            <a:srgbClr val="E4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stChecks-blue.png"/>
          <p:cNvPicPr>
            <a:picLocks noChangeAspect="1"/>
          </p:cNvPicPr>
          <p:nvPr/>
        </p:nvPicPr>
        <p:blipFill>
          <a:blip r:embed="rId4"/>
          <a:stretch>
            <a:fillRect/>
          </a:stretch>
        </p:blipFill>
        <p:spPr>
          <a:xfrm>
            <a:off x="4590288" y="3989832"/>
            <a:ext cx="283464" cy="283464"/>
          </a:xfrm>
          <a:prstGeom prst="rect">
            <a:avLst/>
          </a:prstGeom>
        </p:spPr>
      </p:pic>
      <p:sp>
        <p:nvSpPr>
          <p:cNvPr id="12" name="TextBox 11"/>
          <p:cNvSpPr txBox="1"/>
          <p:nvPr/>
        </p:nvSpPr>
        <p:spPr>
          <a:xfrm>
            <a:off x="4590288" y="4337304"/>
            <a:ext cx="3108960" cy="274320"/>
          </a:xfrm>
          <a:prstGeom prst="rect">
            <a:avLst/>
          </a:prstGeom>
          <a:noFill/>
        </p:spPr>
        <p:txBody>
          <a:bodyPr wrap="square" lIns="0" rIns="0" tIns="0" bIns="0" anchor="t">
            <a:spAutoFit/>
          </a:bodyPr>
          <a:lstStyle/>
          <a:p>
            <a:pPr algn="l">
              <a:lnSpc>
                <a:spcPts val="2100"/>
              </a:lnSpc>
            </a:pPr>
            <a:r>
              <a:rPr sz="1500" b="1">
                <a:solidFill>
                  <a:srgbClr val="1D1C1D"/>
                </a:solidFill>
                <a:latin typeface="Carlito"/>
              </a:rPr>
              <a:t>papers are numbered</a:t>
            </a:r>
          </a:p>
        </p:txBody>
      </p:sp>
      <p:sp>
        <p:nvSpPr>
          <p:cNvPr id="13" name="TextBox 12"/>
          <p:cNvSpPr txBox="1"/>
          <p:nvPr/>
        </p:nvSpPr>
        <p:spPr>
          <a:xfrm>
            <a:off x="4590288" y="4630293"/>
            <a:ext cx="3108960" cy="54864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[1] … [5]: the only ids the model is allowed to cite.</a:t>
            </a:r>
          </a:p>
        </p:txBody>
      </p:sp>
      <p:sp>
        <p:nvSpPr>
          <p:cNvPr id="14" name="Rounded Rectangle 13"/>
          <p:cNvSpPr/>
          <p:nvPr/>
        </p:nvSpPr>
        <p:spPr>
          <a:xfrm>
            <a:off x="7964424" y="3816095"/>
            <a:ext cx="3419856" cy="1417320"/>
          </a:xfrm>
          <a:prstGeom prst="roundRect">
            <a:avLst>
              <a:gd name="adj" fmla="val 7096"/>
            </a:avLst>
          </a:prstGeom>
          <a:solidFill>
            <a:srgbClr val="E4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TriangleAlert-blue.png"/>
          <p:cNvPicPr>
            <a:picLocks noChangeAspect="1"/>
          </p:cNvPicPr>
          <p:nvPr/>
        </p:nvPicPr>
        <p:blipFill>
          <a:blip r:embed="rId5"/>
          <a:stretch>
            <a:fillRect/>
          </a:stretch>
        </p:blipFill>
        <p:spPr>
          <a:xfrm>
            <a:off x="8165592" y="3989832"/>
            <a:ext cx="283464" cy="283464"/>
          </a:xfrm>
          <a:prstGeom prst="rect">
            <a:avLst/>
          </a:prstGeom>
        </p:spPr>
      </p:pic>
      <p:sp>
        <p:nvSpPr>
          <p:cNvPr id="16" name="TextBox 15"/>
          <p:cNvSpPr txBox="1"/>
          <p:nvPr/>
        </p:nvSpPr>
        <p:spPr>
          <a:xfrm>
            <a:off x="8165592" y="4337304"/>
            <a:ext cx="3108960" cy="274320"/>
          </a:xfrm>
          <a:prstGeom prst="rect">
            <a:avLst/>
          </a:prstGeom>
          <a:noFill/>
        </p:spPr>
        <p:txBody>
          <a:bodyPr wrap="square" lIns="0" rIns="0" tIns="0" bIns="0" anchor="t">
            <a:spAutoFit/>
          </a:bodyPr>
          <a:lstStyle/>
          <a:p>
            <a:pPr algn="l">
              <a:lnSpc>
                <a:spcPts val="2100"/>
              </a:lnSpc>
            </a:pPr>
            <a:r>
              <a:rPr sz="1500" b="1">
                <a:solidFill>
                  <a:srgbClr val="1D1C1D"/>
                </a:solidFill>
                <a:latin typeface="Carlito"/>
              </a:rPr>
              <a:t>errors are results too</a:t>
            </a:r>
          </a:p>
        </p:txBody>
      </p:sp>
      <p:sp>
        <p:nvSpPr>
          <p:cNvPr id="17" name="TextBox 16"/>
          <p:cNvSpPr txBox="1"/>
          <p:nvPr/>
        </p:nvSpPr>
        <p:spPr>
          <a:xfrm>
            <a:off x="8165592" y="4630293"/>
            <a:ext cx="3108960" cy="54864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429, bad arguments, no results → the model adapts.</a:t>
            </a:r>
          </a:p>
        </p:txBody>
      </p:sp>
      <p:sp>
        <p:nvSpPr>
          <p:cNvPr id="18" name="TextBox 17"/>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19" name="TextBox 18"/>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1E7D55"/>
                </a:solidFill>
                <a:latin typeface="Carlito"/>
              </a:rPr>
              <a:t>STEP 5</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Human approval — enforced by code, not by the model</a:t>
            </a:r>
          </a:p>
        </p:txBody>
      </p:sp>
      <p:sp>
        <p:nvSpPr>
          <p:cNvPr id="4" name="Rounded Rectangle 3"/>
          <p:cNvSpPr/>
          <p:nvPr/>
        </p:nvSpPr>
        <p:spPr>
          <a:xfrm>
            <a:off x="813816" y="1755648"/>
            <a:ext cx="1746504" cy="1481328"/>
          </a:xfrm>
          <a:prstGeom prst="roundRect">
            <a:avLst>
              <a:gd name="adj" fmla="val 6790"/>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868680" y="1773936"/>
            <a:ext cx="1636776" cy="0"/>
          </a:xfrm>
          <a:prstGeom prst="line">
            <a:avLst/>
          </a:prstGeom>
          <a:ln w="38100">
            <a:solidFill>
              <a:srgbClr val="C016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69264" y="1938528"/>
            <a:ext cx="1490472" cy="256032"/>
          </a:xfrm>
          <a:prstGeom prst="rect">
            <a:avLst/>
          </a:prstGeom>
          <a:noFill/>
        </p:spPr>
        <p:txBody>
          <a:bodyPr wrap="square" lIns="0" rIns="0" tIns="0" bIns="0" anchor="t">
            <a:spAutoFit/>
          </a:bodyPr>
          <a:lstStyle/>
          <a:p>
            <a:pPr algn="l">
              <a:lnSpc>
                <a:spcPts val="1820"/>
              </a:lnSpc>
            </a:pPr>
            <a:r>
              <a:rPr sz="1300" b="1">
                <a:solidFill>
                  <a:srgbClr val="C0164D"/>
                </a:solidFill>
                <a:latin typeface="Carlito"/>
              </a:rPr>
              <a:t>RUNNING</a:t>
            </a:r>
          </a:p>
        </p:txBody>
      </p:sp>
      <p:sp>
        <p:nvSpPr>
          <p:cNvPr id="7" name="TextBox 6"/>
          <p:cNvSpPr txBox="1"/>
          <p:nvPr/>
        </p:nvSpPr>
        <p:spPr>
          <a:xfrm>
            <a:off x="969264" y="2240280"/>
            <a:ext cx="1490472" cy="274320"/>
          </a:xfrm>
          <a:prstGeom prst="rect">
            <a:avLst/>
          </a:prstGeom>
          <a:noFill/>
        </p:spPr>
        <p:txBody>
          <a:bodyPr wrap="square" lIns="0" rIns="0" tIns="0" bIns="0" anchor="t">
            <a:spAutoFit/>
          </a:bodyPr>
          <a:lstStyle/>
          <a:p>
            <a:pPr algn="l">
              <a:lnSpc>
                <a:spcPts val="1800"/>
              </a:lnSpc>
            </a:pPr>
            <a:r>
              <a:rPr sz="1500" b="1">
                <a:solidFill>
                  <a:srgbClr val="1D1C1D"/>
                </a:solidFill>
                <a:latin typeface="Carlito"/>
              </a:rPr>
              <a:t>Loop runs</a:t>
            </a:r>
          </a:p>
        </p:txBody>
      </p:sp>
      <p:sp>
        <p:nvSpPr>
          <p:cNvPr id="8" name="TextBox 7"/>
          <p:cNvSpPr txBox="1"/>
          <p:nvPr/>
        </p:nvSpPr>
        <p:spPr>
          <a:xfrm>
            <a:off x="969264" y="2560320"/>
            <a:ext cx="1490472" cy="612648"/>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Tools run; the model decides</a:t>
            </a:r>
          </a:p>
        </p:txBody>
      </p:sp>
      <p:pic>
        <p:nvPicPr>
          <p:cNvPr id="9" name="Picture 8" descr="image-4-1.png"/>
          <p:cNvPicPr>
            <a:picLocks noChangeAspect="1"/>
          </p:cNvPicPr>
          <p:nvPr/>
        </p:nvPicPr>
        <p:blipFill>
          <a:blip r:embed="rId3"/>
          <a:stretch>
            <a:fillRect/>
          </a:stretch>
        </p:blipFill>
        <p:spPr>
          <a:xfrm>
            <a:off x="2651760" y="2423160"/>
            <a:ext cx="283464" cy="155448"/>
          </a:xfrm>
          <a:prstGeom prst="rect">
            <a:avLst/>
          </a:prstGeom>
        </p:spPr>
      </p:pic>
      <p:sp>
        <p:nvSpPr>
          <p:cNvPr id="10" name="Rounded Rectangle 9"/>
          <p:cNvSpPr/>
          <p:nvPr/>
        </p:nvSpPr>
        <p:spPr>
          <a:xfrm>
            <a:off x="3017520" y="1755648"/>
            <a:ext cx="1746504" cy="1481328"/>
          </a:xfrm>
          <a:prstGeom prst="roundRect">
            <a:avLst>
              <a:gd name="adj" fmla="val 6790"/>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3072384" y="1773936"/>
            <a:ext cx="1636776" cy="0"/>
          </a:xfrm>
          <a:prstGeom prst="line">
            <a:avLst/>
          </a:prstGeom>
          <a:ln w="38100">
            <a:solidFill>
              <a:srgbClr val="8A63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172968" y="1938528"/>
            <a:ext cx="1490472" cy="256032"/>
          </a:xfrm>
          <a:prstGeom prst="rect">
            <a:avLst/>
          </a:prstGeom>
          <a:noFill/>
        </p:spPr>
        <p:txBody>
          <a:bodyPr wrap="square" lIns="0" rIns="0" tIns="0" bIns="0" anchor="t">
            <a:spAutoFit/>
          </a:bodyPr>
          <a:lstStyle/>
          <a:p>
            <a:pPr algn="l">
              <a:lnSpc>
                <a:spcPts val="1820"/>
              </a:lnSpc>
            </a:pPr>
            <a:r>
              <a:rPr sz="1300" b="1">
                <a:solidFill>
                  <a:srgbClr val="8A6300"/>
                </a:solidFill>
                <a:latin typeface="Carlito"/>
              </a:rPr>
              <a:t>WAITING_APPROVAL</a:t>
            </a:r>
          </a:p>
        </p:txBody>
      </p:sp>
      <p:sp>
        <p:nvSpPr>
          <p:cNvPr id="13" name="TextBox 12"/>
          <p:cNvSpPr txBox="1"/>
          <p:nvPr/>
        </p:nvSpPr>
        <p:spPr>
          <a:xfrm>
            <a:off x="3172968" y="2240280"/>
            <a:ext cx="1490472" cy="274320"/>
          </a:xfrm>
          <a:prstGeom prst="rect">
            <a:avLst/>
          </a:prstGeom>
          <a:noFill/>
        </p:spPr>
        <p:txBody>
          <a:bodyPr wrap="square" lIns="0" rIns="0" tIns="0" bIns="0" anchor="t">
            <a:spAutoFit/>
          </a:bodyPr>
          <a:lstStyle/>
          <a:p>
            <a:pPr algn="l">
              <a:lnSpc>
                <a:spcPts val="1800"/>
              </a:lnSpc>
            </a:pPr>
            <a:r>
              <a:rPr sz="1500" b="1">
                <a:solidFill>
                  <a:srgbClr val="1D1C1D"/>
                </a:solidFill>
                <a:latin typeface="Carlito"/>
              </a:rPr>
              <a:t>Paused</a:t>
            </a:r>
          </a:p>
        </p:txBody>
      </p:sp>
      <p:sp>
        <p:nvSpPr>
          <p:cNvPr id="14" name="TextBox 13"/>
          <p:cNvSpPr txBox="1"/>
          <p:nvPr/>
        </p:nvSpPr>
        <p:spPr>
          <a:xfrm>
            <a:off x="3172968" y="2560320"/>
            <a:ext cx="1490472" cy="612648"/>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Model asked for the report; buttons appear</a:t>
            </a:r>
          </a:p>
        </p:txBody>
      </p:sp>
      <p:pic>
        <p:nvPicPr>
          <p:cNvPr id="15" name="Picture 14" descr="image-4-1.png"/>
          <p:cNvPicPr>
            <a:picLocks noChangeAspect="1"/>
          </p:cNvPicPr>
          <p:nvPr/>
        </p:nvPicPr>
        <p:blipFill>
          <a:blip r:embed="rId3"/>
          <a:stretch>
            <a:fillRect/>
          </a:stretch>
        </p:blipFill>
        <p:spPr>
          <a:xfrm>
            <a:off x="4855464" y="2423160"/>
            <a:ext cx="283464" cy="155448"/>
          </a:xfrm>
          <a:prstGeom prst="rect">
            <a:avLst/>
          </a:prstGeom>
        </p:spPr>
      </p:pic>
      <p:sp>
        <p:nvSpPr>
          <p:cNvPr id="16" name="Rounded Rectangle 15"/>
          <p:cNvSpPr/>
          <p:nvPr/>
        </p:nvSpPr>
        <p:spPr>
          <a:xfrm>
            <a:off x="5221224" y="1755648"/>
            <a:ext cx="1746504" cy="1481328"/>
          </a:xfrm>
          <a:prstGeom prst="roundRect">
            <a:avLst>
              <a:gd name="adj" fmla="val 6790"/>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5276088" y="1773936"/>
            <a:ext cx="1636776" cy="0"/>
          </a:xfrm>
          <a:prstGeom prst="line">
            <a:avLst/>
          </a:prstGeom>
          <a:ln w="38100">
            <a:solidFill>
              <a:srgbClr val="1E7D5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376672" y="1938528"/>
            <a:ext cx="1490472" cy="256032"/>
          </a:xfrm>
          <a:prstGeom prst="rect">
            <a:avLst/>
          </a:prstGeom>
          <a:noFill/>
        </p:spPr>
        <p:txBody>
          <a:bodyPr wrap="square" lIns="0" rIns="0" tIns="0" bIns="0" anchor="t">
            <a:spAutoFit/>
          </a:bodyPr>
          <a:lstStyle/>
          <a:p>
            <a:pPr algn="l">
              <a:lnSpc>
                <a:spcPts val="1820"/>
              </a:lnSpc>
            </a:pPr>
            <a:r>
              <a:rPr sz="1300" b="1">
                <a:solidFill>
                  <a:srgbClr val="1E7D55"/>
                </a:solidFill>
                <a:latin typeface="Carlito"/>
              </a:rPr>
              <a:t>APPROVED</a:t>
            </a:r>
          </a:p>
        </p:txBody>
      </p:sp>
      <p:sp>
        <p:nvSpPr>
          <p:cNvPr id="19" name="TextBox 18"/>
          <p:cNvSpPr txBox="1"/>
          <p:nvPr/>
        </p:nvSpPr>
        <p:spPr>
          <a:xfrm>
            <a:off x="5376672" y="2240280"/>
            <a:ext cx="1490472" cy="274320"/>
          </a:xfrm>
          <a:prstGeom prst="rect">
            <a:avLst/>
          </a:prstGeom>
          <a:noFill/>
        </p:spPr>
        <p:txBody>
          <a:bodyPr wrap="square" lIns="0" rIns="0" tIns="0" bIns="0" anchor="t">
            <a:spAutoFit/>
          </a:bodyPr>
          <a:lstStyle/>
          <a:p>
            <a:pPr algn="l">
              <a:lnSpc>
                <a:spcPts val="1800"/>
              </a:lnSpc>
            </a:pPr>
            <a:r>
              <a:rPr sz="1500" b="1">
                <a:solidFill>
                  <a:srgbClr val="1D1C1D"/>
                </a:solidFill>
                <a:latin typeface="Carlito"/>
              </a:rPr>
              <a:t>You clicked</a:t>
            </a:r>
          </a:p>
        </p:txBody>
      </p:sp>
      <p:sp>
        <p:nvSpPr>
          <p:cNvPr id="20" name="TextBox 19"/>
          <p:cNvSpPr txBox="1"/>
          <p:nvPr/>
        </p:nvSpPr>
        <p:spPr>
          <a:xfrm>
            <a:off x="5376672" y="2560320"/>
            <a:ext cx="1490472" cy="612648"/>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Now, and only now, the report tool runs</a:t>
            </a:r>
          </a:p>
        </p:txBody>
      </p:sp>
      <p:pic>
        <p:nvPicPr>
          <p:cNvPr id="21" name="Picture 20" descr="image-4-1.png"/>
          <p:cNvPicPr>
            <a:picLocks noChangeAspect="1"/>
          </p:cNvPicPr>
          <p:nvPr/>
        </p:nvPicPr>
        <p:blipFill>
          <a:blip r:embed="rId3"/>
          <a:stretch>
            <a:fillRect/>
          </a:stretch>
        </p:blipFill>
        <p:spPr>
          <a:xfrm>
            <a:off x="7059168" y="2423160"/>
            <a:ext cx="283464" cy="155448"/>
          </a:xfrm>
          <a:prstGeom prst="rect">
            <a:avLst/>
          </a:prstGeom>
        </p:spPr>
      </p:pic>
      <p:sp>
        <p:nvSpPr>
          <p:cNvPr id="22" name="Rounded Rectangle 21"/>
          <p:cNvSpPr/>
          <p:nvPr/>
        </p:nvSpPr>
        <p:spPr>
          <a:xfrm>
            <a:off x="7424928" y="1755648"/>
            <a:ext cx="1746504" cy="1481328"/>
          </a:xfrm>
          <a:prstGeom prst="roundRect">
            <a:avLst>
              <a:gd name="adj" fmla="val 6790"/>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7479792" y="1773936"/>
            <a:ext cx="1636776" cy="0"/>
          </a:xfrm>
          <a:prstGeom prst="line">
            <a:avLst/>
          </a:prstGeom>
          <a:ln w="38100">
            <a:solidFill>
              <a:srgbClr val="C0164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580376" y="1938528"/>
            <a:ext cx="1490472" cy="256032"/>
          </a:xfrm>
          <a:prstGeom prst="rect">
            <a:avLst/>
          </a:prstGeom>
          <a:noFill/>
        </p:spPr>
        <p:txBody>
          <a:bodyPr wrap="square" lIns="0" rIns="0" tIns="0" bIns="0" anchor="t">
            <a:spAutoFit/>
          </a:bodyPr>
          <a:lstStyle/>
          <a:p>
            <a:pPr algn="l">
              <a:lnSpc>
                <a:spcPts val="1820"/>
              </a:lnSpc>
            </a:pPr>
            <a:r>
              <a:rPr sz="1300" b="1">
                <a:solidFill>
                  <a:srgbClr val="C0164D"/>
                </a:solidFill>
                <a:latin typeface="Carlito"/>
              </a:rPr>
              <a:t>REJECTED</a:t>
            </a:r>
          </a:p>
        </p:txBody>
      </p:sp>
      <p:sp>
        <p:nvSpPr>
          <p:cNvPr id="25" name="TextBox 24"/>
          <p:cNvSpPr txBox="1"/>
          <p:nvPr/>
        </p:nvSpPr>
        <p:spPr>
          <a:xfrm>
            <a:off x="7580376" y="2240280"/>
            <a:ext cx="1490472" cy="274320"/>
          </a:xfrm>
          <a:prstGeom prst="rect">
            <a:avLst/>
          </a:prstGeom>
          <a:noFill/>
        </p:spPr>
        <p:txBody>
          <a:bodyPr wrap="square" lIns="0" rIns="0" tIns="0" bIns="0" anchor="t">
            <a:spAutoFit/>
          </a:bodyPr>
          <a:lstStyle/>
          <a:p>
            <a:pPr algn="l">
              <a:lnSpc>
                <a:spcPts val="1800"/>
              </a:lnSpc>
            </a:pPr>
            <a:r>
              <a:rPr sz="1500" b="1">
                <a:solidFill>
                  <a:srgbClr val="1D1C1D"/>
                </a:solidFill>
                <a:latin typeface="Carlito"/>
              </a:rPr>
              <a:t>Or you said no</a:t>
            </a:r>
          </a:p>
        </p:txBody>
      </p:sp>
      <p:sp>
        <p:nvSpPr>
          <p:cNvPr id="26" name="TextBox 25"/>
          <p:cNvSpPr txBox="1"/>
          <p:nvPr/>
        </p:nvSpPr>
        <p:spPr>
          <a:xfrm>
            <a:off x="7580376" y="2560320"/>
            <a:ext cx="1490472" cy="612648"/>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The tool never runs; clean stop</a:t>
            </a:r>
          </a:p>
        </p:txBody>
      </p:sp>
      <p:pic>
        <p:nvPicPr>
          <p:cNvPr id="27" name="Picture 26" descr="image-4-1.png"/>
          <p:cNvPicPr>
            <a:picLocks noChangeAspect="1"/>
          </p:cNvPicPr>
          <p:nvPr/>
        </p:nvPicPr>
        <p:blipFill>
          <a:blip r:embed="rId3"/>
          <a:stretch>
            <a:fillRect/>
          </a:stretch>
        </p:blipFill>
        <p:spPr>
          <a:xfrm>
            <a:off x="9262872" y="2423160"/>
            <a:ext cx="283464" cy="155448"/>
          </a:xfrm>
          <a:prstGeom prst="rect">
            <a:avLst/>
          </a:prstGeom>
        </p:spPr>
      </p:pic>
      <p:sp>
        <p:nvSpPr>
          <p:cNvPr id="28" name="Rounded Rectangle 27"/>
          <p:cNvSpPr/>
          <p:nvPr/>
        </p:nvSpPr>
        <p:spPr>
          <a:xfrm>
            <a:off x="9628632" y="1755648"/>
            <a:ext cx="1746504" cy="1481328"/>
          </a:xfrm>
          <a:prstGeom prst="roundRect">
            <a:avLst>
              <a:gd name="adj" fmla="val 6790"/>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9683496" y="1773936"/>
            <a:ext cx="1636776" cy="0"/>
          </a:xfrm>
          <a:prstGeom prst="line">
            <a:avLst/>
          </a:prstGeom>
          <a:ln w="38100">
            <a:solidFill>
              <a:srgbClr val="0B6E99"/>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784080" y="1938528"/>
            <a:ext cx="1490472" cy="256032"/>
          </a:xfrm>
          <a:prstGeom prst="rect">
            <a:avLst/>
          </a:prstGeom>
          <a:noFill/>
        </p:spPr>
        <p:txBody>
          <a:bodyPr wrap="square" lIns="0" rIns="0" tIns="0" bIns="0" anchor="t">
            <a:spAutoFit/>
          </a:bodyPr>
          <a:lstStyle/>
          <a:p>
            <a:pPr algn="l">
              <a:lnSpc>
                <a:spcPts val="1820"/>
              </a:lnSpc>
            </a:pPr>
            <a:r>
              <a:rPr sz="1300" b="1">
                <a:solidFill>
                  <a:srgbClr val="0B6E99"/>
                </a:solidFill>
                <a:latin typeface="Carlito"/>
              </a:rPr>
              <a:t>DONE</a:t>
            </a:r>
          </a:p>
        </p:txBody>
      </p:sp>
      <p:sp>
        <p:nvSpPr>
          <p:cNvPr id="31" name="TextBox 30"/>
          <p:cNvSpPr txBox="1"/>
          <p:nvPr/>
        </p:nvSpPr>
        <p:spPr>
          <a:xfrm>
            <a:off x="9784080" y="2240280"/>
            <a:ext cx="1490472" cy="274320"/>
          </a:xfrm>
          <a:prstGeom prst="rect">
            <a:avLst/>
          </a:prstGeom>
          <a:noFill/>
        </p:spPr>
        <p:txBody>
          <a:bodyPr wrap="square" lIns="0" rIns="0" tIns="0" bIns="0" anchor="t">
            <a:spAutoFit/>
          </a:bodyPr>
          <a:lstStyle/>
          <a:p>
            <a:pPr algn="l">
              <a:lnSpc>
                <a:spcPts val="1800"/>
              </a:lnSpc>
            </a:pPr>
            <a:r>
              <a:rPr sz="1500" b="1">
                <a:solidFill>
                  <a:srgbClr val="1D1C1D"/>
                </a:solidFill>
                <a:latin typeface="Carlito"/>
              </a:rPr>
              <a:t>Finished</a:t>
            </a:r>
          </a:p>
        </p:txBody>
      </p:sp>
      <p:sp>
        <p:nvSpPr>
          <p:cNvPr id="32" name="TextBox 31"/>
          <p:cNvSpPr txBox="1"/>
          <p:nvPr/>
        </p:nvSpPr>
        <p:spPr>
          <a:xfrm>
            <a:off x="9784080" y="2560320"/>
            <a:ext cx="1490472" cy="612648"/>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Answer or report shown and saved</a:t>
            </a:r>
          </a:p>
        </p:txBody>
      </p:sp>
      <p:sp>
        <p:nvSpPr>
          <p:cNvPr id="33" name="Rounded Rectangle 32"/>
          <p:cNvSpPr/>
          <p:nvPr/>
        </p:nvSpPr>
        <p:spPr>
          <a:xfrm>
            <a:off x="813816" y="3456432"/>
            <a:ext cx="10570464" cy="1645919"/>
          </a:xfrm>
          <a:prstGeom prst="roundRect">
            <a:avLst>
              <a:gd name="adj" fmla="val 6111"/>
            </a:avLst>
          </a:prstGeom>
          <a:solidFill>
            <a:srgbClr val="2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3630168"/>
            <a:ext cx="10204704" cy="1371599"/>
          </a:xfrm>
          <a:prstGeom prst="rect">
            <a:avLst/>
          </a:prstGeom>
          <a:noFill/>
        </p:spPr>
        <p:txBody>
          <a:bodyPr wrap="none" lIns="0" rIns="0" tIns="0" bIns="0">
            <a:spAutoFit/>
          </a:bodyPr>
          <a:lstStyle/>
          <a:p>
            <a:pPr>
              <a:lnSpc>
                <a:spcPts val="1679"/>
              </a:lnSpc>
            </a:pPr>
            <a:r>
              <a:rPr sz="1200">
                <a:solidFill>
                  <a:srgbClr val="EEE9F4"/>
                </a:solidFill>
                <a:latin typeface="Consolas"/>
              </a:rPr>
              <a:t>def approve(state):                                </a:t>
            </a:r>
            <a:r>
              <a:rPr sz="1200">
                <a:solidFill>
                  <a:srgbClr val="B3A6C4"/>
                </a:solidFill>
                <a:latin typeface="Consolas"/>
              </a:rPr>
              <a:t># called ONLY by the Approve button</a:t>
            </a:r>
          </a:p>
          <a:p>
            <a:pPr>
              <a:lnSpc>
                <a:spcPts val="1679"/>
              </a:lnSpc>
            </a:pPr>
            <a:r>
              <a:rPr sz="1200">
                <a:solidFill>
                  <a:srgbClr val="EEE9F4"/>
                </a:solidFill>
                <a:latin typeface="Consolas"/>
              </a:rPr>
              <a:t>    if state["status"] != WAITING_APPROVAL: return  </a:t>
            </a:r>
            <a:r>
              <a:rPr sz="1200">
                <a:solidFill>
                  <a:srgbClr val="B3A6C4"/>
                </a:solidFill>
                <a:latin typeface="Consolas"/>
              </a:rPr>
              <a:t># a rerun or second click does nothing</a:t>
            </a:r>
          </a:p>
          <a:p>
            <a:pPr>
              <a:lnSpc>
                <a:spcPts val="1679"/>
              </a:lnSpc>
            </a:pPr>
            <a:r>
              <a:rPr sz="1200">
                <a:solidFill>
                  <a:srgbClr val="EEE9F4"/>
                </a:solidFill>
                <a:latin typeface="Consolas"/>
              </a:rPr>
              <a:t>    pending = state["pending_report"]</a:t>
            </a:r>
          </a:p>
          <a:p>
            <a:pPr>
              <a:lnSpc>
                <a:spcPts val="1679"/>
              </a:lnSpc>
            </a:pPr>
            <a:r>
              <a:rPr sz="1200">
                <a:solidFill>
                  <a:srgbClr val="EEE9F4"/>
                </a:solidFill>
                <a:latin typeface="Consolas"/>
              </a:rPr>
              <a:t>    markdown = report_generator.build_report(state["goal"], state["papers"], pending["arguments"], ...)</a:t>
            </a:r>
          </a:p>
          <a:p>
            <a:pPr>
              <a:lnSpc>
                <a:spcPts val="1679"/>
              </a:lnSpc>
            </a:pPr>
            <a:r>
              <a:rPr sz="1200">
                <a:solidFill>
                  <a:srgbClr val="EEE9F4"/>
                </a:solidFill>
                <a:latin typeface="Consolas"/>
              </a:rPr>
              <a:t>    path = report_generator.save_report(markdown, outputs_dir, state["goal"])</a:t>
            </a:r>
          </a:p>
          <a:p>
            <a:pPr>
              <a:lnSpc>
                <a:spcPts val="1679"/>
              </a:lnSpc>
            </a:pPr>
            <a:r>
              <a:rPr sz="1200">
                <a:solidFill>
                  <a:srgbClr val="EEE9F4"/>
                </a:solidFill>
                <a:latin typeface="Consolas"/>
              </a:rPr>
              <a:t>    _set_status(state, DONE)                        </a:t>
            </a:r>
            <a:r>
              <a:rPr sz="1200">
                <a:solidFill>
                  <a:srgbClr val="B3A6C4"/>
                </a:solidFill>
                <a:latin typeface="Consolas"/>
              </a:rPr>
              <a:t># no extra model call</a:t>
            </a:r>
          </a:p>
        </p:txBody>
      </p:sp>
      <p:sp>
        <p:nvSpPr>
          <p:cNvPr id="35" name="Rounded Rectangle 34"/>
          <p:cNvSpPr/>
          <p:nvPr/>
        </p:nvSpPr>
        <p:spPr>
          <a:xfrm>
            <a:off x="813816" y="5285232"/>
            <a:ext cx="10570464" cy="448056"/>
          </a:xfrm>
          <a:prstGeom prst="roundRect">
            <a:avLst>
              <a:gd name="adj" fmla="val 16938"/>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7552" y="5394960"/>
            <a:ext cx="10296144" cy="301751"/>
          </a:xfrm>
          <a:prstGeom prst="rect">
            <a:avLst/>
          </a:prstGeom>
          <a:noFill/>
        </p:spPr>
        <p:txBody>
          <a:bodyPr wrap="square" lIns="0" rIns="0" tIns="0" bIns="0" anchor="t">
            <a:spAutoFit/>
          </a:bodyPr>
          <a:lstStyle/>
          <a:p>
            <a:pPr algn="l">
              <a:lnSpc>
                <a:spcPts val="1755"/>
              </a:lnSpc>
            </a:pPr>
            <a:r>
              <a:rPr sz="1300" b="1">
                <a:solidFill>
                  <a:srgbClr val="1D1C1D"/>
                </a:solidFill>
                <a:latin typeface="Carlito"/>
              </a:rPr>
              <a:t>Key idea</a:t>
            </a:r>
            <a:r>
              <a:rPr sz="1300" b="0">
                <a:solidFill>
                  <a:srgbClr val="1D1C1D"/>
                </a:solidFill>
                <a:latin typeface="Carlito"/>
              </a:rPr>
              <a:t> · generate_report is </a:t>
            </a:r>
            <a:r>
              <a:rPr sz="1300" b="1">
                <a:solidFill>
                  <a:srgbClr val="1D1C1D"/>
                </a:solidFill>
                <a:latin typeface="Carlito"/>
              </a:rPr>
              <a:t>not</a:t>
            </a:r>
            <a:r>
              <a:rPr sz="1300" b="0">
                <a:solidFill>
                  <a:srgbClr val="1D1C1D"/>
                </a:solidFill>
                <a:latin typeface="Carlito"/>
              </a:rPr>
              <a:t> in the tool executor list — the only path to it is </a:t>
            </a:r>
            <a:r>
              <a:rPr sz="1300" b="1">
                <a:solidFill>
                  <a:srgbClr val="1D1C1D"/>
                </a:solidFill>
                <a:latin typeface="Carlito"/>
              </a:rPr>
              <a:t>approve()</a:t>
            </a:r>
            <a:r>
              <a:rPr sz="1300" b="0">
                <a:solidFill>
                  <a:srgbClr val="1D1C1D"/>
                </a:solidFill>
                <a:latin typeface="Carlito"/>
              </a:rPr>
              <a:t>.</a:t>
            </a:r>
          </a:p>
        </p:txBody>
      </p:sp>
      <p:sp>
        <p:nvSpPr>
          <p:cNvPr id="37" name="TextBox 36"/>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38" name="TextBox 37"/>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1E7D55"/>
                </a:solidFill>
                <a:latin typeface="Carlito"/>
              </a:rPr>
              <a:t>STEP 5</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Every claim cites a paper — or says it doesn't</a:t>
            </a:r>
          </a:p>
        </p:txBody>
      </p:sp>
      <p:sp>
        <p:nvSpPr>
          <p:cNvPr id="4" name="Rounded Rectangle 3"/>
          <p:cNvSpPr/>
          <p:nvPr/>
        </p:nvSpPr>
        <p:spPr>
          <a:xfrm>
            <a:off x="813816" y="1755648"/>
            <a:ext cx="10570464" cy="2366010"/>
          </a:xfrm>
          <a:prstGeom prst="roundRect">
            <a:avLst>
              <a:gd name="adj" fmla="val 4251"/>
            </a:avLst>
          </a:prstGeom>
          <a:solidFill>
            <a:srgbClr val="2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929384"/>
            <a:ext cx="10204704" cy="2091690"/>
          </a:xfrm>
          <a:prstGeom prst="rect">
            <a:avLst/>
          </a:prstGeom>
          <a:noFill/>
        </p:spPr>
        <p:txBody>
          <a:bodyPr wrap="none" lIns="0" rIns="0" tIns="0" bIns="0">
            <a:spAutoFit/>
          </a:bodyPr>
          <a:lstStyle/>
          <a:p>
            <a:pPr>
              <a:lnSpc>
                <a:spcPts val="1750"/>
              </a:lnSpc>
            </a:pPr>
            <a:r>
              <a:rPr sz="1250">
                <a:solidFill>
                  <a:srgbClr val="EEE9F4"/>
                </a:solidFill>
                <a:latin typeface="Consolas"/>
              </a:rPr>
              <a:t>def format_claim(claim: dict, valid_ids: set[int]) -&gt; str:</a:t>
            </a:r>
          </a:p>
          <a:p>
            <a:pPr>
              <a:lnSpc>
                <a:spcPts val="1750"/>
              </a:lnSpc>
            </a:pPr>
            <a:r>
              <a:rPr sz="1250">
                <a:solidFill>
                  <a:srgbClr val="EEE9F4"/>
                </a:solidFill>
                <a:latin typeface="Consolas"/>
              </a:rPr>
              <a:t>    text = str(claim.get("text", "")).strip()</a:t>
            </a:r>
          </a:p>
          <a:p>
            <a:pPr>
              <a:lnSpc>
                <a:spcPts val="1750"/>
              </a:lnSpc>
            </a:pPr>
            <a:r>
              <a:rPr sz="1250">
                <a:solidFill>
                  <a:srgbClr val="EEE9F4"/>
                </a:solidFill>
                <a:latin typeface="Consolas"/>
              </a:rPr>
              <a:t>    ids = sorted({i for i in claim.get("sources", []) if i in valid_ids})   </a:t>
            </a:r>
            <a:r>
              <a:rPr sz="1250">
                <a:solidFill>
                  <a:srgbClr val="B3A6C4"/>
                </a:solidFill>
                <a:latin typeface="Consolas"/>
              </a:rPr>
              <a:t># drop invented ids</a:t>
            </a:r>
          </a:p>
          <a:p>
            <a:pPr>
              <a:lnSpc>
                <a:spcPts val="1750"/>
              </a:lnSpc>
            </a:pPr>
            <a:r>
              <a:rPr sz="1250">
                <a:solidFill>
                  <a:srgbClr val="EEE9F4"/>
                </a:solidFill>
                <a:latin typeface="Consolas"/>
              </a:rPr>
              <a:t>    if ids:</a:t>
            </a:r>
          </a:p>
          <a:p>
            <a:pPr>
              <a:lnSpc>
                <a:spcPts val="1750"/>
              </a:lnSpc>
            </a:pPr>
            <a:r>
              <a:rPr sz="1250">
                <a:solidFill>
                  <a:srgbClr val="EEE9F4"/>
                </a:solidFill>
                <a:latin typeface="Consolas"/>
              </a:rPr>
              <a:t>        return f"- {text} " + "".join(f"[{i}]" for i in ids)</a:t>
            </a:r>
          </a:p>
          <a:p>
            <a:pPr>
              <a:lnSpc>
                <a:spcPts val="1750"/>
              </a:lnSpc>
            </a:pPr>
            <a:r>
              <a:rPr sz="1250">
                <a:solidFill>
                  <a:srgbClr val="EEE9F4"/>
                </a:solidFill>
                <a:latin typeface="Consolas"/>
              </a:rPr>
              <a:t>    return f"- {text} *(AI synthesis)*"</a:t>
            </a:r>
          </a:p>
          <a:p>
            <a:pPr>
              <a:lnSpc>
                <a:spcPts val="1750"/>
              </a:lnSpc>
            </a:pPr>
            <a:r>
              <a:rPr sz="1250">
                <a:latin typeface="Consolas"/>
              </a:rPr>
              <a:t> </a:t>
            </a:r>
          </a:p>
          <a:p>
            <a:pPr>
              <a:lnSpc>
                <a:spcPts val="1750"/>
              </a:lnSpc>
            </a:pPr>
            <a:r>
              <a:rPr sz="1250">
                <a:solidFill>
                  <a:srgbClr val="B3A6C4"/>
                </a:solidFill>
                <a:latin typeface="Consolas"/>
              </a:rPr>
              <a:t># - 5 relevant papers were retrieved from a real academic search API. [1][2][3][4][5]</a:t>
            </a:r>
          </a:p>
          <a:p>
            <a:pPr>
              <a:lnSpc>
                <a:spcPts val="1750"/>
              </a:lnSpc>
            </a:pPr>
            <a:r>
              <a:rPr sz="1250">
                <a:solidFill>
                  <a:srgbClr val="B3A6C4"/>
                </a:solidFill>
                <a:latin typeface="Consolas"/>
              </a:rPr>
              <a:t># - Candidate gap: how well physical constraints generalise across sites.  *(AI synthesis)*</a:t>
            </a:r>
          </a:p>
        </p:txBody>
      </p:sp>
      <p:sp>
        <p:nvSpPr>
          <p:cNvPr id="6" name="Rounded Rectangle 5"/>
          <p:cNvSpPr/>
          <p:nvPr/>
        </p:nvSpPr>
        <p:spPr>
          <a:xfrm>
            <a:off x="813816" y="4322826"/>
            <a:ext cx="5202936" cy="1417320"/>
          </a:xfrm>
          <a:prstGeom prst="roundRect">
            <a:avLst>
              <a:gd name="adj" fmla="val 7096"/>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ieldCheck-green.png"/>
          <p:cNvPicPr>
            <a:picLocks noChangeAspect="1"/>
          </p:cNvPicPr>
          <p:nvPr/>
        </p:nvPicPr>
        <p:blipFill>
          <a:blip r:embed="rId3"/>
          <a:stretch>
            <a:fillRect/>
          </a:stretch>
        </p:blipFill>
        <p:spPr>
          <a:xfrm>
            <a:off x="1014984" y="4496562"/>
            <a:ext cx="283464" cy="283464"/>
          </a:xfrm>
          <a:prstGeom prst="rect">
            <a:avLst/>
          </a:prstGeom>
        </p:spPr>
      </p:pic>
      <p:sp>
        <p:nvSpPr>
          <p:cNvPr id="8" name="TextBox 7"/>
          <p:cNvSpPr txBox="1"/>
          <p:nvPr/>
        </p:nvSpPr>
        <p:spPr>
          <a:xfrm>
            <a:off x="1014984" y="4844034"/>
            <a:ext cx="4892040" cy="274320"/>
          </a:xfrm>
          <a:prstGeom prst="rect">
            <a:avLst/>
          </a:prstGeom>
          <a:noFill/>
        </p:spPr>
        <p:txBody>
          <a:bodyPr wrap="square" lIns="0" rIns="0" tIns="0" bIns="0" anchor="t">
            <a:spAutoFit/>
          </a:bodyPr>
          <a:lstStyle/>
          <a:p>
            <a:pPr algn="l">
              <a:lnSpc>
                <a:spcPts val="2240"/>
              </a:lnSpc>
            </a:pPr>
            <a:r>
              <a:rPr sz="1600" b="1">
                <a:solidFill>
                  <a:srgbClr val="1D1C1D"/>
                </a:solidFill>
                <a:latin typeface="Carlito"/>
              </a:rPr>
              <a:t>Sources are written by code</a:t>
            </a:r>
          </a:p>
        </p:txBody>
      </p:sp>
      <p:sp>
        <p:nvSpPr>
          <p:cNvPr id="9" name="TextBox 8"/>
          <p:cNvSpPr txBox="1"/>
          <p:nvPr/>
        </p:nvSpPr>
        <p:spPr>
          <a:xfrm>
            <a:off x="1014984" y="5152898"/>
            <a:ext cx="4892040" cy="54864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The list comes from real search results; the model cannot add a paper.</a:t>
            </a:r>
          </a:p>
        </p:txBody>
      </p:sp>
      <p:sp>
        <p:nvSpPr>
          <p:cNvPr id="10" name="Rounded Rectangle 9"/>
          <p:cNvSpPr/>
          <p:nvPr/>
        </p:nvSpPr>
        <p:spPr>
          <a:xfrm>
            <a:off x="6172200" y="4322826"/>
            <a:ext cx="5202936" cy="1417320"/>
          </a:xfrm>
          <a:prstGeom prst="roundRect">
            <a:avLst>
              <a:gd name="adj" fmla="val 7096"/>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stChecks-green.png"/>
          <p:cNvPicPr>
            <a:picLocks noChangeAspect="1"/>
          </p:cNvPicPr>
          <p:nvPr/>
        </p:nvPicPr>
        <p:blipFill>
          <a:blip r:embed="rId4"/>
          <a:stretch>
            <a:fillRect/>
          </a:stretch>
        </p:blipFill>
        <p:spPr>
          <a:xfrm>
            <a:off x="6373368" y="4496562"/>
            <a:ext cx="283464" cy="283464"/>
          </a:xfrm>
          <a:prstGeom prst="rect">
            <a:avLst/>
          </a:prstGeom>
        </p:spPr>
      </p:pic>
      <p:sp>
        <p:nvSpPr>
          <p:cNvPr id="12" name="TextBox 11"/>
          <p:cNvSpPr txBox="1"/>
          <p:nvPr/>
        </p:nvSpPr>
        <p:spPr>
          <a:xfrm>
            <a:off x="6373368" y="4844034"/>
            <a:ext cx="4892040" cy="274320"/>
          </a:xfrm>
          <a:prstGeom prst="rect">
            <a:avLst/>
          </a:prstGeom>
          <a:noFill/>
        </p:spPr>
        <p:txBody>
          <a:bodyPr wrap="square" lIns="0" rIns="0" tIns="0" bIns="0" anchor="t">
            <a:spAutoFit/>
          </a:bodyPr>
          <a:lstStyle/>
          <a:p>
            <a:pPr algn="l">
              <a:lnSpc>
                <a:spcPts val="2240"/>
              </a:lnSpc>
            </a:pPr>
            <a:r>
              <a:rPr sz="1600" b="1">
                <a:solidFill>
                  <a:srgbClr val="1D1C1D"/>
                </a:solidFill>
                <a:latin typeface="Carlito"/>
              </a:rPr>
              <a:t>Ten fixed sections</a:t>
            </a:r>
          </a:p>
        </p:txBody>
      </p:sp>
      <p:sp>
        <p:nvSpPr>
          <p:cNvPr id="13" name="TextBox 12"/>
          <p:cNvSpPr txBox="1"/>
          <p:nvPr/>
        </p:nvSpPr>
        <p:spPr>
          <a:xfrm>
            <a:off x="6373368" y="5152898"/>
            <a:ext cx="4892040" cy="54864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Question, sources, methods, datasets, models, metrics, findings, limitations, gaps, future work.</a:t>
            </a:r>
          </a:p>
        </p:txBody>
      </p:sp>
      <p:sp>
        <p:nvSpPr>
          <p:cNvPr id="14" name="TextBox 13"/>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15" name="TextBox 14"/>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C0164D"/>
                </a:solidFill>
                <a:latin typeface="Carlito"/>
              </a:rPr>
              <a:t>STEP 6</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The result: a chat window with a checkpoint</a:t>
            </a:r>
          </a:p>
        </p:txBody>
      </p:sp>
      <p:pic>
        <p:nvPicPr>
          <p:cNvPr id="4" name="Picture 3" descr="approval.png"/>
          <p:cNvPicPr>
            <a:picLocks noChangeAspect="1"/>
          </p:cNvPicPr>
          <p:nvPr/>
        </p:nvPicPr>
        <p:blipFill>
          <a:blip r:embed="rId3"/>
          <a:stretch>
            <a:fillRect/>
          </a:stretch>
        </p:blipFill>
        <p:spPr>
          <a:xfrm>
            <a:off x="813816" y="1755648"/>
            <a:ext cx="6675120" cy="4171950"/>
          </a:xfrm>
          <a:prstGeom prst="rect">
            <a:avLst/>
          </a:prstGeom>
        </p:spPr>
      </p:pic>
      <p:sp>
        <p:nvSpPr>
          <p:cNvPr id="5" name="Rectangle 4"/>
          <p:cNvSpPr/>
          <p:nvPr/>
        </p:nvSpPr>
        <p:spPr>
          <a:xfrm>
            <a:off x="813816" y="1755648"/>
            <a:ext cx="6675120" cy="4171950"/>
          </a:xfrm>
          <a:prstGeom prst="rect">
            <a:avLst/>
          </a:prstGeom>
          <a:noFill/>
          <a:ln w="12700">
            <a:solidFill>
              <a:srgbClr val="DDDA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26679" y="1755648"/>
            <a:ext cx="3648456" cy="1261872"/>
          </a:xfrm>
          <a:prstGeom prst="roundRect">
            <a:avLst>
              <a:gd name="adj" fmla="val 7971"/>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27848" y="1938528"/>
            <a:ext cx="3291840" cy="274320"/>
          </a:xfrm>
          <a:prstGeom prst="rect">
            <a:avLst/>
          </a:prstGeom>
          <a:noFill/>
        </p:spPr>
        <p:txBody>
          <a:bodyPr wrap="square" lIns="0" rIns="0" tIns="0" bIns="0" anchor="t">
            <a:spAutoFit/>
          </a:bodyPr>
          <a:lstStyle/>
          <a:p>
            <a:pPr algn="l">
              <a:lnSpc>
                <a:spcPts val="2100"/>
              </a:lnSpc>
            </a:pPr>
            <a:r>
              <a:rPr sz="1500" b="1">
                <a:solidFill>
                  <a:srgbClr val="4A154B"/>
                </a:solidFill>
                <a:latin typeface="Carlito"/>
              </a:rPr>
              <a:t>1 · Ask</a:t>
            </a:r>
          </a:p>
        </p:txBody>
      </p:sp>
      <p:sp>
        <p:nvSpPr>
          <p:cNvPr id="8" name="TextBox 7"/>
          <p:cNvSpPr txBox="1"/>
          <p:nvPr/>
        </p:nvSpPr>
        <p:spPr>
          <a:xfrm>
            <a:off x="7927848" y="2258568"/>
            <a:ext cx="3291840" cy="73152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Type a goal or click an example. Attach a PDF with the + button.</a:t>
            </a:r>
          </a:p>
        </p:txBody>
      </p:sp>
      <p:sp>
        <p:nvSpPr>
          <p:cNvPr id="9" name="Rounded Rectangle 8"/>
          <p:cNvSpPr/>
          <p:nvPr/>
        </p:nvSpPr>
        <p:spPr>
          <a:xfrm>
            <a:off x="7726679" y="3172968"/>
            <a:ext cx="3648456" cy="1261872"/>
          </a:xfrm>
          <a:prstGeom prst="roundRect">
            <a:avLst>
              <a:gd name="adj" fmla="val 7971"/>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7848" y="3355848"/>
            <a:ext cx="3291840" cy="274320"/>
          </a:xfrm>
          <a:prstGeom prst="rect">
            <a:avLst/>
          </a:prstGeom>
          <a:noFill/>
        </p:spPr>
        <p:txBody>
          <a:bodyPr wrap="square" lIns="0" rIns="0" tIns="0" bIns="0" anchor="t">
            <a:spAutoFit/>
          </a:bodyPr>
          <a:lstStyle/>
          <a:p>
            <a:pPr algn="l">
              <a:lnSpc>
                <a:spcPts val="2100"/>
              </a:lnSpc>
            </a:pPr>
            <a:r>
              <a:rPr sz="1500" b="1">
                <a:solidFill>
                  <a:srgbClr val="4A154B"/>
                </a:solidFill>
                <a:latin typeface="Carlito"/>
              </a:rPr>
              <a:t>2 · Watch the steps</a:t>
            </a:r>
          </a:p>
        </p:txBody>
      </p:sp>
      <p:sp>
        <p:nvSpPr>
          <p:cNvPr id="11" name="TextBox 10"/>
          <p:cNvSpPr txBox="1"/>
          <p:nvPr/>
        </p:nvSpPr>
        <p:spPr>
          <a:xfrm>
            <a:off x="7927848" y="3675887"/>
            <a:ext cx="3291840" cy="73152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Each decision and tool call appears live, then folds into “Worked through N steps”.</a:t>
            </a:r>
          </a:p>
        </p:txBody>
      </p:sp>
      <p:sp>
        <p:nvSpPr>
          <p:cNvPr id="12" name="Rounded Rectangle 11"/>
          <p:cNvSpPr/>
          <p:nvPr/>
        </p:nvSpPr>
        <p:spPr>
          <a:xfrm>
            <a:off x="7726679" y="4590288"/>
            <a:ext cx="3648456" cy="1261872"/>
          </a:xfrm>
          <a:prstGeom prst="roundRect">
            <a:avLst>
              <a:gd name="adj" fmla="val 7971"/>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27848" y="4773168"/>
            <a:ext cx="3291840" cy="274320"/>
          </a:xfrm>
          <a:prstGeom prst="rect">
            <a:avLst/>
          </a:prstGeom>
          <a:noFill/>
        </p:spPr>
        <p:txBody>
          <a:bodyPr wrap="square" lIns="0" rIns="0" tIns="0" bIns="0" anchor="t">
            <a:spAutoFit/>
          </a:bodyPr>
          <a:lstStyle/>
          <a:p>
            <a:pPr algn="l">
              <a:lnSpc>
                <a:spcPts val="2100"/>
              </a:lnSpc>
            </a:pPr>
            <a:r>
              <a:rPr sz="1500" b="1">
                <a:solidFill>
                  <a:srgbClr val="4A154B"/>
                </a:solidFill>
                <a:latin typeface="Carlito"/>
              </a:rPr>
              <a:t>3 · Approve or reject</a:t>
            </a:r>
          </a:p>
        </p:txBody>
      </p:sp>
      <p:sp>
        <p:nvSpPr>
          <p:cNvPr id="14" name="TextBox 13"/>
          <p:cNvSpPr txBox="1"/>
          <p:nvPr/>
        </p:nvSpPr>
        <p:spPr>
          <a:xfrm>
            <a:off x="7927848" y="5093207"/>
            <a:ext cx="3291840" cy="731520"/>
          </a:xfrm>
          <a:prstGeom prst="rect">
            <a:avLst/>
          </a:prstGeom>
          <a:noFill/>
        </p:spPr>
        <p:txBody>
          <a:bodyPr wrap="square" lIns="0" rIns="0" tIns="0" bIns="0" anchor="t">
            <a:spAutoFit/>
          </a:bodyPr>
          <a:lstStyle/>
          <a:p>
            <a:pPr algn="l">
              <a:lnSpc>
                <a:spcPts val="1820"/>
              </a:lnSpc>
            </a:pPr>
            <a:r>
              <a:rPr sz="1300" b="0">
                <a:solidFill>
                  <a:srgbClr val="454245"/>
                </a:solidFill>
                <a:latin typeface="Carlito"/>
              </a:rPr>
              <a:t>The message box stays locked until you decide.</a:t>
            </a:r>
          </a:p>
        </p:txBody>
      </p:sp>
      <p:sp>
        <p:nvSpPr>
          <p:cNvPr id="15" name="TextBox 14"/>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16" name="TextBox 15"/>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C0164D"/>
                </a:solidFill>
                <a:latin typeface="Carlito"/>
              </a:rPr>
              <a:t>STEP 6</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What the agent did — shown live, step by step</a:t>
            </a:r>
          </a:p>
        </p:txBody>
      </p:sp>
      <p:pic>
        <p:nvPicPr>
          <p:cNvPr id="4" name="Picture 3" descr="crop_steps.png"/>
          <p:cNvPicPr>
            <a:picLocks noChangeAspect="1"/>
          </p:cNvPicPr>
          <p:nvPr/>
        </p:nvPicPr>
        <p:blipFill>
          <a:blip r:embed="rId3"/>
          <a:stretch>
            <a:fillRect/>
          </a:stretch>
        </p:blipFill>
        <p:spPr>
          <a:xfrm>
            <a:off x="813816" y="1755648"/>
            <a:ext cx="4636394" cy="4114800"/>
          </a:xfrm>
          <a:prstGeom prst="rect">
            <a:avLst/>
          </a:prstGeom>
        </p:spPr>
      </p:pic>
      <p:sp>
        <p:nvSpPr>
          <p:cNvPr id="5" name="Rectangle 4"/>
          <p:cNvSpPr/>
          <p:nvPr/>
        </p:nvSpPr>
        <p:spPr>
          <a:xfrm>
            <a:off x="813816" y="1755648"/>
            <a:ext cx="4636394" cy="4114800"/>
          </a:xfrm>
          <a:prstGeom prst="rect">
            <a:avLst/>
          </a:prstGeom>
          <a:noFill/>
          <a:ln w="12700">
            <a:solidFill>
              <a:srgbClr val="DDDA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06440" y="1755648"/>
            <a:ext cx="5568696" cy="896112"/>
          </a:xfrm>
          <a:prstGeom prst="roundRect">
            <a:avLst>
              <a:gd name="adj" fmla="val 11224"/>
            </a:avLst>
          </a:prstGeom>
          <a:solidFill>
            <a:srgbClr val="FC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rain-pink.png"/>
          <p:cNvPicPr>
            <a:picLocks noChangeAspect="1"/>
          </p:cNvPicPr>
          <p:nvPr/>
        </p:nvPicPr>
        <p:blipFill>
          <a:blip r:embed="rId4"/>
          <a:stretch>
            <a:fillRect/>
          </a:stretch>
        </p:blipFill>
        <p:spPr>
          <a:xfrm>
            <a:off x="5989320" y="1938528"/>
            <a:ext cx="283464" cy="283464"/>
          </a:xfrm>
          <a:prstGeom prst="rect">
            <a:avLst/>
          </a:prstGeom>
        </p:spPr>
      </p:pic>
      <p:sp>
        <p:nvSpPr>
          <p:cNvPr id="8" name="TextBox 7"/>
          <p:cNvSpPr txBox="1"/>
          <p:nvPr/>
        </p:nvSpPr>
        <p:spPr>
          <a:xfrm>
            <a:off x="6419088" y="1883664"/>
            <a:ext cx="4846320" cy="256032"/>
          </a:xfrm>
          <a:prstGeom prst="rect">
            <a:avLst/>
          </a:prstGeom>
          <a:noFill/>
        </p:spPr>
        <p:txBody>
          <a:bodyPr wrap="square" lIns="0" rIns="0" tIns="0" bIns="0" anchor="t">
            <a:spAutoFit/>
          </a:bodyPr>
          <a:lstStyle/>
          <a:p>
            <a:pPr algn="l">
              <a:lnSpc>
                <a:spcPts val="1959"/>
              </a:lnSpc>
            </a:pPr>
            <a:r>
              <a:rPr sz="1400" b="1">
                <a:solidFill>
                  <a:srgbClr val="1D1C1D"/>
                </a:solidFill>
                <a:latin typeface="Carlito"/>
              </a:rPr>
              <a:t>Decide</a:t>
            </a:r>
          </a:p>
        </p:txBody>
      </p:sp>
      <p:sp>
        <p:nvSpPr>
          <p:cNvPr id="9" name="TextBox 8"/>
          <p:cNvSpPr txBox="1"/>
          <p:nvPr/>
        </p:nvSpPr>
        <p:spPr>
          <a:xfrm>
            <a:off x="6419088" y="2157984"/>
            <a:ext cx="4846320" cy="457200"/>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“Step 1: asking Muse Spark what to do next” → it chose search_papers.</a:t>
            </a:r>
          </a:p>
        </p:txBody>
      </p:sp>
      <p:sp>
        <p:nvSpPr>
          <p:cNvPr id="10" name="Rounded Rectangle 9"/>
          <p:cNvSpPr/>
          <p:nvPr/>
        </p:nvSpPr>
        <p:spPr>
          <a:xfrm>
            <a:off x="5806440" y="2779776"/>
            <a:ext cx="5568696" cy="896112"/>
          </a:xfrm>
          <a:prstGeom prst="roundRect">
            <a:avLst>
              <a:gd name="adj" fmla="val 11224"/>
            </a:avLst>
          </a:prstGeom>
          <a:solidFill>
            <a:srgbClr val="FD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peat-amber.png"/>
          <p:cNvPicPr>
            <a:picLocks noChangeAspect="1"/>
          </p:cNvPicPr>
          <p:nvPr/>
        </p:nvPicPr>
        <p:blipFill>
          <a:blip r:embed="rId5"/>
          <a:stretch>
            <a:fillRect/>
          </a:stretch>
        </p:blipFill>
        <p:spPr>
          <a:xfrm>
            <a:off x="5989320" y="2962656"/>
            <a:ext cx="283464" cy="283464"/>
          </a:xfrm>
          <a:prstGeom prst="rect">
            <a:avLst/>
          </a:prstGeom>
        </p:spPr>
      </p:pic>
      <p:sp>
        <p:nvSpPr>
          <p:cNvPr id="12" name="TextBox 11"/>
          <p:cNvSpPr txBox="1"/>
          <p:nvPr/>
        </p:nvSpPr>
        <p:spPr>
          <a:xfrm>
            <a:off x="6419088" y="2907792"/>
            <a:ext cx="4846320" cy="256032"/>
          </a:xfrm>
          <a:prstGeom prst="rect">
            <a:avLst/>
          </a:prstGeom>
          <a:noFill/>
        </p:spPr>
        <p:txBody>
          <a:bodyPr wrap="square" lIns="0" rIns="0" tIns="0" bIns="0" anchor="t">
            <a:spAutoFit/>
          </a:bodyPr>
          <a:lstStyle/>
          <a:p>
            <a:pPr algn="l">
              <a:lnSpc>
                <a:spcPts val="1959"/>
              </a:lnSpc>
            </a:pPr>
            <a:r>
              <a:rPr sz="1400" b="1">
                <a:solidFill>
                  <a:srgbClr val="1D1C1D"/>
                </a:solidFill>
                <a:latin typeface="Carlito"/>
              </a:rPr>
              <a:t>Recover</a:t>
            </a:r>
          </a:p>
        </p:txBody>
      </p:sp>
      <p:sp>
        <p:nvSpPr>
          <p:cNvPr id="13" name="TextBox 12"/>
          <p:cNvSpPr txBox="1"/>
          <p:nvPr/>
        </p:nvSpPr>
        <p:spPr>
          <a:xfrm>
            <a:off x="6419088" y="3182112"/>
            <a:ext cx="4846320" cy="457200"/>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Semantic Scholar answered 429 → the tool fell back to OpenAlex by itself.</a:t>
            </a:r>
          </a:p>
        </p:txBody>
      </p:sp>
      <p:sp>
        <p:nvSpPr>
          <p:cNvPr id="14" name="Rounded Rectangle 13"/>
          <p:cNvSpPr/>
          <p:nvPr/>
        </p:nvSpPr>
        <p:spPr>
          <a:xfrm>
            <a:off x="5806440" y="3803904"/>
            <a:ext cx="5568696" cy="896112"/>
          </a:xfrm>
          <a:prstGeom prst="roundRect">
            <a:avLst>
              <a:gd name="adj" fmla="val 11224"/>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ause-green.png"/>
          <p:cNvPicPr>
            <a:picLocks noChangeAspect="1"/>
          </p:cNvPicPr>
          <p:nvPr/>
        </p:nvPicPr>
        <p:blipFill>
          <a:blip r:embed="rId6"/>
          <a:stretch>
            <a:fillRect/>
          </a:stretch>
        </p:blipFill>
        <p:spPr>
          <a:xfrm>
            <a:off x="5989320" y="3986784"/>
            <a:ext cx="283464" cy="283464"/>
          </a:xfrm>
          <a:prstGeom prst="rect">
            <a:avLst/>
          </a:prstGeom>
        </p:spPr>
      </p:pic>
      <p:sp>
        <p:nvSpPr>
          <p:cNvPr id="16" name="TextBox 15"/>
          <p:cNvSpPr txBox="1"/>
          <p:nvPr/>
        </p:nvSpPr>
        <p:spPr>
          <a:xfrm>
            <a:off x="6419088" y="3931920"/>
            <a:ext cx="4846320" cy="256032"/>
          </a:xfrm>
          <a:prstGeom prst="rect">
            <a:avLst/>
          </a:prstGeom>
          <a:noFill/>
        </p:spPr>
        <p:txBody>
          <a:bodyPr wrap="square" lIns="0" rIns="0" tIns="0" bIns="0" anchor="t">
            <a:spAutoFit/>
          </a:bodyPr>
          <a:lstStyle/>
          <a:p>
            <a:pPr algn="l">
              <a:lnSpc>
                <a:spcPts val="1959"/>
              </a:lnSpc>
            </a:pPr>
            <a:r>
              <a:rPr sz="1400" b="1">
                <a:solidFill>
                  <a:srgbClr val="1D1C1D"/>
                </a:solidFill>
                <a:latin typeface="Carlito"/>
              </a:rPr>
              <a:t>Pause</a:t>
            </a:r>
          </a:p>
        </p:txBody>
      </p:sp>
      <p:sp>
        <p:nvSpPr>
          <p:cNvPr id="17" name="TextBox 16"/>
          <p:cNvSpPr txBox="1"/>
          <p:nvPr/>
        </p:nvSpPr>
        <p:spPr>
          <a:xfrm>
            <a:off x="6419088" y="4206240"/>
            <a:ext cx="4846320" cy="457200"/>
          </a:xfrm>
          <a:prstGeom prst="rect">
            <a:avLst/>
          </a:prstGeom>
          <a:noFill/>
        </p:spPr>
        <p:txBody>
          <a:bodyPr wrap="square" lIns="0" rIns="0" tIns="0" bIns="0" anchor="t">
            <a:spAutoFit/>
          </a:bodyPr>
          <a:lstStyle/>
          <a:p>
            <a:pPr algn="l">
              <a:lnSpc>
                <a:spcPts val="1560"/>
              </a:lnSpc>
            </a:pPr>
            <a:r>
              <a:rPr sz="1200" b="0">
                <a:solidFill>
                  <a:srgbClr val="454245"/>
                </a:solidFill>
                <a:latin typeface="Carlito"/>
              </a:rPr>
              <a:t>Step 2: the model asked for the report → status WAITING_APPROVAL.</a:t>
            </a:r>
          </a:p>
        </p:txBody>
      </p:sp>
      <p:sp>
        <p:nvSpPr>
          <p:cNvPr id="18" name="Rounded Rectangle 17"/>
          <p:cNvSpPr/>
          <p:nvPr/>
        </p:nvSpPr>
        <p:spPr>
          <a:xfrm>
            <a:off x="5806440" y="4901184"/>
            <a:ext cx="5568696" cy="685800"/>
          </a:xfrm>
          <a:prstGeom prst="roundRect">
            <a:avLst>
              <a:gd name="adj" fmla="val 11066"/>
            </a:avLst>
          </a:prstGeom>
          <a:solidFill>
            <a:srgbClr val="FC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80176" y="5010912"/>
            <a:ext cx="5294376" cy="539496"/>
          </a:xfrm>
          <a:prstGeom prst="rect">
            <a:avLst/>
          </a:prstGeom>
          <a:noFill/>
        </p:spPr>
        <p:txBody>
          <a:bodyPr wrap="square" lIns="0" rIns="0" tIns="0" bIns="0" anchor="t">
            <a:spAutoFit/>
          </a:bodyPr>
          <a:lstStyle/>
          <a:p>
            <a:pPr algn="l">
              <a:lnSpc>
                <a:spcPts val="1755"/>
              </a:lnSpc>
            </a:pPr>
            <a:r>
              <a:rPr sz="1300" b="1">
                <a:solidFill>
                  <a:srgbClr val="1D1C1D"/>
                </a:solidFill>
                <a:latin typeface="Carlito"/>
              </a:rPr>
              <a:t>Key idea</a:t>
            </a:r>
            <a:r>
              <a:rPr sz="1300" b="0">
                <a:solidFill>
                  <a:srgbClr val="1D1C1D"/>
                </a:solidFill>
                <a:latin typeface="Carlito"/>
              </a:rPr>
              <a:t> · Streamlit reruns the script on every click. State lives in </a:t>
            </a:r>
            <a:r>
              <a:rPr sz="1300" b="1">
                <a:solidFill>
                  <a:srgbClr val="1D1C1D"/>
                </a:solidFill>
                <a:latin typeface="Carlito"/>
              </a:rPr>
              <a:t>st.session_state</a:t>
            </a:r>
            <a:r>
              <a:rPr sz="1300" b="0">
                <a:solidFill>
                  <a:srgbClr val="1D1C1D"/>
                </a:solidFill>
                <a:latin typeface="Carlito"/>
              </a:rPr>
              <a:t>; the model is called only when you send.</a:t>
            </a:r>
          </a:p>
        </p:txBody>
      </p:sp>
      <p:sp>
        <p:nvSpPr>
          <p:cNvPr id="20" name="TextBox 19"/>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21" name="TextBox 20"/>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C0164D"/>
                </a:solidFill>
                <a:latin typeface="Carlito"/>
              </a:rPr>
              <a:t>STEP 6</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One question, three modes</a:t>
            </a:r>
          </a:p>
        </p:txBody>
      </p:sp>
      <p:graphicFrame>
        <p:nvGraphicFramePr>
          <p:cNvPr id="4" name="Table 3"/>
          <p:cNvGraphicFramePr>
            <a:graphicFrameLocks noGrp="1"/>
          </p:cNvGraphicFramePr>
          <p:nvPr/>
        </p:nvGraphicFramePr>
        <p:xfrm>
          <a:off x="813816" y="1755648"/>
          <a:ext cx="10570464" cy="2267712"/>
        </p:xfrm>
        <a:graphic>
          <a:graphicData uri="http://schemas.openxmlformats.org/drawingml/2006/table">
            <a:tbl>
              <a:tblPr firstRow="0" bandRow="0">
                <a:tableStyleId>{2D5ABB26-0587-4C30-8999-92F81FD0307C}</a:tableStyleId>
              </a:tblPr>
              <a:tblGrid>
                <a:gridCol w="1920240"/>
                <a:gridCol w="2377440"/>
                <a:gridCol w="3108960"/>
                <a:gridCol w="3163824"/>
              </a:tblGrid>
              <a:tr h="566928">
                <a:tc>
                  <a:txBody>
                    <a:bodyPr wrap="square"/>
                    <a:lstStyle/>
                    <a:p>
                      <a:pPr>
                        <a:lnSpc>
                          <a:spcPts val="1959"/>
                        </a:lnSpc>
                      </a:pPr>
                      <a:r>
                        <a:rPr sz="1400" b="1">
                          <a:solidFill>
                            <a:srgbClr val="1D1C1D"/>
                          </a:solidFill>
                          <a:latin typeface="Carlito"/>
                        </a:rPr>
                        <a:t>Mode</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EDEDED"/>
                    </a:solidFill>
                  </a:tcPr>
                </a:tc>
                <a:tc>
                  <a:txBody>
                    <a:bodyPr wrap="square"/>
                    <a:lstStyle/>
                    <a:p>
                      <a:pPr>
                        <a:lnSpc>
                          <a:spcPts val="1959"/>
                        </a:lnSpc>
                      </a:pPr>
                      <a:r>
                        <a:rPr sz="1400" b="1">
                          <a:solidFill>
                            <a:srgbClr val="1D1C1D"/>
                          </a:solidFill>
                          <a:latin typeface="Carlito"/>
                        </a:rPr>
                        <a:t>What happens</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EDEDED"/>
                    </a:solidFill>
                  </a:tcPr>
                </a:tc>
                <a:tc>
                  <a:txBody>
                    <a:bodyPr wrap="square"/>
                    <a:lstStyle/>
                    <a:p>
                      <a:pPr>
                        <a:lnSpc>
                          <a:spcPts val="1959"/>
                        </a:lnSpc>
                      </a:pPr>
                      <a:r>
                        <a:rPr sz="1400" b="1">
                          <a:solidFill>
                            <a:srgbClr val="1D1C1D"/>
                          </a:solidFill>
                          <a:latin typeface="Carlito"/>
                        </a:rPr>
                        <a:t>“Percentage increase from 100 to 125”</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EDEDED"/>
                    </a:solidFill>
                  </a:tcPr>
                </a:tc>
                <a:tc>
                  <a:txBody>
                    <a:bodyPr wrap="square"/>
                    <a:lstStyle/>
                    <a:p>
                      <a:pPr>
                        <a:lnSpc>
                          <a:spcPts val="1959"/>
                        </a:lnSpc>
                      </a:pPr>
                      <a:r>
                        <a:rPr sz="1400" b="1">
                          <a:solidFill>
                            <a:srgbClr val="1D1C1D"/>
                          </a:solidFill>
                          <a:latin typeface="Carlito"/>
                        </a:rPr>
                        <a:t>“Find recent papers on … and the gaps”</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EDEDED"/>
                    </a:solidFill>
                  </a:tcPr>
                </a:tc>
              </a:tr>
              <a:tr h="566928">
                <a:tc>
                  <a:txBody>
                    <a:bodyPr wrap="square"/>
                    <a:lstStyle/>
                    <a:p>
                      <a:pPr>
                        <a:lnSpc>
                          <a:spcPts val="1959"/>
                        </a:lnSpc>
                      </a:pPr>
                      <a:r>
                        <a:rPr sz="1400" b="1">
                          <a:solidFill>
                            <a:srgbClr val="1D1C1D"/>
                          </a:solidFill>
                          <a:latin typeface="Carlito"/>
                        </a:rPr>
                        <a:t>Basic LLM</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Muse Spark only, no tools</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Answers from memory — no calculator</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Cannot search: may not know recent papers</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r h="566928">
                <a:tc>
                  <a:txBody>
                    <a:bodyPr wrap="square"/>
                    <a:lstStyle/>
                    <a:p>
                      <a:pPr>
                        <a:lnSpc>
                          <a:spcPts val="1959"/>
                        </a:lnSpc>
                      </a:pPr>
                      <a:r>
                        <a:rPr sz="1400" b="1">
                          <a:solidFill>
                            <a:srgbClr val="1D1C1D"/>
                          </a:solidFill>
                          <a:latin typeface="Carlito"/>
                        </a:rPr>
                        <a:t>Tool-using LLM</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At most one tool round</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calculate → </a:t>
                      </a:r>
                      <a:r>
                        <a:rPr sz="1400" b="1">
                          <a:solidFill>
                            <a:srgbClr val="1D1C1D"/>
                          </a:solidFill>
                          <a:latin typeface="Carlito"/>
                        </a:rPr>
                        <a:t>25%</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One search → list of papers</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r h="566928">
                <a:tc>
                  <a:txBody>
                    <a:bodyPr wrap="square"/>
                    <a:lstStyle/>
                    <a:p>
                      <a:pPr>
                        <a:lnSpc>
                          <a:spcPts val="1959"/>
                        </a:lnSpc>
                      </a:pPr>
                      <a:r>
                        <a:rPr sz="1400" b="1">
                          <a:solidFill>
                            <a:srgbClr val="1D1C1D"/>
                          </a:solidFill>
                          <a:latin typeface="Carlito"/>
                        </a:rPr>
                        <a:t>Agent</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Loop + human approval</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calculate → </a:t>
                      </a:r>
                      <a:r>
                        <a:rPr sz="1400" b="1">
                          <a:solidFill>
                            <a:srgbClr val="1D1C1D"/>
                          </a:solidFill>
                          <a:latin typeface="Carlito"/>
                        </a:rPr>
                        <a:t>25%</a:t>
                      </a:r>
                      <a:r>
                        <a:rPr sz="1400" b="0">
                          <a:solidFill>
                            <a:srgbClr val="1D1C1D"/>
                          </a:solidFill>
                          <a:latin typeface="Carlito"/>
                        </a:rPr>
                        <a:t>; no report needed</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959"/>
                        </a:lnSpc>
                      </a:pPr>
                      <a:r>
                        <a:rPr sz="1400" b="0">
                          <a:solidFill>
                            <a:srgbClr val="1D1C1D"/>
                          </a:solidFill>
                          <a:latin typeface="Carlito"/>
                        </a:rPr>
                        <a:t>Search → approval → </a:t>
                      </a:r>
                      <a:r>
                        <a:rPr sz="1400" b="1">
                          <a:solidFill>
                            <a:srgbClr val="1D1C1D"/>
                          </a:solidFill>
                          <a:latin typeface="Carlito"/>
                        </a:rPr>
                        <a:t>cited report</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bl>
          </a:graphicData>
        </a:graphic>
      </p:graphicFrame>
      <p:sp>
        <p:nvSpPr>
          <p:cNvPr id="5" name="Rounded Rectangle 4"/>
          <p:cNvSpPr/>
          <p:nvPr/>
        </p:nvSpPr>
        <p:spPr>
          <a:xfrm>
            <a:off x="813816" y="4224528"/>
            <a:ext cx="10570464" cy="448056"/>
          </a:xfrm>
          <a:prstGeom prst="roundRect">
            <a:avLst>
              <a:gd name="adj" fmla="val 16938"/>
            </a:avLst>
          </a:prstGeom>
          <a:solidFill>
            <a:srgbClr val="FC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4334256"/>
            <a:ext cx="10296144" cy="301751"/>
          </a:xfrm>
          <a:prstGeom prst="rect">
            <a:avLst/>
          </a:prstGeom>
          <a:noFill/>
        </p:spPr>
        <p:txBody>
          <a:bodyPr wrap="square" lIns="0" rIns="0" tIns="0" bIns="0" anchor="t">
            <a:spAutoFit/>
          </a:bodyPr>
          <a:lstStyle/>
          <a:p>
            <a:pPr algn="l">
              <a:lnSpc>
                <a:spcPts val="1755"/>
              </a:lnSpc>
            </a:pPr>
            <a:r>
              <a:rPr sz="1300" b="1">
                <a:solidFill>
                  <a:srgbClr val="1D1C1D"/>
                </a:solidFill>
                <a:latin typeface="Carlito"/>
              </a:rPr>
              <a:t>Key idea</a:t>
            </a:r>
            <a:r>
              <a:rPr sz="1300" b="0">
                <a:solidFill>
                  <a:srgbClr val="1D1C1D"/>
                </a:solidFill>
                <a:latin typeface="Carlito"/>
              </a:rPr>
              <a:t> · the model is the same in every row. </a:t>
            </a:r>
            <a:r>
              <a:rPr sz="1300" b="1">
                <a:solidFill>
                  <a:srgbClr val="1D1C1D"/>
                </a:solidFill>
                <a:latin typeface="Carlito"/>
              </a:rPr>
              <a:t>The loop, the tools and the checkpoint</a:t>
            </a:r>
            <a:r>
              <a:rPr sz="1300" b="0">
                <a:solidFill>
                  <a:srgbClr val="1D1C1D"/>
                </a:solidFill>
                <a:latin typeface="Carlito"/>
              </a:rPr>
              <a:t> are what make it an agent.</a:t>
            </a:r>
          </a:p>
        </p:txBody>
      </p:sp>
      <p:sp>
        <p:nvSpPr>
          <p:cNvPr id="7" name="TextBox 6"/>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8" name="TextBox 7"/>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8A6300"/>
                </a:solidFill>
                <a:latin typeface="Carlito"/>
              </a:rPr>
              <a:t>STEP 7</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Test it without spending a cent</a:t>
            </a:r>
          </a:p>
        </p:txBody>
      </p:sp>
      <p:sp>
        <p:nvSpPr>
          <p:cNvPr id="4" name="Rounded Rectangle 3"/>
          <p:cNvSpPr/>
          <p:nvPr/>
        </p:nvSpPr>
        <p:spPr>
          <a:xfrm>
            <a:off x="813816" y="1755648"/>
            <a:ext cx="10570464" cy="2588259"/>
          </a:xfrm>
          <a:prstGeom prst="roundRect">
            <a:avLst>
              <a:gd name="adj" fmla="val 3886"/>
            </a:avLst>
          </a:prstGeom>
          <a:solidFill>
            <a:srgbClr val="2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1929384"/>
            <a:ext cx="10204704" cy="2313940"/>
          </a:xfrm>
          <a:prstGeom prst="rect">
            <a:avLst/>
          </a:prstGeom>
          <a:noFill/>
        </p:spPr>
        <p:txBody>
          <a:bodyPr wrap="none" lIns="0" rIns="0" tIns="0" bIns="0">
            <a:spAutoFit/>
          </a:bodyPr>
          <a:lstStyle/>
          <a:p>
            <a:pPr>
              <a:lnSpc>
                <a:spcPts val="1750"/>
              </a:lnSpc>
            </a:pPr>
            <a:r>
              <a:rPr sz="1250">
                <a:solidFill>
                  <a:srgbClr val="EEE9F4"/>
                </a:solidFill>
                <a:latin typeface="Consolas"/>
              </a:rPr>
              <a:t>def test_approve_resumes_and_writes_report(options):</a:t>
            </a:r>
          </a:p>
          <a:p>
            <a:pPr>
              <a:lnSpc>
                <a:spcPts val="1750"/>
              </a:lnSpc>
            </a:pPr>
            <a:r>
              <a:rPr sz="1250">
                <a:solidFill>
                  <a:srgbClr val="EEE9F4"/>
                </a:solidFill>
                <a:latin typeface="Consolas"/>
              </a:rPr>
              <a:t>    state, client = run(GOAL_A, "agent", options)        </a:t>
            </a:r>
            <a:r>
              <a:rPr sz="1250">
                <a:solidFill>
                  <a:srgbClr val="B3A6C4"/>
                </a:solidFill>
                <a:latin typeface="Consolas"/>
              </a:rPr>
              <a:t># MockMetaClient + fake search</a:t>
            </a:r>
          </a:p>
          <a:p>
            <a:pPr>
              <a:lnSpc>
                <a:spcPts val="1750"/>
              </a:lnSpc>
            </a:pPr>
            <a:r>
              <a:rPr sz="1250">
                <a:solidFill>
                  <a:srgbClr val="EEE9F4"/>
                </a:solidFill>
                <a:latin typeface="Consolas"/>
              </a:rPr>
              <a:t>    assert state["status"] == agent.WAITING_APPROVAL</a:t>
            </a:r>
          </a:p>
          <a:p>
            <a:pPr>
              <a:lnSpc>
                <a:spcPts val="1750"/>
              </a:lnSpc>
            </a:pPr>
            <a:r>
              <a:rPr sz="1250">
                <a:solidFill>
                  <a:srgbClr val="EEE9F4"/>
                </a:solidFill>
                <a:latin typeface="Consolas"/>
              </a:rPr>
              <a:t>    agent.approve(state)</a:t>
            </a:r>
          </a:p>
          <a:p>
            <a:pPr>
              <a:lnSpc>
                <a:spcPts val="1750"/>
              </a:lnSpc>
            </a:pPr>
            <a:r>
              <a:rPr sz="1250">
                <a:solidFill>
                  <a:srgbClr val="EEE9F4"/>
                </a:solidFill>
                <a:latin typeface="Consolas"/>
              </a:rPr>
              <a:t>    assert state["status"] == agent.DONE</a:t>
            </a:r>
          </a:p>
          <a:p>
            <a:pPr>
              <a:lnSpc>
                <a:spcPts val="1750"/>
              </a:lnSpc>
            </a:pPr>
            <a:r>
              <a:rPr sz="1250">
                <a:solidFill>
                  <a:srgbClr val="EEE9F4"/>
                </a:solidFill>
                <a:latin typeface="Consolas"/>
              </a:rPr>
              <a:t>    assert client.calls == 2                            </a:t>
            </a:r>
            <a:r>
              <a:rPr sz="1250">
                <a:solidFill>
                  <a:srgbClr val="B3A6C4"/>
                </a:solidFill>
                <a:latin typeface="Consolas"/>
              </a:rPr>
              <a:t># approval did NOT call the model again</a:t>
            </a:r>
          </a:p>
          <a:p>
            <a:pPr>
              <a:lnSpc>
                <a:spcPts val="1750"/>
              </a:lnSpc>
            </a:pPr>
            <a:r>
              <a:rPr sz="1250">
                <a:solidFill>
                  <a:srgbClr val="EEE9F4"/>
                </a:solidFill>
                <a:latin typeface="Consolas"/>
              </a:rPr>
              <a:t>    assert "*(AI synthesis)*" in Path(state["report_path"]).read_text(encoding="utf-8")</a:t>
            </a:r>
          </a:p>
          <a:p>
            <a:pPr>
              <a:lnSpc>
                <a:spcPts val="1750"/>
              </a:lnSpc>
            </a:pPr>
            <a:r>
              <a:rPr sz="1250">
                <a:latin typeface="Consolas"/>
              </a:rPr>
              <a:t> </a:t>
            </a:r>
          </a:p>
          <a:p>
            <a:pPr>
              <a:lnSpc>
                <a:spcPts val="1750"/>
              </a:lnSpc>
            </a:pPr>
            <a:r>
              <a:rPr sz="1250">
                <a:solidFill>
                  <a:srgbClr val="EEE9F4"/>
                </a:solidFill>
                <a:latin typeface="Consolas"/>
              </a:rPr>
              <a:t>$ pytest -q</a:t>
            </a:r>
          </a:p>
          <a:p>
            <a:pPr>
              <a:lnSpc>
                <a:spcPts val="1750"/>
              </a:lnSpc>
            </a:pPr>
            <a:r>
              <a:rPr sz="1250">
                <a:solidFill>
                  <a:srgbClr val="EEE9F4"/>
                </a:solidFill>
                <a:latin typeface="Consolas"/>
              </a:rPr>
              <a:t>123 passed, 2 skipped in 0.8s                           </a:t>
            </a:r>
            <a:r>
              <a:rPr sz="1250">
                <a:solidFill>
                  <a:srgbClr val="B3A6C4"/>
                </a:solidFill>
                <a:latin typeface="Consolas"/>
              </a:rPr>
              <a:t># the 2 live tests need RUN_LIVE_TESTS=1</a:t>
            </a:r>
          </a:p>
        </p:txBody>
      </p:sp>
      <p:sp>
        <p:nvSpPr>
          <p:cNvPr id="6" name="Rounded Rectangle 5"/>
          <p:cNvSpPr/>
          <p:nvPr/>
        </p:nvSpPr>
        <p:spPr>
          <a:xfrm>
            <a:off x="813816" y="4545076"/>
            <a:ext cx="10570464" cy="448056"/>
          </a:xfrm>
          <a:prstGeom prst="roundRect">
            <a:avLst>
              <a:gd name="adj" fmla="val 16938"/>
            </a:avLst>
          </a:prstGeom>
          <a:solidFill>
            <a:srgbClr val="FD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4654804"/>
            <a:ext cx="10296144" cy="301751"/>
          </a:xfrm>
          <a:prstGeom prst="rect">
            <a:avLst/>
          </a:prstGeom>
          <a:noFill/>
        </p:spPr>
        <p:txBody>
          <a:bodyPr wrap="square" lIns="0" rIns="0" tIns="0" bIns="0" anchor="t">
            <a:spAutoFit/>
          </a:bodyPr>
          <a:lstStyle/>
          <a:p>
            <a:pPr algn="l">
              <a:lnSpc>
                <a:spcPts val="1755"/>
              </a:lnSpc>
            </a:pPr>
            <a:r>
              <a:rPr sz="1300" b="1">
                <a:solidFill>
                  <a:srgbClr val="1D1C1D"/>
                </a:solidFill>
                <a:latin typeface="Carlito"/>
              </a:rPr>
              <a:t>Key idea</a:t>
            </a:r>
            <a:r>
              <a:rPr sz="1300" b="0">
                <a:solidFill>
                  <a:srgbClr val="1D1C1D"/>
                </a:solidFill>
                <a:latin typeface="Carlito"/>
              </a:rPr>
              <a:t> · the mock speaks the </a:t>
            </a:r>
            <a:r>
              <a:rPr sz="1300" b="1">
                <a:solidFill>
                  <a:srgbClr val="1D1C1D"/>
                </a:solidFill>
                <a:latin typeface="Carlito"/>
              </a:rPr>
              <a:t>same JSON shape</a:t>
            </a:r>
            <a:r>
              <a:rPr sz="1300" b="0">
                <a:solidFill>
                  <a:srgbClr val="1D1C1D"/>
                </a:solidFill>
                <a:latin typeface="Carlito"/>
              </a:rPr>
              <a:t> as Muse Spark, so the tests check our real code, not a toy copy.</a:t>
            </a:r>
          </a:p>
        </p:txBody>
      </p:sp>
      <p:sp>
        <p:nvSpPr>
          <p:cNvPr id="8" name="TextBox 7"/>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9" name="TextBox 8"/>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8A6300"/>
                </a:solidFill>
                <a:latin typeface="Carlito"/>
              </a:rPr>
              <a:t>BEFORE YOU SHIP</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Costs, limits and common errors</a:t>
            </a:r>
          </a:p>
        </p:txBody>
      </p:sp>
      <p:graphicFrame>
        <p:nvGraphicFramePr>
          <p:cNvPr id="4" name="Table 3"/>
          <p:cNvGraphicFramePr>
            <a:graphicFrameLocks noGrp="1"/>
          </p:cNvGraphicFramePr>
          <p:nvPr/>
        </p:nvGraphicFramePr>
        <p:xfrm>
          <a:off x="813816" y="1755648"/>
          <a:ext cx="10570464" cy="3200400"/>
        </p:xfrm>
        <a:graphic>
          <a:graphicData uri="http://schemas.openxmlformats.org/drawingml/2006/table">
            <a:tbl>
              <a:tblPr firstRow="0" bandRow="0">
                <a:tableStyleId>{2D5ABB26-0587-4C30-8999-92F81FD0307C}</a:tableStyleId>
              </a:tblPr>
              <a:tblGrid>
                <a:gridCol w="2103120"/>
                <a:gridCol w="8467344"/>
              </a:tblGrid>
              <a:tr h="457200">
                <a:tc>
                  <a:txBody>
                    <a:bodyPr wrap="square"/>
                    <a:lstStyle/>
                    <a:p>
                      <a:pPr>
                        <a:lnSpc>
                          <a:spcPts val="1820"/>
                        </a:lnSpc>
                      </a:pPr>
                      <a:r>
                        <a:rPr sz="1300" b="1">
                          <a:solidFill>
                            <a:srgbClr val="1D1C1D"/>
                          </a:solidFill>
                          <a:latin typeface="Carlito"/>
                        </a:rPr>
                        <a:t>Topic</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EDEDED"/>
                    </a:solidFill>
                  </a:tcPr>
                </a:tc>
                <a:tc>
                  <a:txBody>
                    <a:bodyPr wrap="square"/>
                    <a:lstStyle/>
                    <a:p>
                      <a:pPr>
                        <a:lnSpc>
                          <a:spcPts val="1820"/>
                        </a:lnSpc>
                      </a:pPr>
                      <a:r>
                        <a:rPr sz="1300" b="1">
                          <a:solidFill>
                            <a:srgbClr val="1D1C1D"/>
                          </a:solidFill>
                          <a:latin typeface="Carlito"/>
                        </a:rPr>
                        <a:t>What to know</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EDEDED"/>
                    </a:solidFill>
                  </a:tcPr>
                </a:tc>
              </a:tr>
              <a:tr h="457200">
                <a:tc>
                  <a:txBody>
                    <a:bodyPr wrap="square"/>
                    <a:lstStyle/>
                    <a:p>
                      <a:pPr>
                        <a:lnSpc>
                          <a:spcPts val="1820"/>
                        </a:lnSpc>
                      </a:pPr>
                      <a:r>
                        <a:rPr sz="1300" b="0">
                          <a:solidFill>
                            <a:srgbClr val="1D1C1D"/>
                          </a:solidFill>
                          <a:latin typeface="Carlito"/>
                        </a:rPr>
                        <a:t>Cost</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820"/>
                        </a:lnSpc>
                      </a:pPr>
                      <a:r>
                        <a:rPr sz="1300" b="0">
                          <a:solidFill>
                            <a:srgbClr val="1D1C1D"/>
                          </a:solidFill>
                          <a:latin typeface="Carlito"/>
                        </a:rPr>
                        <a:t>muse-spark-1.3: $1.25 in / $4.25 out per million tokens; reasoning counts as output. About $0.05 per agent run (estimate).</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r h="457200">
                <a:tc>
                  <a:txBody>
                    <a:bodyPr wrap="square"/>
                    <a:lstStyle/>
                    <a:p>
                      <a:pPr>
                        <a:lnSpc>
                          <a:spcPts val="1820"/>
                        </a:lnSpc>
                      </a:pPr>
                      <a:r>
                        <a:rPr sz="1300" b="0">
                          <a:solidFill>
                            <a:srgbClr val="1D1C1D"/>
                          </a:solidFill>
                          <a:latin typeface="Carlito"/>
                        </a:rPr>
                        <a:t>Cheaper tier</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820"/>
                        </a:lnSpc>
                      </a:pPr>
                      <a:r>
                        <a:rPr sz="1300" b="0">
                          <a:solidFill>
                            <a:srgbClr val="1D1C1D"/>
                          </a:solidFill>
                          <a:latin typeface="Carlito"/>
                        </a:rPr>
                        <a:t>muse-spark-1.3-contributor: $0.10 / $0.20 — but prompts may be used to improve Meta's products.</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r h="457200">
                <a:tc>
                  <a:txBody>
                    <a:bodyPr wrap="square"/>
                    <a:lstStyle/>
                    <a:p>
                      <a:pPr>
                        <a:lnSpc>
                          <a:spcPts val="1820"/>
                        </a:lnSpc>
                      </a:pPr>
                      <a:r>
                        <a:rPr sz="1300" b="0">
                          <a:solidFill>
                            <a:srgbClr val="1D1C1D"/>
                          </a:solidFill>
                          <a:latin typeface="Carlito"/>
                        </a:rPr>
                        <a:t>Paper search</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820"/>
                        </a:lnSpc>
                      </a:pPr>
                      <a:r>
                        <a:rPr sz="1300" b="0">
                          <a:solidFill>
                            <a:srgbClr val="1D1C1D"/>
                          </a:solidFill>
                          <a:latin typeface="Carlito"/>
                        </a:rPr>
                        <a:t>Free Semantic Scholar / OpenAlex APIs rate-limit (HTTP 429); a search can take ~45 s. Free API keys help.</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r h="457200">
                <a:tc>
                  <a:txBody>
                    <a:bodyPr wrap="square"/>
                    <a:lstStyle/>
                    <a:p>
                      <a:pPr>
                        <a:lnSpc>
                          <a:spcPts val="1820"/>
                        </a:lnSpc>
                      </a:pPr>
                      <a:r>
                        <a:rPr sz="1300" b="0">
                          <a:solidFill>
                            <a:srgbClr val="1D1C1D"/>
                          </a:solidFill>
                          <a:latin typeface="Carlito"/>
                        </a:rPr>
                        <a:t>401</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820"/>
                        </a:lnSpc>
                      </a:pPr>
                      <a:r>
                        <a:rPr sz="1300" b="0">
                          <a:solidFill>
                            <a:srgbClr val="1D1C1D"/>
                          </a:solidFill>
                          <a:latin typeface="Carlito"/>
                        </a:rPr>
                        <a:t>Missing or wrong MODEL_API_KEY → the app switches to mock mode and says why.</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r h="457200">
                <a:tc>
                  <a:txBody>
                    <a:bodyPr wrap="square"/>
                    <a:lstStyle/>
                    <a:p>
                      <a:pPr>
                        <a:lnSpc>
                          <a:spcPts val="1820"/>
                        </a:lnSpc>
                      </a:pPr>
                      <a:r>
                        <a:rPr sz="1300" b="0">
                          <a:solidFill>
                            <a:srgbClr val="1D1C1D"/>
                          </a:solidFill>
                          <a:latin typeface="Carlito"/>
                        </a:rPr>
                        <a:t>404</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820"/>
                        </a:lnSpc>
                      </a:pPr>
                      <a:r>
                        <a:rPr sz="1300" b="0">
                          <a:solidFill>
                            <a:srgbClr val="1D1C1D"/>
                          </a:solidFill>
                          <a:latin typeface="Carlito"/>
                        </a:rPr>
                        <a:t>model_not_found → check the MUSE_MODEL spelling.</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r h="457200">
                <a:tc>
                  <a:txBody>
                    <a:bodyPr wrap="square"/>
                    <a:lstStyle/>
                    <a:p>
                      <a:pPr>
                        <a:lnSpc>
                          <a:spcPts val="1820"/>
                        </a:lnSpc>
                      </a:pPr>
                      <a:r>
                        <a:rPr sz="1300" b="0">
                          <a:solidFill>
                            <a:srgbClr val="1D1C1D"/>
                          </a:solidFill>
                          <a:latin typeface="Carlito"/>
                        </a:rPr>
                        <a:t>429 / region</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c>
                  <a:txBody>
                    <a:bodyPr wrap="square"/>
                    <a:lstStyle/>
                    <a:p>
                      <a:pPr>
                        <a:lnSpc>
                          <a:spcPts val="1820"/>
                        </a:lnSpc>
                      </a:pPr>
                      <a:r>
                        <a:rPr sz="1300" b="0">
                          <a:solidFill>
                            <a:srgbClr val="1D1C1D"/>
                          </a:solidFill>
                          <a:latin typeface="Carlito"/>
                        </a:rPr>
                        <a:t>Wait and retry. If the region is refused, use mock mode — never bypass it.</a:t>
                      </a:r>
                    </a:p>
                  </a:txBody>
                  <a:tcPr marL="62230" marR="62230" marT="62230" marB="62230">
                    <a:lnL w="12700" cap="flat" cmpd="sng" algn="ctr">
                      <a:solidFill>
                        <a:srgbClr val="CDCDCD"/>
                      </a:solidFill>
                      <a:prstDash val="solid"/>
                    </a:lnL>
                    <a:lnR w="12700" cap="flat" cmpd="sng" algn="ctr">
                      <a:solidFill>
                        <a:srgbClr val="CDCDCD"/>
                      </a:solidFill>
                      <a:prstDash val="solid"/>
                    </a:lnR>
                    <a:lnT w="12700" cap="flat" cmpd="sng" algn="ctr">
                      <a:solidFill>
                        <a:srgbClr val="CDCDCD"/>
                      </a:solidFill>
                      <a:prstDash val="solid"/>
                    </a:lnT>
                    <a:lnB w="12700" cap="flat" cmpd="sng" algn="ctr">
                      <a:solidFill>
                        <a:srgbClr val="CDCDCD"/>
                      </a:solidFill>
                      <a:prstDash val="solid"/>
                    </a:lnB>
                    <a:solidFill>
                      <a:srgbClr val="FFFFFF"/>
                    </a:solidFill>
                  </a:tcPr>
                </a:tc>
              </a:tr>
            </a:tbl>
          </a:graphicData>
        </a:graphic>
      </p:graphicFrame>
      <p:sp>
        <p:nvSpPr>
          <p:cNvPr id="5" name="TextBox 4"/>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6" name="TextBox 5"/>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C0164D"/>
                </a:solidFill>
                <a:latin typeface="Carlito"/>
              </a:rPr>
              <a:t>YOUR TURN</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Six exercises, easy to hard</a:t>
            </a:r>
          </a:p>
        </p:txBody>
      </p:sp>
      <p:sp>
        <p:nvSpPr>
          <p:cNvPr id="4" name="Rounded Rectangle 3"/>
          <p:cNvSpPr/>
          <p:nvPr/>
        </p:nvSpPr>
        <p:spPr>
          <a:xfrm>
            <a:off x="813816" y="1755648"/>
            <a:ext cx="5202936" cy="1161288"/>
          </a:xfrm>
          <a:prstGeom prst="roundRect">
            <a:avLst>
              <a:gd name="adj" fmla="val 8661"/>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4984" y="1929384"/>
            <a:ext cx="4846320" cy="256032"/>
          </a:xfrm>
          <a:prstGeom prst="rect">
            <a:avLst/>
          </a:prstGeom>
          <a:noFill/>
        </p:spPr>
        <p:txBody>
          <a:bodyPr wrap="square" lIns="0" rIns="0" tIns="0" bIns="0" anchor="t">
            <a:spAutoFit/>
          </a:bodyPr>
          <a:lstStyle/>
          <a:p>
            <a:pPr algn="l">
              <a:lnSpc>
                <a:spcPts val="1959"/>
              </a:lnSpc>
            </a:pPr>
            <a:r>
              <a:rPr sz="1400" b="1">
                <a:solidFill>
                  <a:srgbClr val="1D1C1D"/>
                </a:solidFill>
                <a:latin typeface="Carlito"/>
              </a:rPr>
              <a:t>1 · Easy</a:t>
            </a:r>
          </a:p>
        </p:txBody>
      </p:sp>
      <p:sp>
        <p:nvSpPr>
          <p:cNvPr id="6" name="TextBox 5"/>
          <p:cNvSpPr txBox="1"/>
          <p:nvPr/>
        </p:nvSpPr>
        <p:spPr>
          <a:xfrm>
            <a:off x="1014984" y="2240280"/>
            <a:ext cx="4846320" cy="640080"/>
          </a:xfrm>
          <a:prstGeom prst="rect">
            <a:avLst/>
          </a:prstGeom>
          <a:noFill/>
        </p:spPr>
        <p:txBody>
          <a:bodyPr wrap="square" lIns="0" rIns="0" tIns="0" bIns="0" anchor="t">
            <a:spAutoFit/>
          </a:bodyPr>
          <a:lstStyle/>
          <a:p>
            <a:pPr algn="l">
              <a:lnSpc>
                <a:spcPts val="1755"/>
              </a:lnSpc>
            </a:pPr>
            <a:r>
              <a:rPr sz="1300" b="0">
                <a:solidFill>
                  <a:srgbClr val="454245"/>
                </a:solidFill>
                <a:latin typeface="Carlito"/>
              </a:rPr>
              <a:t>Add a “depth” selector for reasoning effort (minimal → high); compare speed and tokens.</a:t>
            </a:r>
          </a:p>
        </p:txBody>
      </p:sp>
      <p:sp>
        <p:nvSpPr>
          <p:cNvPr id="7" name="Rounded Rectangle 6"/>
          <p:cNvSpPr/>
          <p:nvPr/>
        </p:nvSpPr>
        <p:spPr>
          <a:xfrm>
            <a:off x="6181344" y="1755648"/>
            <a:ext cx="5202936" cy="1161288"/>
          </a:xfrm>
          <a:prstGeom prst="roundRect">
            <a:avLst>
              <a:gd name="adj" fmla="val 8661"/>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929384"/>
            <a:ext cx="4846320" cy="256032"/>
          </a:xfrm>
          <a:prstGeom prst="rect">
            <a:avLst/>
          </a:prstGeom>
          <a:noFill/>
        </p:spPr>
        <p:txBody>
          <a:bodyPr wrap="square" lIns="0" rIns="0" tIns="0" bIns="0" anchor="t">
            <a:spAutoFit/>
          </a:bodyPr>
          <a:lstStyle/>
          <a:p>
            <a:pPr algn="l">
              <a:lnSpc>
                <a:spcPts val="1959"/>
              </a:lnSpc>
            </a:pPr>
            <a:r>
              <a:rPr sz="1400" b="1">
                <a:solidFill>
                  <a:srgbClr val="1D1C1D"/>
                </a:solidFill>
                <a:latin typeface="Carlito"/>
              </a:rPr>
              <a:t>2 · Easy</a:t>
            </a:r>
          </a:p>
        </p:txBody>
      </p:sp>
      <p:sp>
        <p:nvSpPr>
          <p:cNvPr id="9" name="TextBox 8"/>
          <p:cNvSpPr txBox="1"/>
          <p:nvPr/>
        </p:nvSpPr>
        <p:spPr>
          <a:xfrm>
            <a:off x="6382512" y="2240280"/>
            <a:ext cx="4846320" cy="640080"/>
          </a:xfrm>
          <a:prstGeom prst="rect">
            <a:avLst/>
          </a:prstGeom>
          <a:noFill/>
        </p:spPr>
        <p:txBody>
          <a:bodyPr wrap="square" lIns="0" rIns="0" tIns="0" bIns="0" anchor="t">
            <a:spAutoFit/>
          </a:bodyPr>
          <a:lstStyle/>
          <a:p>
            <a:pPr algn="l">
              <a:lnSpc>
                <a:spcPts val="1755"/>
              </a:lnSpc>
            </a:pPr>
            <a:r>
              <a:rPr sz="1300" b="0">
                <a:solidFill>
                  <a:srgbClr val="454245"/>
                </a:solidFill>
                <a:latin typeface="Carlito"/>
              </a:rPr>
              <a:t>Add a new tool, unit_convert(value, from, to), with its JSON Schema and validation.</a:t>
            </a:r>
          </a:p>
        </p:txBody>
      </p:sp>
      <p:sp>
        <p:nvSpPr>
          <p:cNvPr id="10" name="Rounded Rectangle 9"/>
          <p:cNvSpPr/>
          <p:nvPr/>
        </p:nvSpPr>
        <p:spPr>
          <a:xfrm>
            <a:off x="813816" y="3072384"/>
            <a:ext cx="5202936" cy="1161288"/>
          </a:xfrm>
          <a:prstGeom prst="roundRect">
            <a:avLst>
              <a:gd name="adj" fmla="val 8661"/>
            </a:avLst>
          </a:prstGeom>
          <a:solidFill>
            <a:srgbClr val="FD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3246120"/>
            <a:ext cx="4846320" cy="256032"/>
          </a:xfrm>
          <a:prstGeom prst="rect">
            <a:avLst/>
          </a:prstGeom>
          <a:noFill/>
        </p:spPr>
        <p:txBody>
          <a:bodyPr wrap="square" lIns="0" rIns="0" tIns="0" bIns="0" anchor="t">
            <a:spAutoFit/>
          </a:bodyPr>
          <a:lstStyle/>
          <a:p>
            <a:pPr algn="l">
              <a:lnSpc>
                <a:spcPts val="1959"/>
              </a:lnSpc>
            </a:pPr>
            <a:r>
              <a:rPr sz="1400" b="1">
                <a:solidFill>
                  <a:srgbClr val="1D1C1D"/>
                </a:solidFill>
                <a:latin typeface="Carlito"/>
              </a:rPr>
              <a:t>3 · Medium</a:t>
            </a:r>
          </a:p>
        </p:txBody>
      </p:sp>
      <p:sp>
        <p:nvSpPr>
          <p:cNvPr id="12" name="TextBox 11"/>
          <p:cNvSpPr txBox="1"/>
          <p:nvPr/>
        </p:nvSpPr>
        <p:spPr>
          <a:xfrm>
            <a:off x="1014984" y="3557015"/>
            <a:ext cx="4846320" cy="640080"/>
          </a:xfrm>
          <a:prstGeom prst="rect">
            <a:avLst/>
          </a:prstGeom>
          <a:noFill/>
        </p:spPr>
        <p:txBody>
          <a:bodyPr wrap="square" lIns="0" rIns="0" tIns="0" bIns="0" anchor="t">
            <a:spAutoFit/>
          </a:bodyPr>
          <a:lstStyle/>
          <a:p>
            <a:pPr algn="l">
              <a:lnSpc>
                <a:spcPts val="1755"/>
              </a:lnSpc>
            </a:pPr>
            <a:r>
              <a:rPr sz="1300" b="0">
                <a:solidFill>
                  <a:srgbClr val="454245"/>
                </a:solidFill>
                <a:latin typeface="Carlito"/>
              </a:rPr>
              <a:t>Let the agent remember earlier questions in the same chat (send previous turns).</a:t>
            </a:r>
          </a:p>
        </p:txBody>
      </p:sp>
      <p:sp>
        <p:nvSpPr>
          <p:cNvPr id="13" name="Rounded Rectangle 12"/>
          <p:cNvSpPr/>
          <p:nvPr/>
        </p:nvSpPr>
        <p:spPr>
          <a:xfrm>
            <a:off x="6181344" y="3072384"/>
            <a:ext cx="5202936" cy="1161288"/>
          </a:xfrm>
          <a:prstGeom prst="roundRect">
            <a:avLst>
              <a:gd name="adj" fmla="val 8661"/>
            </a:avLst>
          </a:prstGeom>
          <a:solidFill>
            <a:srgbClr val="FD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3246120"/>
            <a:ext cx="4846320" cy="256032"/>
          </a:xfrm>
          <a:prstGeom prst="rect">
            <a:avLst/>
          </a:prstGeom>
          <a:noFill/>
        </p:spPr>
        <p:txBody>
          <a:bodyPr wrap="square" lIns="0" rIns="0" tIns="0" bIns="0" anchor="t">
            <a:spAutoFit/>
          </a:bodyPr>
          <a:lstStyle/>
          <a:p>
            <a:pPr algn="l">
              <a:lnSpc>
                <a:spcPts val="1959"/>
              </a:lnSpc>
            </a:pPr>
            <a:r>
              <a:rPr sz="1400" b="1">
                <a:solidFill>
                  <a:srgbClr val="1D1C1D"/>
                </a:solidFill>
                <a:latin typeface="Carlito"/>
              </a:rPr>
              <a:t>4 · Medium</a:t>
            </a:r>
          </a:p>
        </p:txBody>
      </p:sp>
      <p:sp>
        <p:nvSpPr>
          <p:cNvPr id="15" name="TextBox 14"/>
          <p:cNvSpPr txBox="1"/>
          <p:nvPr/>
        </p:nvSpPr>
        <p:spPr>
          <a:xfrm>
            <a:off x="6382512" y="3557015"/>
            <a:ext cx="4846320" cy="640080"/>
          </a:xfrm>
          <a:prstGeom prst="rect">
            <a:avLst/>
          </a:prstGeom>
          <a:noFill/>
        </p:spPr>
        <p:txBody>
          <a:bodyPr wrap="square" lIns="0" rIns="0" tIns="0" bIns="0" anchor="t">
            <a:spAutoFit/>
          </a:bodyPr>
          <a:lstStyle/>
          <a:p>
            <a:pPr algn="l">
              <a:lnSpc>
                <a:spcPts val="1755"/>
              </a:lnSpc>
            </a:pPr>
            <a:r>
              <a:rPr sz="1300" b="0">
                <a:solidFill>
                  <a:srgbClr val="454245"/>
                </a:solidFill>
                <a:latin typeface="Carlito"/>
              </a:rPr>
              <a:t>Save chats to a chats/ folder and list them in the sidebar, like ChatGPT.</a:t>
            </a:r>
          </a:p>
        </p:txBody>
      </p:sp>
      <p:sp>
        <p:nvSpPr>
          <p:cNvPr id="16" name="Rounded Rectangle 15"/>
          <p:cNvSpPr/>
          <p:nvPr/>
        </p:nvSpPr>
        <p:spPr>
          <a:xfrm>
            <a:off x="813816" y="4389120"/>
            <a:ext cx="5202936" cy="1161288"/>
          </a:xfrm>
          <a:prstGeom prst="roundRect">
            <a:avLst>
              <a:gd name="adj" fmla="val 8661"/>
            </a:avLst>
          </a:prstGeom>
          <a:solidFill>
            <a:srgbClr val="FC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4" y="4562856"/>
            <a:ext cx="4846320" cy="256032"/>
          </a:xfrm>
          <a:prstGeom prst="rect">
            <a:avLst/>
          </a:prstGeom>
          <a:noFill/>
        </p:spPr>
        <p:txBody>
          <a:bodyPr wrap="square" lIns="0" rIns="0" tIns="0" bIns="0" anchor="t">
            <a:spAutoFit/>
          </a:bodyPr>
          <a:lstStyle/>
          <a:p>
            <a:pPr algn="l">
              <a:lnSpc>
                <a:spcPts val="1959"/>
              </a:lnSpc>
            </a:pPr>
            <a:r>
              <a:rPr sz="1400" b="1">
                <a:solidFill>
                  <a:srgbClr val="1D1C1D"/>
                </a:solidFill>
                <a:latin typeface="Carlito"/>
              </a:rPr>
              <a:t>5 · Hard</a:t>
            </a:r>
          </a:p>
        </p:txBody>
      </p:sp>
      <p:sp>
        <p:nvSpPr>
          <p:cNvPr id="18" name="TextBox 17"/>
          <p:cNvSpPr txBox="1"/>
          <p:nvPr/>
        </p:nvSpPr>
        <p:spPr>
          <a:xfrm>
            <a:off x="1014984" y="4873752"/>
            <a:ext cx="4846320" cy="640080"/>
          </a:xfrm>
          <a:prstGeom prst="rect">
            <a:avLst/>
          </a:prstGeom>
          <a:noFill/>
        </p:spPr>
        <p:txBody>
          <a:bodyPr wrap="square" lIns="0" rIns="0" tIns="0" bIns="0" anchor="t">
            <a:spAutoFit/>
          </a:bodyPr>
          <a:lstStyle/>
          <a:p>
            <a:pPr algn="l">
              <a:lnSpc>
                <a:spcPts val="1755"/>
              </a:lnSpc>
            </a:pPr>
            <a:r>
              <a:rPr sz="1300" b="0">
                <a:solidFill>
                  <a:srgbClr val="454245"/>
                </a:solidFill>
                <a:latin typeface="Carlito"/>
              </a:rPr>
              <a:t>Replace keyword PDF ranking with embeddings and compare the answers.</a:t>
            </a:r>
          </a:p>
        </p:txBody>
      </p:sp>
      <p:sp>
        <p:nvSpPr>
          <p:cNvPr id="19" name="Rounded Rectangle 18"/>
          <p:cNvSpPr/>
          <p:nvPr/>
        </p:nvSpPr>
        <p:spPr>
          <a:xfrm>
            <a:off x="6181344" y="4389120"/>
            <a:ext cx="5202936" cy="1161288"/>
          </a:xfrm>
          <a:prstGeom prst="roundRect">
            <a:avLst>
              <a:gd name="adj" fmla="val 8661"/>
            </a:avLst>
          </a:prstGeom>
          <a:solidFill>
            <a:srgbClr val="FC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4562856"/>
            <a:ext cx="4846320" cy="256032"/>
          </a:xfrm>
          <a:prstGeom prst="rect">
            <a:avLst/>
          </a:prstGeom>
          <a:noFill/>
        </p:spPr>
        <p:txBody>
          <a:bodyPr wrap="square" lIns="0" rIns="0" tIns="0" bIns="0" anchor="t">
            <a:spAutoFit/>
          </a:bodyPr>
          <a:lstStyle/>
          <a:p>
            <a:pPr algn="l">
              <a:lnSpc>
                <a:spcPts val="1959"/>
              </a:lnSpc>
            </a:pPr>
            <a:r>
              <a:rPr sz="1400" b="1">
                <a:solidFill>
                  <a:srgbClr val="1D1C1D"/>
                </a:solidFill>
                <a:latin typeface="Carlito"/>
              </a:rPr>
              <a:t>6 · Hard</a:t>
            </a:r>
          </a:p>
        </p:txBody>
      </p:sp>
      <p:sp>
        <p:nvSpPr>
          <p:cNvPr id="21" name="TextBox 20"/>
          <p:cNvSpPr txBox="1"/>
          <p:nvPr/>
        </p:nvSpPr>
        <p:spPr>
          <a:xfrm>
            <a:off x="6382512" y="4873752"/>
            <a:ext cx="4846320" cy="640080"/>
          </a:xfrm>
          <a:prstGeom prst="rect">
            <a:avLst/>
          </a:prstGeom>
          <a:noFill/>
        </p:spPr>
        <p:txBody>
          <a:bodyPr wrap="square" lIns="0" rIns="0" tIns="0" bIns="0" anchor="t">
            <a:spAutoFit/>
          </a:bodyPr>
          <a:lstStyle/>
          <a:p>
            <a:pPr algn="l">
              <a:lnSpc>
                <a:spcPts val="1755"/>
              </a:lnSpc>
            </a:pPr>
            <a:r>
              <a:rPr sz="1300" b="0">
                <a:solidFill>
                  <a:srgbClr val="454245"/>
                </a:solidFill>
                <a:latin typeface="Carlito"/>
              </a:rPr>
              <a:t>Run the same goal live and in mock mode; log how Muse Spark's tool choices differ.</a:t>
            </a:r>
          </a:p>
        </p:txBody>
      </p:sp>
      <p:sp>
        <p:nvSpPr>
          <p:cNvPr id="22" name="TextBox 21"/>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23" name="TextBox 22"/>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lnSpc>
                <a:spcPts val="1679"/>
              </a:lnSpc>
            </a:pPr>
            <a:r>
              <a:rPr sz="1200" b="1">
                <a:solidFill>
                  <a:srgbClr val="4A154B"/>
                </a:solidFill>
                <a:latin typeface="Carlito"/>
              </a:rPr>
              <a:t>SUMMARY</a:t>
            </a:r>
          </a:p>
        </p:txBody>
      </p:sp>
      <p:sp>
        <p:nvSpPr>
          <p:cNvPr id="3" name="TextBox 2"/>
          <p:cNvSpPr txBox="1"/>
          <p:nvPr/>
        </p:nvSpPr>
        <p:spPr>
          <a:xfrm>
            <a:off x="813816" y="1106424"/>
            <a:ext cx="10881360" cy="475488"/>
          </a:xfrm>
          <a:prstGeom prst="rect">
            <a:avLst/>
          </a:prstGeom>
          <a:noFill/>
        </p:spPr>
        <p:txBody>
          <a:bodyPr wrap="square" lIns="0" rIns="0" tIns="0" bIns="0" anchor="t">
            <a:spAutoFit/>
          </a:bodyPr>
          <a:lstStyle/>
          <a:p>
            <a:pPr algn="l">
              <a:lnSpc>
                <a:spcPts val="3520"/>
              </a:lnSpc>
            </a:pPr>
            <a:r>
              <a:rPr sz="3200" b="1">
                <a:solidFill>
                  <a:srgbClr val="4A154B"/>
                </a:solidFill>
                <a:latin typeface="Caladea"/>
              </a:rPr>
              <a:t>Seven steps from API call to AI agent</a:t>
            </a:r>
          </a:p>
        </p:txBody>
      </p:sp>
      <p:sp>
        <p:nvSpPr>
          <p:cNvPr id="4" name="Rounded Rectangle 3"/>
          <p:cNvSpPr/>
          <p:nvPr/>
        </p:nvSpPr>
        <p:spPr>
          <a:xfrm>
            <a:off x="813816" y="1755648"/>
            <a:ext cx="2514600" cy="731520"/>
          </a:xfrm>
          <a:prstGeom prst="roundRect">
            <a:avLst>
              <a:gd name="adj" fmla="val 13749"/>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6696" y="1929384"/>
            <a:ext cx="548640" cy="384048"/>
          </a:xfrm>
          <a:prstGeom prst="rect">
            <a:avLst/>
          </a:prstGeom>
          <a:noFill/>
        </p:spPr>
        <p:txBody>
          <a:bodyPr wrap="square" lIns="0" rIns="0" tIns="0" bIns="0" anchor="t">
            <a:spAutoFit/>
          </a:bodyPr>
          <a:lstStyle/>
          <a:p>
            <a:pPr algn="l">
              <a:lnSpc>
                <a:spcPts val="2000"/>
              </a:lnSpc>
            </a:pPr>
            <a:r>
              <a:rPr sz="2000" b="1">
                <a:solidFill>
                  <a:srgbClr val="4A154B"/>
                </a:solidFill>
                <a:latin typeface="Caladea"/>
              </a:rPr>
              <a:t>0</a:t>
            </a:r>
          </a:p>
        </p:txBody>
      </p:sp>
      <p:sp>
        <p:nvSpPr>
          <p:cNvPr id="6" name="TextBox 5"/>
          <p:cNvSpPr txBox="1"/>
          <p:nvPr/>
        </p:nvSpPr>
        <p:spPr>
          <a:xfrm>
            <a:off x="1527048" y="1892807"/>
            <a:ext cx="1691640" cy="502920"/>
          </a:xfrm>
          <a:prstGeom prst="rect">
            <a:avLst/>
          </a:prstGeom>
          <a:noFill/>
        </p:spPr>
        <p:txBody>
          <a:bodyPr wrap="square" lIns="0" rIns="0" tIns="0" bIns="0" anchor="t">
            <a:spAutoFit/>
          </a:bodyPr>
          <a:lstStyle/>
          <a:p>
            <a:pPr algn="l">
              <a:lnSpc>
                <a:spcPts val="1690"/>
              </a:lnSpc>
            </a:pPr>
            <a:r>
              <a:rPr sz="1300" b="0">
                <a:solidFill>
                  <a:srgbClr val="1D1C1D"/>
                </a:solidFill>
                <a:latin typeface="Carlito"/>
              </a:rPr>
              <a:t>Settings in .env + mock switch</a:t>
            </a:r>
          </a:p>
        </p:txBody>
      </p:sp>
      <p:sp>
        <p:nvSpPr>
          <p:cNvPr id="7" name="Rounded Rectangle 6"/>
          <p:cNvSpPr/>
          <p:nvPr/>
        </p:nvSpPr>
        <p:spPr>
          <a:xfrm>
            <a:off x="3493008" y="1755648"/>
            <a:ext cx="2514600" cy="731520"/>
          </a:xfrm>
          <a:prstGeom prst="roundRect">
            <a:avLst>
              <a:gd name="adj" fmla="val 13749"/>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75888" y="1929384"/>
            <a:ext cx="548640" cy="384048"/>
          </a:xfrm>
          <a:prstGeom prst="rect">
            <a:avLst/>
          </a:prstGeom>
          <a:noFill/>
        </p:spPr>
        <p:txBody>
          <a:bodyPr wrap="square" lIns="0" rIns="0" tIns="0" bIns="0" anchor="t">
            <a:spAutoFit/>
          </a:bodyPr>
          <a:lstStyle/>
          <a:p>
            <a:pPr algn="l">
              <a:lnSpc>
                <a:spcPts val="2000"/>
              </a:lnSpc>
            </a:pPr>
            <a:r>
              <a:rPr sz="2000" b="1">
                <a:solidFill>
                  <a:srgbClr val="4A154B"/>
                </a:solidFill>
                <a:latin typeface="Caladea"/>
              </a:rPr>
              <a:t>1</a:t>
            </a:r>
          </a:p>
        </p:txBody>
      </p:sp>
      <p:sp>
        <p:nvSpPr>
          <p:cNvPr id="9" name="TextBox 8"/>
          <p:cNvSpPr txBox="1"/>
          <p:nvPr/>
        </p:nvSpPr>
        <p:spPr>
          <a:xfrm>
            <a:off x="4206240" y="1892807"/>
            <a:ext cx="1691640" cy="502920"/>
          </a:xfrm>
          <a:prstGeom prst="rect">
            <a:avLst/>
          </a:prstGeom>
          <a:noFill/>
        </p:spPr>
        <p:txBody>
          <a:bodyPr wrap="square" lIns="0" rIns="0" tIns="0" bIns="0" anchor="t">
            <a:spAutoFit/>
          </a:bodyPr>
          <a:lstStyle/>
          <a:p>
            <a:pPr algn="l">
              <a:lnSpc>
                <a:spcPts val="1690"/>
              </a:lnSpc>
            </a:pPr>
            <a:r>
              <a:rPr sz="1300" b="0">
                <a:solidFill>
                  <a:srgbClr val="1D1C1D"/>
                </a:solidFill>
                <a:latin typeface="Carlito"/>
              </a:rPr>
              <a:t>OpenAI SDK → Meta base_url</a:t>
            </a:r>
          </a:p>
        </p:txBody>
      </p:sp>
      <p:sp>
        <p:nvSpPr>
          <p:cNvPr id="10" name="Rounded Rectangle 9"/>
          <p:cNvSpPr/>
          <p:nvPr/>
        </p:nvSpPr>
        <p:spPr>
          <a:xfrm>
            <a:off x="6172200" y="1755648"/>
            <a:ext cx="2514600" cy="731520"/>
          </a:xfrm>
          <a:prstGeom prst="roundRect">
            <a:avLst>
              <a:gd name="adj" fmla="val 13749"/>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929384"/>
            <a:ext cx="548640" cy="384048"/>
          </a:xfrm>
          <a:prstGeom prst="rect">
            <a:avLst/>
          </a:prstGeom>
          <a:noFill/>
        </p:spPr>
        <p:txBody>
          <a:bodyPr wrap="square" lIns="0" rIns="0" tIns="0" bIns="0" anchor="t">
            <a:spAutoFit/>
          </a:bodyPr>
          <a:lstStyle/>
          <a:p>
            <a:pPr algn="l">
              <a:lnSpc>
                <a:spcPts val="2000"/>
              </a:lnSpc>
            </a:pPr>
            <a:r>
              <a:rPr sz="2000" b="1">
                <a:solidFill>
                  <a:srgbClr val="4A154B"/>
                </a:solidFill>
                <a:latin typeface="Caladea"/>
              </a:rPr>
              <a:t>2</a:t>
            </a:r>
          </a:p>
        </p:txBody>
      </p:sp>
      <p:sp>
        <p:nvSpPr>
          <p:cNvPr id="12" name="TextBox 11"/>
          <p:cNvSpPr txBox="1"/>
          <p:nvPr/>
        </p:nvSpPr>
        <p:spPr>
          <a:xfrm>
            <a:off x="6885432" y="1892807"/>
            <a:ext cx="1691640" cy="502920"/>
          </a:xfrm>
          <a:prstGeom prst="rect">
            <a:avLst/>
          </a:prstGeom>
          <a:noFill/>
        </p:spPr>
        <p:txBody>
          <a:bodyPr wrap="square" lIns="0" rIns="0" tIns="0" bIns="0" anchor="t">
            <a:spAutoFit/>
          </a:bodyPr>
          <a:lstStyle/>
          <a:p>
            <a:pPr algn="l">
              <a:lnSpc>
                <a:spcPts val="1690"/>
              </a:lnSpc>
            </a:pPr>
            <a:r>
              <a:rPr sz="1300" b="0">
                <a:solidFill>
                  <a:srgbClr val="1D1C1D"/>
                </a:solidFill>
                <a:latin typeface="Carlito"/>
              </a:rPr>
              <a:t>Tools as JSON Schema + validation</a:t>
            </a:r>
          </a:p>
        </p:txBody>
      </p:sp>
      <p:sp>
        <p:nvSpPr>
          <p:cNvPr id="13" name="Rounded Rectangle 12"/>
          <p:cNvSpPr/>
          <p:nvPr/>
        </p:nvSpPr>
        <p:spPr>
          <a:xfrm>
            <a:off x="8851392" y="1755648"/>
            <a:ext cx="2514600" cy="731520"/>
          </a:xfrm>
          <a:prstGeom prst="roundRect">
            <a:avLst>
              <a:gd name="adj" fmla="val 13749"/>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34272" y="1929384"/>
            <a:ext cx="548640" cy="384048"/>
          </a:xfrm>
          <a:prstGeom prst="rect">
            <a:avLst/>
          </a:prstGeom>
          <a:noFill/>
        </p:spPr>
        <p:txBody>
          <a:bodyPr wrap="square" lIns="0" rIns="0" tIns="0" bIns="0" anchor="t">
            <a:spAutoFit/>
          </a:bodyPr>
          <a:lstStyle/>
          <a:p>
            <a:pPr algn="l">
              <a:lnSpc>
                <a:spcPts val="2000"/>
              </a:lnSpc>
            </a:pPr>
            <a:r>
              <a:rPr sz="2000" b="1">
                <a:solidFill>
                  <a:srgbClr val="4A154B"/>
                </a:solidFill>
                <a:latin typeface="Caladea"/>
              </a:rPr>
              <a:t>3</a:t>
            </a:r>
          </a:p>
        </p:txBody>
      </p:sp>
      <p:sp>
        <p:nvSpPr>
          <p:cNvPr id="15" name="TextBox 14"/>
          <p:cNvSpPr txBox="1"/>
          <p:nvPr/>
        </p:nvSpPr>
        <p:spPr>
          <a:xfrm>
            <a:off x="9564624" y="1892807"/>
            <a:ext cx="1691640" cy="502920"/>
          </a:xfrm>
          <a:prstGeom prst="rect">
            <a:avLst/>
          </a:prstGeom>
          <a:noFill/>
        </p:spPr>
        <p:txBody>
          <a:bodyPr wrap="square" lIns="0" rIns="0" tIns="0" bIns="0" anchor="t">
            <a:spAutoFit/>
          </a:bodyPr>
          <a:lstStyle/>
          <a:p>
            <a:pPr algn="l">
              <a:lnSpc>
                <a:spcPts val="1690"/>
              </a:lnSpc>
            </a:pPr>
            <a:r>
              <a:rPr sz="1300" b="0">
                <a:solidFill>
                  <a:srgbClr val="1D1C1D"/>
                </a:solidFill>
                <a:latin typeface="Carlito"/>
              </a:rPr>
              <a:t>Real tools: papers, PDF, maths</a:t>
            </a:r>
          </a:p>
        </p:txBody>
      </p:sp>
      <p:sp>
        <p:nvSpPr>
          <p:cNvPr id="16" name="Rounded Rectangle 15"/>
          <p:cNvSpPr/>
          <p:nvPr/>
        </p:nvSpPr>
        <p:spPr>
          <a:xfrm>
            <a:off x="813816" y="2651760"/>
            <a:ext cx="2514600" cy="731520"/>
          </a:xfrm>
          <a:prstGeom prst="roundRect">
            <a:avLst>
              <a:gd name="adj" fmla="val 13749"/>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6696" y="2825496"/>
            <a:ext cx="548640" cy="384048"/>
          </a:xfrm>
          <a:prstGeom prst="rect">
            <a:avLst/>
          </a:prstGeom>
          <a:noFill/>
        </p:spPr>
        <p:txBody>
          <a:bodyPr wrap="square" lIns="0" rIns="0" tIns="0" bIns="0" anchor="t">
            <a:spAutoFit/>
          </a:bodyPr>
          <a:lstStyle/>
          <a:p>
            <a:pPr algn="l">
              <a:lnSpc>
                <a:spcPts val="2000"/>
              </a:lnSpc>
            </a:pPr>
            <a:r>
              <a:rPr sz="2000" b="1">
                <a:solidFill>
                  <a:srgbClr val="4A154B"/>
                </a:solidFill>
                <a:latin typeface="Caladea"/>
              </a:rPr>
              <a:t>4</a:t>
            </a:r>
          </a:p>
        </p:txBody>
      </p:sp>
      <p:sp>
        <p:nvSpPr>
          <p:cNvPr id="18" name="TextBox 17"/>
          <p:cNvSpPr txBox="1"/>
          <p:nvPr/>
        </p:nvSpPr>
        <p:spPr>
          <a:xfrm>
            <a:off x="1527048" y="2788920"/>
            <a:ext cx="1691640" cy="502920"/>
          </a:xfrm>
          <a:prstGeom prst="rect">
            <a:avLst/>
          </a:prstGeom>
          <a:noFill/>
        </p:spPr>
        <p:txBody>
          <a:bodyPr wrap="square" lIns="0" rIns="0" tIns="0" bIns="0" anchor="t">
            <a:spAutoFit/>
          </a:bodyPr>
          <a:lstStyle/>
          <a:p>
            <a:pPr algn="l">
              <a:lnSpc>
                <a:spcPts val="1690"/>
              </a:lnSpc>
            </a:pPr>
            <a:r>
              <a:rPr sz="1300" b="0">
                <a:solidFill>
                  <a:srgbClr val="1D1C1D"/>
                </a:solidFill>
                <a:latin typeface="Carlito"/>
              </a:rPr>
              <a:t>Decide → act → observe loop</a:t>
            </a:r>
          </a:p>
        </p:txBody>
      </p:sp>
      <p:sp>
        <p:nvSpPr>
          <p:cNvPr id="19" name="Rounded Rectangle 18"/>
          <p:cNvSpPr/>
          <p:nvPr/>
        </p:nvSpPr>
        <p:spPr>
          <a:xfrm>
            <a:off x="3493008" y="2651760"/>
            <a:ext cx="2514600" cy="731520"/>
          </a:xfrm>
          <a:prstGeom prst="roundRect">
            <a:avLst>
              <a:gd name="adj" fmla="val 13749"/>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5888" y="2825496"/>
            <a:ext cx="548640" cy="384048"/>
          </a:xfrm>
          <a:prstGeom prst="rect">
            <a:avLst/>
          </a:prstGeom>
          <a:noFill/>
        </p:spPr>
        <p:txBody>
          <a:bodyPr wrap="square" lIns="0" rIns="0" tIns="0" bIns="0" anchor="t">
            <a:spAutoFit/>
          </a:bodyPr>
          <a:lstStyle/>
          <a:p>
            <a:pPr algn="l">
              <a:lnSpc>
                <a:spcPts val="2000"/>
              </a:lnSpc>
            </a:pPr>
            <a:r>
              <a:rPr sz="2000" b="1">
                <a:solidFill>
                  <a:srgbClr val="4A154B"/>
                </a:solidFill>
                <a:latin typeface="Caladea"/>
              </a:rPr>
              <a:t>5</a:t>
            </a:r>
          </a:p>
        </p:txBody>
      </p:sp>
      <p:sp>
        <p:nvSpPr>
          <p:cNvPr id="21" name="TextBox 20"/>
          <p:cNvSpPr txBox="1"/>
          <p:nvPr/>
        </p:nvSpPr>
        <p:spPr>
          <a:xfrm>
            <a:off x="4206240" y="2788920"/>
            <a:ext cx="1691640" cy="502920"/>
          </a:xfrm>
          <a:prstGeom prst="rect">
            <a:avLst/>
          </a:prstGeom>
          <a:noFill/>
        </p:spPr>
        <p:txBody>
          <a:bodyPr wrap="square" lIns="0" rIns="0" tIns="0" bIns="0" anchor="t">
            <a:spAutoFit/>
          </a:bodyPr>
          <a:lstStyle/>
          <a:p>
            <a:pPr algn="l">
              <a:lnSpc>
                <a:spcPts val="1690"/>
              </a:lnSpc>
            </a:pPr>
            <a:r>
              <a:rPr sz="1300" b="0">
                <a:solidFill>
                  <a:srgbClr val="1D1C1D"/>
                </a:solidFill>
                <a:latin typeface="Carlito"/>
              </a:rPr>
              <a:t>Human approval, in code</a:t>
            </a:r>
          </a:p>
        </p:txBody>
      </p:sp>
      <p:sp>
        <p:nvSpPr>
          <p:cNvPr id="22" name="Rounded Rectangle 21"/>
          <p:cNvSpPr/>
          <p:nvPr/>
        </p:nvSpPr>
        <p:spPr>
          <a:xfrm>
            <a:off x="6172200" y="2651760"/>
            <a:ext cx="2514600" cy="731520"/>
          </a:xfrm>
          <a:prstGeom prst="roundRect">
            <a:avLst>
              <a:gd name="adj" fmla="val 13749"/>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2825496"/>
            <a:ext cx="548640" cy="384048"/>
          </a:xfrm>
          <a:prstGeom prst="rect">
            <a:avLst/>
          </a:prstGeom>
          <a:noFill/>
        </p:spPr>
        <p:txBody>
          <a:bodyPr wrap="square" lIns="0" rIns="0" tIns="0" bIns="0" anchor="t">
            <a:spAutoFit/>
          </a:bodyPr>
          <a:lstStyle/>
          <a:p>
            <a:pPr algn="l">
              <a:lnSpc>
                <a:spcPts val="2000"/>
              </a:lnSpc>
            </a:pPr>
            <a:r>
              <a:rPr sz="2000" b="1">
                <a:solidFill>
                  <a:srgbClr val="4A154B"/>
                </a:solidFill>
                <a:latin typeface="Caladea"/>
              </a:rPr>
              <a:t>6–7</a:t>
            </a:r>
          </a:p>
        </p:txBody>
      </p:sp>
      <p:sp>
        <p:nvSpPr>
          <p:cNvPr id="24" name="TextBox 23"/>
          <p:cNvSpPr txBox="1"/>
          <p:nvPr/>
        </p:nvSpPr>
        <p:spPr>
          <a:xfrm>
            <a:off x="6903720" y="2788920"/>
            <a:ext cx="1691640" cy="502920"/>
          </a:xfrm>
          <a:prstGeom prst="rect">
            <a:avLst/>
          </a:prstGeom>
          <a:noFill/>
        </p:spPr>
        <p:txBody>
          <a:bodyPr wrap="square" lIns="0" rIns="0" tIns="0" bIns="0" anchor="t">
            <a:spAutoFit/>
          </a:bodyPr>
          <a:lstStyle/>
          <a:p>
            <a:pPr algn="l">
              <a:lnSpc>
                <a:spcPts val="1690"/>
              </a:lnSpc>
            </a:pPr>
            <a:r>
              <a:rPr sz="1300" b="0">
                <a:solidFill>
                  <a:srgbClr val="1D1C1D"/>
                </a:solidFill>
                <a:latin typeface="Carlito"/>
              </a:rPr>
              <a:t>Chat UI + 123 offline tests</a:t>
            </a:r>
          </a:p>
        </p:txBody>
      </p:sp>
      <p:sp>
        <p:nvSpPr>
          <p:cNvPr id="25" name="Rounded Rectangle 24"/>
          <p:cNvSpPr/>
          <p:nvPr/>
        </p:nvSpPr>
        <p:spPr>
          <a:xfrm>
            <a:off x="8851392" y="2651760"/>
            <a:ext cx="2514600" cy="731520"/>
          </a:xfrm>
          <a:prstGeom prst="roundRect">
            <a:avLst>
              <a:gd name="adj" fmla="val 13749"/>
            </a:avLst>
          </a:prstGeom>
          <a:solidFill>
            <a:srgbClr val="F2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34272" y="2825496"/>
            <a:ext cx="548640" cy="384048"/>
          </a:xfrm>
          <a:prstGeom prst="rect">
            <a:avLst/>
          </a:prstGeom>
          <a:noFill/>
        </p:spPr>
        <p:txBody>
          <a:bodyPr wrap="square" lIns="0" rIns="0" tIns="0" bIns="0" anchor="t">
            <a:spAutoFit/>
          </a:bodyPr>
          <a:lstStyle/>
          <a:p>
            <a:pPr algn="l">
              <a:lnSpc>
                <a:spcPts val="2000"/>
              </a:lnSpc>
            </a:pPr>
            <a:r>
              <a:rPr sz="2000" b="1">
                <a:solidFill>
                  <a:srgbClr val="4A154B"/>
                </a:solidFill>
                <a:latin typeface="Caladea"/>
              </a:rPr>
              <a:t>★</a:t>
            </a:r>
          </a:p>
        </p:txBody>
      </p:sp>
      <p:sp>
        <p:nvSpPr>
          <p:cNvPr id="27" name="TextBox 26"/>
          <p:cNvSpPr txBox="1"/>
          <p:nvPr/>
        </p:nvSpPr>
        <p:spPr>
          <a:xfrm>
            <a:off x="9564624" y="2788920"/>
            <a:ext cx="1691640" cy="502920"/>
          </a:xfrm>
          <a:prstGeom prst="rect">
            <a:avLst/>
          </a:prstGeom>
          <a:noFill/>
        </p:spPr>
        <p:txBody>
          <a:bodyPr wrap="square" lIns="0" rIns="0" tIns="0" bIns="0" anchor="t">
            <a:spAutoFit/>
          </a:bodyPr>
          <a:lstStyle/>
          <a:p>
            <a:pPr algn="l">
              <a:lnSpc>
                <a:spcPts val="1690"/>
              </a:lnSpc>
            </a:pPr>
            <a:r>
              <a:rPr sz="1300" b="0">
                <a:solidFill>
                  <a:srgbClr val="1D1C1D"/>
                </a:solidFill>
                <a:latin typeface="Carlito"/>
              </a:rPr>
              <a:t>The model proposes, code decides</a:t>
            </a:r>
          </a:p>
        </p:txBody>
      </p:sp>
      <p:sp>
        <p:nvSpPr>
          <p:cNvPr id="28" name="TextBox 27"/>
          <p:cNvSpPr txBox="1"/>
          <p:nvPr/>
        </p:nvSpPr>
        <p:spPr>
          <a:xfrm>
            <a:off x="813816" y="3886200"/>
            <a:ext cx="10881360" cy="274320"/>
          </a:xfrm>
          <a:prstGeom prst="rect">
            <a:avLst/>
          </a:prstGeom>
          <a:noFill/>
        </p:spPr>
        <p:txBody>
          <a:bodyPr wrap="square" lIns="0" rIns="0" tIns="0" bIns="0" anchor="t">
            <a:spAutoFit/>
          </a:bodyPr>
          <a:lstStyle/>
          <a:p>
            <a:pPr algn="l">
              <a:lnSpc>
                <a:spcPts val="1820"/>
              </a:lnSpc>
            </a:pPr>
            <a:r>
              <a:rPr sz="1300" b="1">
                <a:solidFill>
                  <a:srgbClr val="1D1C1D"/>
                </a:solidFill>
                <a:latin typeface="Carlito"/>
              </a:rPr>
              <a:t>References</a:t>
            </a:r>
          </a:p>
        </p:txBody>
      </p:sp>
      <p:sp>
        <p:nvSpPr>
          <p:cNvPr id="29" name="TextBox 28"/>
          <p:cNvSpPr txBox="1"/>
          <p:nvPr/>
        </p:nvSpPr>
        <p:spPr>
          <a:xfrm>
            <a:off x="813816" y="4178808"/>
            <a:ext cx="10881360" cy="822960"/>
          </a:xfrm>
          <a:prstGeom prst="rect">
            <a:avLst/>
          </a:prstGeom>
          <a:noFill/>
        </p:spPr>
        <p:txBody>
          <a:bodyPr wrap="square" lIns="0" rIns="0" tIns="0" bIns="0" anchor="t">
            <a:spAutoFit/>
          </a:bodyPr>
          <a:lstStyle/>
          <a:p>
            <a:pPr algn="l">
              <a:lnSpc>
                <a:spcPts val="1679"/>
              </a:lnSpc>
            </a:pPr>
            <a:r>
              <a:rPr sz="1200" b="0">
                <a:solidFill>
                  <a:srgbClr val="454245"/>
                </a:solidFill>
                <a:latin typeface="Carlito"/>
              </a:rPr>
              <a:t>Meta Model API docs — dev.meta.ai/docs · Tool calling — dev.meta.ai/docs/tool-calling · Reasoning — dev.meta.ai/docs/reasoning</a:t>
            </a:r>
          </a:p>
          <a:p>
            <a:pPr algn="l">
              <a:lnSpc>
                <a:spcPts val="1679"/>
              </a:lnSpc>
            </a:pPr>
            <a:r>
              <a:rPr sz="1200" b="0">
                <a:solidFill>
                  <a:srgbClr val="454245"/>
                </a:solidFill>
                <a:latin typeface="Carlito"/>
              </a:rPr>
              <a:t>Semantic Scholar API — api.semanticscholar.org · OpenAlex — openalex.org/rest-api · Muse app — ai.meta.com/muse</a:t>
            </a:r>
          </a:p>
        </p:txBody>
      </p:sp>
      <p:sp>
        <p:nvSpPr>
          <p:cNvPr id="30" name="TextBox 29"/>
          <p:cNvSpPr txBox="1"/>
          <p:nvPr/>
        </p:nvSpPr>
        <p:spPr>
          <a:xfrm>
            <a:off x="813816" y="6236208"/>
            <a:ext cx="6537960" cy="237744"/>
          </a:xfrm>
          <a:prstGeom prst="rect">
            <a:avLst/>
          </a:prstGeom>
          <a:noFill/>
        </p:spPr>
        <p:txBody>
          <a:bodyPr wrap="square" lIns="0" rIns="0" tIns="0" bIns="0" anchor="t">
            <a:spAutoFit/>
          </a:bodyPr>
          <a:lstStyle/>
          <a:p>
            <a:pPr algn="l">
              <a:lnSpc>
                <a:spcPts val="1679"/>
              </a:lnSpc>
            </a:pPr>
            <a:r>
              <a:rPr sz="1200" b="0">
                <a:solidFill>
                  <a:srgbClr val="6B6A6E"/>
                </a:solidFill>
                <a:latin typeface="Carlito"/>
              </a:rPr>
              <a:t>Mini-Muse · From LLM app to AI agent with Meta Muse Spark</a:t>
            </a:r>
          </a:p>
        </p:txBody>
      </p:sp>
      <p:sp>
        <p:nvSpPr>
          <p:cNvPr id="31" name="TextBox 30"/>
          <p:cNvSpPr txBox="1"/>
          <p:nvPr/>
        </p:nvSpPr>
        <p:spPr>
          <a:xfrm>
            <a:off x="10058400" y="6236208"/>
            <a:ext cx="1316736" cy="237744"/>
          </a:xfrm>
          <a:prstGeom prst="rect">
            <a:avLst/>
          </a:prstGeom>
          <a:noFill/>
        </p:spPr>
        <p:txBody>
          <a:bodyPr wrap="square" lIns="0" rIns="0" tIns="0" bIns="0" anchor="t">
            <a:spAutoFit/>
          </a:bodyPr>
          <a:lstStyle/>
          <a:p>
            <a:pPr algn="r">
              <a:lnSpc>
                <a:spcPts val="1679"/>
              </a:lnSpc>
            </a:pPr>
            <a:r>
              <a:rPr sz="1200" b="0">
                <a:solidFill>
                  <a:srgbClr val="6B6A6E"/>
                </a:solidFill>
                <a:latin typeface="Carlito"/>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Research Service with Meta Muse</dc:title>
  <dc:subject>PptxGenJS Presentation</dc:subject>
  <dc:creator>PptxGenJS</dc:creator>
  <cp:lastModifiedBy>PptxGenJS</cp:lastModifiedBy>
  <cp:revision>1</cp:revision>
  <dcterms:created xsi:type="dcterms:W3CDTF">2026-09-24T00:47:49Z</dcterms:created>
  <dcterms:modified xsi:type="dcterms:W3CDTF">2026-09-24T00:47:49Z</dcterms:modified>
</cp:coreProperties>
</file>